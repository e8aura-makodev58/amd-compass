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is a dispatch agent for operations control rooms, built on AMD Token Factory. It runs dispatch on its own and the control room supervises it: Compass ranks who to send and which fix to try first, from the plant's own repair history, and people approve or override the decisions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Proximity is easy to compute and easy to defend, but it ignores fit. What matters is who is likely to resolve this class of issue on the first attempt, with which procedure, and whether the shift can cover the backlog.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 room puts the floor map, the issue queue, the dispatch context, the event feed, the Issue Pareto and analytics on separate monitors (/rooms/&lt;room&gt;/display/&lt;screen&gt;). The screens update live from the same state. The operator console, with override and approval controls, is the seventh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are dispatched without anyone touching the console: Compass ranks the eligible responders, an offer goes out, the responder accepts, Compass ranks the troubleshooting procedures, and the repair outcome feeds the history that every later ranking uses. Central command can override, transfer or add support at any time. Before each shift handover a backlog review asks Compass to rank lawful overtime options; central command approves or rejects them, and nothing changes without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ranker receives application-owned evidence and ranks only the eligible candidates, fixes or overtime options it is given. The planner proposes synthetic incidents; code validates every proposal and owns all mutations. If a model is slow, rate-limited or returns invalid output, the deterministic fallback takes over, so dispatch continues.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wanted the system to be able to show Compass being wrong as well as right. Hidden truth plus baselines make its choices inspectable. Disagreement alone does not prove better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Captured live on 2026-10-18 (simulated 6 October). The nearest-responder baseline chose Engr361; Compass ranked Engr370 first. One good outcome is not proof of better performance; disagreements with the baselines are recorded for review. In this capture 15 of 18 live responder rankings returned valid output; the rest fell back deterministically.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true fault cause is hidden simulation truth, like responder skill: the model sees only the public symptom and observed outcomes. In this capture 12 of 15 live fix rankings were valid AMD results. A live check also found and fixed a defect: the fix ranking never reached the provider until that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capture: staffing-7 was ranked by MiMo on AMD Token Factory and approved by central command in the recording. A live check found that approving went stale whenever the top option had picked up a job in the meantime; extensions now depend only on duty and rest limits. Rooms can opt into an audited auto-approve policy; the default is operator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Pareto answers the supervisor's first question: which few problems cost us most of the time. In September two of three issue classes accounted for 80% of issues; drilling into a symptom shows which procedures failed most often. It describes recorded work; it does not rank people or claim causation.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history was generated with the app's own engine, offline and deterministically, so every record is one the app itself would produce. The month extension used deterministic fallbacks, so it is not an AMD-only benchmark or a controlled comparison of model and baseline outcomes. Weekly rates use Monday 08:00 UTC boundaries; they rose then dipped, and we report them as measured.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several Token Factory models on the same scenario and chose the default per role from the data. These are small-sample validity results, not outcome accuracy or uptime guarantees. Retries: at most two, only on HTTP 429. Five consecutive service failures open the breaker; one probe after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matters is tested without spending API credits; the browser tests force provider failures to prove the fallbacks. A live check on AMD found and fixed one defect the hermetic tests could not: the fix ranking never reached the provider.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Responder ranking, fix ranking, overtime recommendations and the control-room screens are built. Next is real integration and a longer live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1600200"/>
            <a:ext cx="109728" cy="29260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6766560" cy="1005840"/>
          </a:xfrm>
          <a:prstGeom prst="rect">
            <a:avLst/>
          </a:prstGeom>
          <a:noFill/>
        </p:spPr>
        <p:txBody>
          <a:bodyPr wrap="square" lIns="0" rIns="0" tIns="0" bIns="0">
            <a:spAutoFit/>
          </a:bodyPr>
          <a:lstStyle/>
          <a:p>
            <a:pPr algn="l"/>
            <a:r>
              <a:rPr sz="5000" b="1">
                <a:solidFill>
                  <a:srgbClr val="16213E"/>
                </a:solidFill>
                <a:latin typeface="Inter"/>
              </a:rPr>
              <a:t>ResponseCompass</a:t>
            </a:r>
          </a:p>
        </p:txBody>
      </p:sp>
      <p:sp>
        <p:nvSpPr>
          <p:cNvPr id="5" name="TextBox 4"/>
          <p:cNvSpPr txBox="1"/>
          <p:nvPr/>
        </p:nvSpPr>
        <p:spPr>
          <a:xfrm>
            <a:off x="914400" y="2697480"/>
            <a:ext cx="6766560" cy="457200"/>
          </a:xfrm>
          <a:prstGeom prst="rect">
            <a:avLst/>
          </a:prstGeom>
          <a:noFill/>
        </p:spPr>
        <p:txBody>
          <a:bodyPr wrap="square" lIns="0" rIns="0" tIns="0" bIns="0">
            <a:spAutoFit/>
          </a:bodyPr>
          <a:lstStyle/>
          <a:p>
            <a:pPr algn="l"/>
            <a:r>
              <a:rPr sz="2400" b="1">
                <a:solidFill>
                  <a:srgbClr val="0F8B8D"/>
                </a:solidFill>
                <a:latin typeface="Inter"/>
              </a:rPr>
              <a:t>The right responder. The right fix.</a:t>
            </a:r>
          </a:p>
        </p:txBody>
      </p:sp>
      <p:sp>
        <p:nvSpPr>
          <p:cNvPr id="6" name="TextBox 5"/>
          <p:cNvSpPr txBox="1"/>
          <p:nvPr/>
        </p:nvSpPr>
        <p:spPr>
          <a:xfrm>
            <a:off x="914400" y="3200400"/>
            <a:ext cx="6766560" cy="457200"/>
          </a:xfrm>
          <a:prstGeom prst="rect">
            <a:avLst/>
          </a:prstGeom>
          <a:noFill/>
        </p:spPr>
        <p:txBody>
          <a:bodyPr wrap="square" lIns="0" rIns="0" tIns="0" bIns="0">
            <a:spAutoFit/>
          </a:bodyPr>
          <a:lstStyle/>
          <a:p>
            <a:pPr algn="l"/>
            <a:r>
              <a:rPr sz="2400" b="0">
                <a:solidFill>
                  <a:srgbClr val="5B6474"/>
                </a:solidFill>
                <a:latin typeface="Inter"/>
              </a:rPr>
              <a:t>Learned from every past repair.</a:t>
            </a:r>
          </a:p>
        </p:txBody>
      </p:sp>
      <p:sp>
        <p:nvSpPr>
          <p:cNvPr id="7" name="TextBox 6"/>
          <p:cNvSpPr txBox="1"/>
          <p:nvPr/>
        </p:nvSpPr>
        <p:spPr>
          <a:xfrm>
            <a:off x="914400" y="3931920"/>
            <a:ext cx="6766560" cy="457200"/>
          </a:xfrm>
          <a:prstGeom prst="rect">
            <a:avLst/>
          </a:prstGeom>
          <a:noFill/>
        </p:spPr>
        <p:txBody>
          <a:bodyPr wrap="square" lIns="0" rIns="0" tIns="0" bIns="0">
            <a:spAutoFit/>
          </a:bodyPr>
          <a:lstStyle/>
          <a:p>
            <a:pPr algn="l"/>
            <a:r>
              <a:rPr sz="1600" b="1">
                <a:solidFill>
                  <a:srgbClr val="16213E"/>
                </a:solidFill>
                <a:latin typeface="Inter"/>
              </a:rPr>
              <a:t>Runs autonomously. Supervised by your control room.</a:t>
            </a:r>
          </a:p>
        </p:txBody>
      </p:sp>
      <p:sp>
        <p:nvSpPr>
          <p:cNvPr id="8" name="TextBox 7"/>
          <p:cNvSpPr txBox="1"/>
          <p:nvPr/>
        </p:nvSpPr>
        <p:spPr>
          <a:xfrm>
            <a:off x="914400" y="4937760"/>
            <a:ext cx="6766560" cy="731520"/>
          </a:xfrm>
          <a:prstGeom prst="rect">
            <a:avLst/>
          </a:prstGeom>
          <a:noFill/>
        </p:spPr>
        <p:txBody>
          <a:bodyPr wrap="square" lIns="0" rIns="0" tIns="0" bIns="0">
            <a:spAutoFit/>
          </a:bodyPr>
          <a:lstStyle/>
          <a:p>
            <a:pPr algn="l"/>
            <a:r>
              <a:rPr sz="1600" b="0">
                <a:solidFill>
                  <a:srgbClr val="1F2937"/>
                </a:solidFill>
                <a:latin typeface="Inter"/>
              </a:rPr>
              <a:t>An AI dispatch agent for operations control rooms, built on AMD Token Factory.</a:t>
            </a:r>
          </a:p>
        </p:txBody>
      </p:sp>
      <p:pic>
        <p:nvPicPr>
          <p:cNvPr id="9" name="Picture 8" descr="screen-map.png"/>
          <p:cNvPicPr>
            <a:picLocks noChangeAspect="1"/>
          </p:cNvPicPr>
          <p:nvPr/>
        </p:nvPicPr>
        <p:blipFill>
          <a:blip r:embed="rId2"/>
          <a:stretch>
            <a:fillRect/>
          </a:stretch>
        </p:blipFill>
        <p:spPr>
          <a:xfrm>
            <a:off x="8001000" y="1508760"/>
            <a:ext cx="3840480" cy="2160270"/>
          </a:xfrm>
          <a:prstGeom prst="rect">
            <a:avLst/>
          </a:prstGeom>
          <a:ln w="9525">
            <a:solidFill>
              <a:srgbClr val="C9CED8"/>
            </a:solidFill>
          </a:ln>
        </p:spPr>
      </p:pic>
      <p:sp>
        <p:nvSpPr>
          <p:cNvPr id="10" name="TextBox 9"/>
          <p:cNvSpPr txBox="1"/>
          <p:nvPr/>
        </p:nvSpPr>
        <p:spPr>
          <a:xfrm>
            <a:off x="8001000" y="3794760"/>
            <a:ext cx="3840480" cy="365760"/>
          </a:xfrm>
          <a:prstGeom prst="rect">
            <a:avLst/>
          </a:prstGeom>
          <a:noFill/>
        </p:spPr>
        <p:txBody>
          <a:bodyPr wrap="square" lIns="0" rIns="0" tIns="0" bIns="0">
            <a:spAutoFit/>
          </a:bodyPr>
          <a:lstStyle/>
          <a:p>
            <a:pPr algn="l"/>
            <a:r>
              <a:rPr sz="1100" b="0">
                <a:solidFill>
                  <a:srgbClr val="5B6474"/>
                </a:solidFill>
                <a:latin typeface="Inter"/>
              </a:rPr>
              <a:t>Floor-map wall screen, simulated plant e8-aura-p1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problem</a:t>
            </a:r>
          </a:p>
        </p:txBody>
      </p:sp>
      <p:sp>
        <p:nvSpPr>
          <p:cNvPr id="3" name="TextBox 2"/>
          <p:cNvSpPr txBox="1"/>
          <p:nvPr/>
        </p:nvSpPr>
        <p:spPr>
          <a:xfrm>
            <a:off x="548640" y="1463040"/>
            <a:ext cx="11064240" cy="4389120"/>
          </a:xfrm>
          <a:prstGeom prst="rect">
            <a:avLst/>
          </a:prstGeom>
          <a:noFill/>
        </p:spPr>
        <p:txBody>
          <a:bodyPr wrap="square">
            <a:spAutoFit/>
          </a:bodyPr>
          <a:lstStyle/>
          <a:p>
            <a:pPr>
              <a:spcAft>
                <a:spcPts val="1840"/>
              </a:spcAft>
            </a:pPr>
            <a:r>
              <a:rPr sz="2300" b="1">
                <a:solidFill>
                  <a:srgbClr val="0F8B8D"/>
                </a:solidFill>
                <a:latin typeface="Inter"/>
              </a:rPr>
              <a:t>▸  </a:t>
            </a:r>
            <a:r>
              <a:rPr sz="2300" b="0">
                <a:solidFill>
                  <a:srgbClr val="1F2937"/>
                </a:solidFill>
                <a:latin typeface="Inter"/>
              </a:rPr>
              <a:t>When equipment fails, </a:t>
            </a:r>
            <a:r>
              <a:rPr sz="2300" b="1">
                <a:solidFill>
                  <a:srgbClr val="16213E"/>
                </a:solidFill>
                <a:latin typeface="Inter"/>
              </a:rPr>
              <a:t>closest</a:t>
            </a:r>
            <a:r>
              <a:rPr sz="2300" b="0">
                <a:solidFill>
                  <a:srgbClr val="1F2937"/>
                </a:solidFill>
                <a:latin typeface="Inter"/>
              </a:rPr>
              <a:t> or </a:t>
            </a:r>
            <a:r>
              <a:rPr sz="2300" b="1">
                <a:solidFill>
                  <a:srgbClr val="16213E"/>
                </a:solidFill>
                <a:latin typeface="Inter"/>
              </a:rPr>
              <a:t>free</a:t>
            </a:r>
            <a:r>
              <a:rPr sz="2300" b="0">
                <a:solidFill>
                  <a:srgbClr val="1F2937"/>
                </a:solidFill>
                <a:latin typeface="Inter"/>
              </a:rPr>
              <a:t> may be an incomplete answer.</a:t>
            </a:r>
          </a:p>
          <a:p>
            <a:pPr>
              <a:spcAft>
                <a:spcPts val="1840"/>
              </a:spcAft>
            </a:pPr>
            <a:r>
              <a:rPr sz="2300" b="1">
                <a:solidFill>
                  <a:srgbClr val="0F8B8D"/>
                </a:solidFill>
                <a:latin typeface="Inter"/>
              </a:rPr>
              <a:t>▸  </a:t>
            </a:r>
            <a:r>
              <a:rPr sz="2300" b="0">
                <a:solidFill>
                  <a:srgbClr val="1F2937"/>
                </a:solidFill>
                <a:latin typeface="Inter"/>
              </a:rPr>
              <a:t>The nearest technician may never have fixed this kind of fault, and the first fix tried is often a guess.</a:t>
            </a:r>
          </a:p>
          <a:p>
            <a:pPr>
              <a:spcAft>
                <a:spcPts val="1840"/>
              </a:spcAft>
            </a:pPr>
            <a:r>
              <a:rPr sz="2300" b="1">
                <a:solidFill>
                  <a:srgbClr val="0F8B8D"/>
                </a:solidFill>
                <a:latin typeface="Inter"/>
              </a:rPr>
              <a:t>▸  </a:t>
            </a:r>
            <a:r>
              <a:rPr sz="2300" b="0">
                <a:solidFill>
                  <a:srgbClr val="1F2937"/>
                </a:solidFill>
                <a:latin typeface="Inter"/>
              </a:rPr>
              <a:t>A poor match means downtime, a reopened issue or another trip; a backlog means overtime decisions under pressure.</a:t>
            </a:r>
          </a:p>
          <a:p>
            <a:pPr>
              <a:spcAft>
                <a:spcPts val="1840"/>
              </a:spcAft>
            </a:pPr>
            <a:r>
              <a:rPr sz="2300" b="1">
                <a:solidFill>
                  <a:srgbClr val="0F8B8D"/>
                </a:solidFill>
                <a:latin typeface="Inter"/>
              </a:rPr>
              <a:t>▸  </a:t>
            </a:r>
            <a:r>
              <a:rPr sz="2300" b="0">
                <a:solidFill>
                  <a:srgbClr val="1F2937"/>
                </a:solidFill>
                <a:latin typeface="Inter"/>
              </a:rPr>
              <a:t>Who fixes what, and how, lives in people's heads and old tickets.</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One agent, many screens</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Each panel can run full screen on its own monitor; the operator console keeps the controls.</a:t>
            </a:r>
          </a:p>
        </p:txBody>
      </p:sp>
      <p:sp>
        <p:nvSpPr>
          <p:cNvPr id="4" name="Rectangle 3"/>
          <p:cNvSpPr/>
          <p:nvPr/>
        </p:nvSpPr>
        <p:spPr>
          <a:xfrm>
            <a:off x="484632" y="1536192"/>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reen-map.png"/>
          <p:cNvPicPr>
            <a:picLocks noChangeAspect="1"/>
          </p:cNvPicPr>
          <p:nvPr/>
        </p:nvPicPr>
        <p:blipFill>
          <a:blip r:embed="rId2"/>
          <a:stretch>
            <a:fillRect/>
          </a:stretch>
        </p:blipFill>
        <p:spPr>
          <a:xfrm>
            <a:off x="548640" y="1600200"/>
            <a:ext cx="3520440" cy="1980247"/>
          </a:xfrm>
          <a:prstGeom prst="rect">
            <a:avLst/>
          </a:prstGeom>
          <a:ln w="9525">
            <a:solidFill>
              <a:srgbClr val="C9CED8"/>
            </a:solidFill>
          </a:ln>
        </p:spPr>
      </p:pic>
      <p:sp>
        <p:nvSpPr>
          <p:cNvPr id="6" name="TextBox 5"/>
          <p:cNvSpPr txBox="1"/>
          <p:nvPr/>
        </p:nvSpPr>
        <p:spPr>
          <a:xfrm>
            <a:off x="548640" y="3690175"/>
            <a:ext cx="3520440" cy="274320"/>
          </a:xfrm>
          <a:prstGeom prst="rect">
            <a:avLst/>
          </a:prstGeom>
          <a:noFill/>
        </p:spPr>
        <p:txBody>
          <a:bodyPr wrap="square" lIns="0" rIns="0" tIns="0" bIns="0">
            <a:spAutoFit/>
          </a:bodyPr>
          <a:lstStyle/>
          <a:p>
            <a:pPr algn="ctr"/>
            <a:r>
              <a:rPr sz="1200" b="1">
                <a:solidFill>
                  <a:srgbClr val="16213E"/>
                </a:solidFill>
                <a:latin typeface="Inter"/>
              </a:rPr>
              <a:t>Floor map</a:t>
            </a:r>
          </a:p>
        </p:txBody>
      </p:sp>
      <p:sp>
        <p:nvSpPr>
          <p:cNvPr id="7" name="Rectangle 6"/>
          <p:cNvSpPr/>
          <p:nvPr/>
        </p:nvSpPr>
        <p:spPr>
          <a:xfrm>
            <a:off x="4233671" y="1536192"/>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issues.png"/>
          <p:cNvPicPr>
            <a:picLocks noChangeAspect="1"/>
          </p:cNvPicPr>
          <p:nvPr/>
        </p:nvPicPr>
        <p:blipFill>
          <a:blip r:embed="rId3"/>
          <a:stretch>
            <a:fillRect/>
          </a:stretch>
        </p:blipFill>
        <p:spPr>
          <a:xfrm>
            <a:off x="4297679" y="1600200"/>
            <a:ext cx="3520440" cy="1980247"/>
          </a:xfrm>
          <a:prstGeom prst="rect">
            <a:avLst/>
          </a:prstGeom>
          <a:ln w="9525">
            <a:solidFill>
              <a:srgbClr val="C9CED8"/>
            </a:solidFill>
          </a:ln>
        </p:spPr>
      </p:pic>
      <p:sp>
        <p:nvSpPr>
          <p:cNvPr id="9" name="TextBox 8"/>
          <p:cNvSpPr txBox="1"/>
          <p:nvPr/>
        </p:nvSpPr>
        <p:spPr>
          <a:xfrm>
            <a:off x="4297679" y="3690175"/>
            <a:ext cx="3520440" cy="274320"/>
          </a:xfrm>
          <a:prstGeom prst="rect">
            <a:avLst/>
          </a:prstGeom>
          <a:noFill/>
        </p:spPr>
        <p:txBody>
          <a:bodyPr wrap="square" lIns="0" rIns="0" tIns="0" bIns="0">
            <a:spAutoFit/>
          </a:bodyPr>
          <a:lstStyle/>
          <a:p>
            <a:pPr algn="ctr"/>
            <a:r>
              <a:rPr sz="1200" b="1">
                <a:solidFill>
                  <a:srgbClr val="16213E"/>
                </a:solidFill>
                <a:latin typeface="Inter"/>
              </a:rPr>
              <a:t>Issues</a:t>
            </a:r>
          </a:p>
        </p:txBody>
      </p:sp>
      <p:sp>
        <p:nvSpPr>
          <p:cNvPr id="10" name="Rectangle 9"/>
          <p:cNvSpPr/>
          <p:nvPr/>
        </p:nvSpPr>
        <p:spPr>
          <a:xfrm>
            <a:off x="7982711" y="1536192"/>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dispatch.png"/>
          <p:cNvPicPr>
            <a:picLocks noChangeAspect="1"/>
          </p:cNvPicPr>
          <p:nvPr/>
        </p:nvPicPr>
        <p:blipFill>
          <a:blip r:embed="rId4"/>
          <a:stretch>
            <a:fillRect/>
          </a:stretch>
        </p:blipFill>
        <p:spPr>
          <a:xfrm>
            <a:off x="8046719" y="1600200"/>
            <a:ext cx="3520440" cy="1980247"/>
          </a:xfrm>
          <a:prstGeom prst="rect">
            <a:avLst/>
          </a:prstGeom>
          <a:ln w="9525">
            <a:solidFill>
              <a:srgbClr val="C9CED8"/>
            </a:solidFill>
          </a:ln>
        </p:spPr>
      </p:pic>
      <p:sp>
        <p:nvSpPr>
          <p:cNvPr id="12" name="TextBox 11"/>
          <p:cNvSpPr txBox="1"/>
          <p:nvPr/>
        </p:nvSpPr>
        <p:spPr>
          <a:xfrm>
            <a:off x="8046719" y="3690175"/>
            <a:ext cx="3520440" cy="274320"/>
          </a:xfrm>
          <a:prstGeom prst="rect">
            <a:avLst/>
          </a:prstGeom>
          <a:noFill/>
        </p:spPr>
        <p:txBody>
          <a:bodyPr wrap="square" lIns="0" rIns="0" tIns="0" bIns="0">
            <a:spAutoFit/>
          </a:bodyPr>
          <a:lstStyle/>
          <a:p>
            <a:pPr algn="ctr"/>
            <a:r>
              <a:rPr sz="1200" b="1">
                <a:solidFill>
                  <a:srgbClr val="16213E"/>
                </a:solidFill>
                <a:latin typeface="Inter"/>
              </a:rPr>
              <a:t>Dispatch</a:t>
            </a:r>
          </a:p>
        </p:txBody>
      </p:sp>
      <p:sp>
        <p:nvSpPr>
          <p:cNvPr id="13" name="Rectangle 12"/>
          <p:cNvSpPr/>
          <p:nvPr/>
        </p:nvSpPr>
        <p:spPr>
          <a:xfrm>
            <a:off x="484632" y="3931920"/>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events.png"/>
          <p:cNvPicPr>
            <a:picLocks noChangeAspect="1"/>
          </p:cNvPicPr>
          <p:nvPr/>
        </p:nvPicPr>
        <p:blipFill>
          <a:blip r:embed="rId5"/>
          <a:stretch>
            <a:fillRect/>
          </a:stretch>
        </p:blipFill>
        <p:spPr>
          <a:xfrm>
            <a:off x="548640" y="3995928"/>
            <a:ext cx="3520440" cy="1980247"/>
          </a:xfrm>
          <a:prstGeom prst="rect">
            <a:avLst/>
          </a:prstGeom>
          <a:ln w="9525">
            <a:solidFill>
              <a:srgbClr val="C9CED8"/>
            </a:solidFill>
          </a:ln>
        </p:spPr>
      </p:pic>
      <p:sp>
        <p:nvSpPr>
          <p:cNvPr id="15" name="TextBox 14"/>
          <p:cNvSpPr txBox="1"/>
          <p:nvPr/>
        </p:nvSpPr>
        <p:spPr>
          <a:xfrm>
            <a:off x="548640" y="6085903"/>
            <a:ext cx="3520440" cy="274320"/>
          </a:xfrm>
          <a:prstGeom prst="rect">
            <a:avLst/>
          </a:prstGeom>
          <a:noFill/>
        </p:spPr>
        <p:txBody>
          <a:bodyPr wrap="square" lIns="0" rIns="0" tIns="0" bIns="0">
            <a:spAutoFit/>
          </a:bodyPr>
          <a:lstStyle/>
          <a:p>
            <a:pPr algn="ctr"/>
            <a:r>
              <a:rPr sz="1200" b="1">
                <a:solidFill>
                  <a:srgbClr val="16213E"/>
                </a:solidFill>
                <a:latin typeface="Inter"/>
              </a:rPr>
              <a:t>Event feed</a:t>
            </a:r>
          </a:p>
        </p:txBody>
      </p:sp>
      <p:sp>
        <p:nvSpPr>
          <p:cNvPr id="16" name="Rectangle 15"/>
          <p:cNvSpPr/>
          <p:nvPr/>
        </p:nvSpPr>
        <p:spPr>
          <a:xfrm>
            <a:off x="4233671" y="3931920"/>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pareto.png"/>
          <p:cNvPicPr>
            <a:picLocks noChangeAspect="1"/>
          </p:cNvPicPr>
          <p:nvPr/>
        </p:nvPicPr>
        <p:blipFill>
          <a:blip r:embed="rId6"/>
          <a:stretch>
            <a:fillRect/>
          </a:stretch>
        </p:blipFill>
        <p:spPr>
          <a:xfrm>
            <a:off x="4297679" y="3995928"/>
            <a:ext cx="3520440" cy="1980247"/>
          </a:xfrm>
          <a:prstGeom prst="rect">
            <a:avLst/>
          </a:prstGeom>
          <a:ln w="9525">
            <a:solidFill>
              <a:srgbClr val="C9CED8"/>
            </a:solidFill>
          </a:ln>
        </p:spPr>
      </p:pic>
      <p:sp>
        <p:nvSpPr>
          <p:cNvPr id="18" name="TextBox 17"/>
          <p:cNvSpPr txBox="1"/>
          <p:nvPr/>
        </p:nvSpPr>
        <p:spPr>
          <a:xfrm>
            <a:off x="4297679" y="6085903"/>
            <a:ext cx="3520440" cy="274320"/>
          </a:xfrm>
          <a:prstGeom prst="rect">
            <a:avLst/>
          </a:prstGeom>
          <a:noFill/>
        </p:spPr>
        <p:txBody>
          <a:bodyPr wrap="square" lIns="0" rIns="0" tIns="0" bIns="0">
            <a:spAutoFit/>
          </a:bodyPr>
          <a:lstStyle/>
          <a:p>
            <a:pPr algn="ctr"/>
            <a:r>
              <a:rPr sz="1200" b="1">
                <a:solidFill>
                  <a:srgbClr val="16213E"/>
                </a:solidFill>
                <a:latin typeface="Inter"/>
              </a:rPr>
              <a:t>Issue Pareto</a:t>
            </a:r>
          </a:p>
        </p:txBody>
      </p:sp>
      <p:sp>
        <p:nvSpPr>
          <p:cNvPr id="19" name="Rectangle 18"/>
          <p:cNvSpPr/>
          <p:nvPr/>
        </p:nvSpPr>
        <p:spPr>
          <a:xfrm>
            <a:off x="7982711" y="3931920"/>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analytics.png"/>
          <p:cNvPicPr>
            <a:picLocks noChangeAspect="1"/>
          </p:cNvPicPr>
          <p:nvPr/>
        </p:nvPicPr>
        <p:blipFill>
          <a:blip r:embed="rId7"/>
          <a:stretch>
            <a:fillRect/>
          </a:stretch>
        </p:blipFill>
        <p:spPr>
          <a:xfrm>
            <a:off x="8046719" y="3995928"/>
            <a:ext cx="3520440" cy="1980247"/>
          </a:xfrm>
          <a:prstGeom prst="rect">
            <a:avLst/>
          </a:prstGeom>
          <a:ln w="9525">
            <a:solidFill>
              <a:srgbClr val="C9CED8"/>
            </a:solidFill>
          </a:ln>
        </p:spPr>
      </p:pic>
      <p:sp>
        <p:nvSpPr>
          <p:cNvPr id="21" name="TextBox 20"/>
          <p:cNvSpPr txBox="1"/>
          <p:nvPr/>
        </p:nvSpPr>
        <p:spPr>
          <a:xfrm>
            <a:off x="8046719" y="6085903"/>
            <a:ext cx="3520440" cy="274320"/>
          </a:xfrm>
          <a:prstGeom prst="rect">
            <a:avLst/>
          </a:prstGeom>
          <a:noFill/>
        </p:spPr>
        <p:txBody>
          <a:bodyPr wrap="square" lIns="0" rIns="0" tIns="0" bIns="0">
            <a:spAutoFit/>
          </a:bodyPr>
          <a:lstStyle/>
          <a:p>
            <a:pPr algn="ctr"/>
            <a:r>
              <a:rPr sz="1200" b="1">
                <a:solidFill>
                  <a:srgbClr val="16213E"/>
                </a:solidFill>
                <a:latin typeface="Inter"/>
              </a:rPr>
              <a:t>Analytics</a:t>
            </a:r>
          </a:p>
        </p:txBody>
      </p:sp>
      <p:sp>
        <p:nvSpPr>
          <p:cNvPr id="22" name="TextBox 21"/>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Autonomous by default, human in command</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Code runs the loop; AMD models rank; people decide at the amber steps.</a:t>
            </a:r>
          </a:p>
        </p:txBody>
      </p:sp>
      <p:sp>
        <p:nvSpPr>
          <p:cNvPr id="4" name="Node: Issue raised"/>
          <p:cNvSpPr/>
          <p:nvPr/>
        </p:nvSpPr>
        <p:spPr>
          <a:xfrm>
            <a:off x="411480" y="178308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Issue raised</a:t>
            </a:r>
          </a:p>
          <a:p>
            <a:pPr algn="ctr"/>
            <a:r>
              <a:rPr sz="950" b="0">
                <a:solidFill>
                  <a:srgbClr val="5B6474"/>
                </a:solidFill>
                <a:latin typeface="Inter"/>
              </a:rPr>
              <a:t>equipment fault, symptom</a:t>
            </a:r>
          </a:p>
        </p:txBody>
      </p:sp>
      <p:sp>
        <p:nvSpPr>
          <p:cNvPr id="5" name="Node: Rank responders"/>
          <p:cNvSpPr/>
          <p:nvPr/>
        </p:nvSpPr>
        <p:spPr>
          <a:xfrm>
            <a:off x="2788920" y="1783080"/>
            <a:ext cx="1920240"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responders</a:t>
            </a:r>
          </a:p>
          <a:p>
            <a:pPr algn="ctr"/>
            <a:r>
              <a:rPr sz="950" b="0">
                <a:solidFill>
                  <a:srgbClr val="E6FFFF"/>
                </a:solidFill>
                <a:latin typeface="Inter"/>
              </a:rPr>
              <a:t>Compass on AMD</a:t>
            </a:r>
          </a:p>
        </p:txBody>
      </p:sp>
      <p:sp>
        <p:nvSpPr>
          <p:cNvPr id="6" name="Node: Offer sent"/>
          <p:cNvSpPr/>
          <p:nvPr/>
        </p:nvSpPr>
        <p:spPr>
          <a:xfrm>
            <a:off x="5166360" y="178308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Offer sent</a:t>
            </a:r>
          </a:p>
          <a:p>
            <a:pPr algn="ctr"/>
            <a:r>
              <a:rPr sz="950" b="0">
                <a:solidFill>
                  <a:srgbClr val="5B6474"/>
                </a:solidFill>
                <a:latin typeface="Inter"/>
              </a:rPr>
              <a:t>automatic, ranked queue</a:t>
            </a:r>
          </a:p>
        </p:txBody>
      </p:sp>
      <p:sp>
        <p:nvSpPr>
          <p:cNvPr id="7" name="Node: Responder"/>
          <p:cNvSpPr/>
          <p:nvPr/>
        </p:nvSpPr>
        <p:spPr>
          <a:xfrm>
            <a:off x="7543800" y="1783080"/>
            <a:ext cx="192024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Responder</a:t>
            </a:r>
          </a:p>
          <a:p>
            <a:pPr algn="ctr"/>
            <a:r>
              <a:rPr sz="950" b="0">
                <a:solidFill>
                  <a:srgbClr val="5B6474"/>
                </a:solidFill>
                <a:latin typeface="Inter"/>
              </a:rPr>
              <a:t>accepts or rejects</a:t>
            </a:r>
          </a:p>
        </p:txBody>
      </p:sp>
      <p:sp>
        <p:nvSpPr>
          <p:cNvPr id="8" name="Node: Rank fixes"/>
          <p:cNvSpPr/>
          <p:nvPr/>
        </p:nvSpPr>
        <p:spPr>
          <a:xfrm>
            <a:off x="9921240" y="1783080"/>
            <a:ext cx="1920240"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fixes</a:t>
            </a:r>
          </a:p>
          <a:p>
            <a:pPr algn="ctr"/>
            <a:r>
              <a:rPr sz="950" b="0">
                <a:solidFill>
                  <a:srgbClr val="E6FFFF"/>
                </a:solidFill>
                <a:latin typeface="Inter"/>
              </a:rPr>
              <a:t>Compass on AMD</a:t>
            </a:r>
          </a:p>
        </p:txBody>
      </p:sp>
      <p:sp>
        <p:nvSpPr>
          <p:cNvPr id="9" name="Node: Rank overtime"/>
          <p:cNvSpPr/>
          <p:nvPr/>
        </p:nvSpPr>
        <p:spPr>
          <a:xfrm>
            <a:off x="411480" y="3200400"/>
            <a:ext cx="1920240"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overtime</a:t>
            </a:r>
          </a:p>
          <a:p>
            <a:pPr algn="ctr"/>
            <a:r>
              <a:rPr sz="950" b="0">
                <a:solidFill>
                  <a:srgbClr val="E6FFFF"/>
                </a:solidFill>
                <a:latin typeface="Inter"/>
              </a:rPr>
              <a:t>Compass, legal options only</a:t>
            </a:r>
          </a:p>
        </p:txBody>
      </p:sp>
      <p:sp>
        <p:nvSpPr>
          <p:cNvPr id="10" name="Node: Central command"/>
          <p:cNvSpPr/>
          <p:nvPr/>
        </p:nvSpPr>
        <p:spPr>
          <a:xfrm>
            <a:off x="2788920" y="3200400"/>
            <a:ext cx="192024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approves or rejects</a:t>
            </a:r>
          </a:p>
        </p:txBody>
      </p:sp>
      <p:sp>
        <p:nvSpPr>
          <p:cNvPr id="11" name="Node: Central command"/>
          <p:cNvSpPr/>
          <p:nvPr/>
        </p:nvSpPr>
        <p:spPr>
          <a:xfrm>
            <a:off x="7543800" y="3200400"/>
            <a:ext cx="192024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override, transfer, support</a:t>
            </a:r>
          </a:p>
        </p:txBody>
      </p:sp>
      <p:sp>
        <p:nvSpPr>
          <p:cNvPr id="12" name="Node: Repair attempt"/>
          <p:cNvSpPr/>
          <p:nvPr/>
        </p:nvSpPr>
        <p:spPr>
          <a:xfrm>
            <a:off x="9921240" y="320040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Repair attempt</a:t>
            </a:r>
          </a:p>
          <a:p>
            <a:pPr algn="ctr"/>
            <a:r>
              <a:rPr sz="950" b="0">
                <a:solidFill>
                  <a:srgbClr val="5B6474"/>
                </a:solidFill>
                <a:latin typeface="Inter"/>
              </a:rPr>
              <a:t>outcome from hidden truth</a:t>
            </a:r>
          </a:p>
        </p:txBody>
      </p:sp>
      <p:sp>
        <p:nvSpPr>
          <p:cNvPr id="13" name="Node: Backlog review"/>
          <p:cNvSpPr/>
          <p:nvPr/>
        </p:nvSpPr>
        <p:spPr>
          <a:xfrm>
            <a:off x="411480" y="461772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Backlog review</a:t>
            </a:r>
          </a:p>
          <a:p>
            <a:pPr algn="ctr"/>
            <a:r>
              <a:rPr sz="950" b="0">
                <a:solidFill>
                  <a:srgbClr val="5B6474"/>
                </a:solidFill>
                <a:latin typeface="Inter"/>
              </a:rPr>
              <a:t>before each handover</a:t>
            </a:r>
          </a:p>
        </p:txBody>
      </p:sp>
      <p:sp>
        <p:nvSpPr>
          <p:cNvPr id="14" name="Node: Observed history"/>
          <p:cNvSpPr/>
          <p:nvPr/>
        </p:nvSpPr>
        <p:spPr>
          <a:xfrm>
            <a:off x="7543800" y="4617720"/>
            <a:ext cx="1920240" cy="658368"/>
          </a:xfrm>
          <a:prstGeom prst="roundRect">
            <a:avLst>
              <a:gd name="adj" fmla="val 18000"/>
            </a:avLst>
          </a:prstGeom>
          <a:solidFill>
            <a:srgbClr val="16213E"/>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Observed history</a:t>
            </a:r>
          </a:p>
          <a:p>
            <a:pPr algn="ctr"/>
            <a:r>
              <a:rPr sz="950" b="0">
                <a:solidFill>
                  <a:srgbClr val="C9D3EA"/>
                </a:solidFill>
                <a:latin typeface="Inter"/>
              </a:rPr>
              <a:t>evidence for every ranking</a:t>
            </a:r>
          </a:p>
        </p:txBody>
      </p:sp>
      <p:sp>
        <p:nvSpPr>
          <p:cNvPr id="15" name="Node: Wall screens"/>
          <p:cNvSpPr/>
          <p:nvPr/>
        </p:nvSpPr>
        <p:spPr>
          <a:xfrm>
            <a:off x="7543800" y="585216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Wall screens</a:t>
            </a:r>
          </a:p>
          <a:p>
            <a:pPr algn="ctr"/>
            <a:r>
              <a:rPr sz="950" b="0">
                <a:solidFill>
                  <a:srgbClr val="5B6474"/>
                </a:solidFill>
                <a:latin typeface="Inter"/>
              </a:rPr>
              <a:t>floor, issues, feed, Pareto</a:t>
            </a:r>
          </a:p>
        </p:txBody>
      </p:sp>
      <p:cxnSp>
        <p:nvCxnSpPr>
          <p:cNvPr id="16" name="Arrow: Issue raised to Rank responders"/>
          <p:cNvCxnSpPr>
            <a:stCxn id="4" idx="3"/>
            <a:endCxn id="5" idx="1"/>
          </p:cNvCxnSpPr>
          <p:nvPr/>
        </p:nvCxnSpPr>
        <p:spPr>
          <a:xfrm flipV="1">
            <a:off x="233172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Arrow: Rank responders to Offer sent"/>
          <p:cNvCxnSpPr>
            <a:stCxn id="5" idx="3"/>
            <a:endCxn id="6" idx="1"/>
          </p:cNvCxnSpPr>
          <p:nvPr/>
        </p:nvCxnSpPr>
        <p:spPr>
          <a:xfrm flipV="1">
            <a:off x="470916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Arrow: Offer sent to Responder"/>
          <p:cNvCxnSpPr>
            <a:stCxn id="6" idx="3"/>
            <a:endCxn id="7" idx="1"/>
          </p:cNvCxnSpPr>
          <p:nvPr/>
        </p:nvCxnSpPr>
        <p:spPr>
          <a:xfrm flipV="1">
            <a:off x="708660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Responder to Rank fixes"/>
          <p:cNvCxnSpPr>
            <a:stCxn id="7" idx="3"/>
            <a:endCxn id="8" idx="1"/>
          </p:cNvCxnSpPr>
          <p:nvPr/>
        </p:nvCxnSpPr>
        <p:spPr>
          <a:xfrm flipV="1">
            <a:off x="946404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Rank fixes to Repair attempt"/>
          <p:cNvCxnSpPr>
            <a:stCxn id="8" idx="2"/>
            <a:endCxn id="12" idx="0"/>
          </p:cNvCxnSpPr>
          <p:nvPr/>
        </p:nvCxnSpPr>
        <p:spPr>
          <a:xfrm flipH="1">
            <a:off x="10881360" y="2441448"/>
            <a:ext cx="0" cy="7589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Repair attempt to Observed history"/>
          <p:cNvCxnSpPr>
            <a:stCxn id="12" idx="1"/>
            <a:endCxn id="14" idx="3"/>
          </p:cNvCxnSpPr>
          <p:nvPr/>
        </p:nvCxnSpPr>
        <p:spPr>
          <a:xfrm flipH="1">
            <a:off x="9464040" y="3529584"/>
            <a:ext cx="457200" cy="14173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Observed history to Rank responders"/>
          <p:cNvCxnSpPr>
            <a:stCxn id="14" idx="1"/>
            <a:endCxn id="5" idx="3"/>
          </p:cNvCxnSpPr>
          <p:nvPr/>
        </p:nvCxnSpPr>
        <p:spPr>
          <a:xfrm flipH="1" flipV="1">
            <a:off x="4709160" y="2112264"/>
            <a:ext cx="2834640" cy="2834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Central command to Offer sent"/>
          <p:cNvCxnSpPr>
            <a:stCxn id="11" idx="1"/>
            <a:endCxn id="6" idx="3"/>
          </p:cNvCxnSpPr>
          <p:nvPr/>
        </p:nvCxnSpPr>
        <p:spPr>
          <a:xfrm flipH="1" flipV="1">
            <a:off x="7086600" y="2112264"/>
            <a:ext cx="457200" cy="14173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Observed history to Wall screens"/>
          <p:cNvCxnSpPr>
            <a:stCxn id="14" idx="2"/>
            <a:endCxn id="15" idx="0"/>
          </p:cNvCxnSpPr>
          <p:nvPr/>
        </p:nvCxnSpPr>
        <p:spPr>
          <a:xfrm flipH="1">
            <a:off x="8503920" y="5276088"/>
            <a:ext cx="0" cy="57607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Observed history to Backlog review"/>
          <p:cNvCxnSpPr>
            <a:stCxn id="14" idx="1"/>
            <a:endCxn id="13" idx="3"/>
          </p:cNvCxnSpPr>
          <p:nvPr/>
        </p:nvCxnSpPr>
        <p:spPr>
          <a:xfrm flipH="1" flipV="1">
            <a:off x="2331720" y="4946904"/>
            <a:ext cx="521208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Backlog review to Rank overtime"/>
          <p:cNvCxnSpPr>
            <a:stCxn id="13" idx="0"/>
            <a:endCxn id="9" idx="2"/>
          </p:cNvCxnSpPr>
          <p:nvPr/>
        </p:nvCxnSpPr>
        <p:spPr>
          <a:xfrm flipH="1" flipV="1">
            <a:off x="1371600" y="3858768"/>
            <a:ext cx="0" cy="7589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Rank overtime to Central command"/>
          <p:cNvCxnSpPr>
            <a:stCxn id="9" idx="3"/>
            <a:endCxn id="10" idx="1"/>
          </p:cNvCxnSpPr>
          <p:nvPr/>
        </p:nvCxnSpPr>
        <p:spPr>
          <a:xfrm flipV="1">
            <a:off x="2331720" y="352958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Central command to Rank responders"/>
          <p:cNvCxnSpPr>
            <a:stCxn id="10" idx="0"/>
            <a:endCxn id="5" idx="2"/>
          </p:cNvCxnSpPr>
          <p:nvPr/>
        </p:nvCxnSpPr>
        <p:spPr>
          <a:xfrm flipH="1" flipV="1">
            <a:off x="3749040" y="2441448"/>
            <a:ext cx="0" cy="7589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921240" y="4754880"/>
            <a:ext cx="292608" cy="182880"/>
          </a:xfrm>
          <a:prstGeom prst="roundRect">
            <a:avLst/>
          </a:prstGeom>
          <a:solidFill>
            <a:srgbClr val="FFFFFF"/>
          </a:solidFill>
          <a:ln>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05288" y="4727448"/>
            <a:ext cx="2286000" cy="256032"/>
          </a:xfrm>
          <a:prstGeom prst="rect">
            <a:avLst/>
          </a:prstGeom>
          <a:noFill/>
        </p:spPr>
        <p:txBody>
          <a:bodyPr wrap="square" lIns="0" rIns="0" tIns="0" bIns="0">
            <a:spAutoFit/>
          </a:bodyPr>
          <a:lstStyle/>
          <a:p>
            <a:pPr algn="l"/>
            <a:r>
              <a:rPr sz="1100" b="0">
                <a:solidFill>
                  <a:srgbClr val="5B6474"/>
                </a:solidFill>
                <a:latin typeface="Inter"/>
              </a:rPr>
              <a:t>Application code</a:t>
            </a:r>
          </a:p>
        </p:txBody>
      </p:sp>
      <p:sp>
        <p:nvSpPr>
          <p:cNvPr id="31" name="Rounded Rectangle 30"/>
          <p:cNvSpPr/>
          <p:nvPr/>
        </p:nvSpPr>
        <p:spPr>
          <a:xfrm>
            <a:off x="9921240" y="5029200"/>
            <a:ext cx="292608" cy="182880"/>
          </a:xfrm>
          <a:prstGeom prst="roundRect">
            <a:avLst/>
          </a:prstGeom>
          <a:solidFill>
            <a:srgbClr val="0F8B8D"/>
          </a:solidFill>
          <a:ln>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305288" y="5001768"/>
            <a:ext cx="2286000" cy="256032"/>
          </a:xfrm>
          <a:prstGeom prst="rect">
            <a:avLst/>
          </a:prstGeom>
          <a:noFill/>
        </p:spPr>
        <p:txBody>
          <a:bodyPr wrap="square" lIns="0" rIns="0" tIns="0" bIns="0">
            <a:spAutoFit/>
          </a:bodyPr>
          <a:lstStyle/>
          <a:p>
            <a:pPr algn="l"/>
            <a:r>
              <a:rPr sz="1100" b="0">
                <a:solidFill>
                  <a:srgbClr val="5B6474"/>
                </a:solidFill>
                <a:latin typeface="Inter"/>
              </a:rPr>
              <a:t>AMD model</a:t>
            </a:r>
          </a:p>
        </p:txBody>
      </p:sp>
      <p:sp>
        <p:nvSpPr>
          <p:cNvPr id="33" name="Rounded Rectangle 32"/>
          <p:cNvSpPr/>
          <p:nvPr/>
        </p:nvSpPr>
        <p:spPr>
          <a:xfrm>
            <a:off x="9921240" y="5303520"/>
            <a:ext cx="292608" cy="182880"/>
          </a:xfrm>
          <a:prstGeom prst="roundRect">
            <a:avLst/>
          </a:prstGeom>
          <a:solidFill>
            <a:srgbClr val="FFFFFF"/>
          </a:solidFill>
          <a:ln>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05288" y="5276088"/>
            <a:ext cx="2286000" cy="256032"/>
          </a:xfrm>
          <a:prstGeom prst="rect">
            <a:avLst/>
          </a:prstGeom>
          <a:noFill/>
        </p:spPr>
        <p:txBody>
          <a:bodyPr wrap="square" lIns="0" rIns="0" tIns="0" bIns="0">
            <a:spAutoFit/>
          </a:bodyPr>
          <a:lstStyle/>
          <a:p>
            <a:pPr algn="l"/>
            <a:r>
              <a:rPr sz="1100" b="0">
                <a:solidFill>
                  <a:srgbClr val="5B6474"/>
                </a:solidFill>
                <a:latin typeface="Inter"/>
              </a:rPr>
              <a:t>People</a:t>
            </a:r>
          </a:p>
        </p:txBody>
      </p:sp>
      <p:sp>
        <p:nvSpPr>
          <p:cNvPr id="35" name="TextBox 3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Code owns the facts. Models only rank.</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Application code owns time, facts, eligibility, baselines and every mutation; models only propose.</a:t>
            </a:r>
          </a:p>
        </p:txBody>
      </p:sp>
      <p:sp>
        <p:nvSpPr>
          <p:cNvPr id="4" name="Node: Simulation clock"/>
          <p:cNvSpPr/>
          <p:nvPr/>
        </p:nvSpPr>
        <p:spPr>
          <a:xfrm>
            <a:off x="411480" y="160020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Simulation clock</a:t>
            </a:r>
          </a:p>
          <a:p>
            <a:pPr algn="ctr"/>
            <a:r>
              <a:rPr sz="950" b="0">
                <a:solidFill>
                  <a:srgbClr val="5B6474"/>
                </a:solidFill>
                <a:latin typeface="Inter"/>
              </a:rPr>
              <a:t>persistent, pausable</a:t>
            </a:r>
          </a:p>
        </p:txBody>
      </p:sp>
      <p:sp>
        <p:nvSpPr>
          <p:cNvPr id="5" name="Node: Scheduler"/>
          <p:cNvSpPr/>
          <p:nvPr/>
        </p:nvSpPr>
        <p:spPr>
          <a:xfrm>
            <a:off x="411480" y="26974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Scheduler</a:t>
            </a:r>
          </a:p>
          <a:p>
            <a:pPr algn="ctr"/>
            <a:r>
              <a:rPr sz="950" b="0">
                <a:solidFill>
                  <a:srgbClr val="5B6474"/>
                </a:solidFill>
                <a:latin typeface="Inter"/>
              </a:rPr>
              <a:t>one-shot, restart-safe</a:t>
            </a:r>
          </a:p>
        </p:txBody>
      </p:sp>
      <p:sp>
        <p:nvSpPr>
          <p:cNvPr id="6" name="Node: Event planner"/>
          <p:cNvSpPr/>
          <p:nvPr/>
        </p:nvSpPr>
        <p:spPr>
          <a:xfrm>
            <a:off x="2834640" y="1600200"/>
            <a:ext cx="1874519"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Event planner</a:t>
            </a:r>
          </a:p>
          <a:p>
            <a:pPr algn="ctr"/>
            <a:r>
              <a:rPr sz="950" b="0">
                <a:solidFill>
                  <a:srgbClr val="E6FFFF"/>
                </a:solidFill>
                <a:latin typeface="Inter"/>
              </a:rPr>
              <a:t>AMD Token Factory</a:t>
            </a:r>
          </a:p>
        </p:txBody>
      </p:sp>
      <p:sp>
        <p:nvSpPr>
          <p:cNvPr id="7" name="Node: Fallback planner"/>
          <p:cNvSpPr/>
          <p:nvPr/>
        </p:nvSpPr>
        <p:spPr>
          <a:xfrm>
            <a:off x="2834640" y="26974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Fallback planner</a:t>
            </a:r>
          </a:p>
          <a:p>
            <a:pPr algn="ctr"/>
            <a:r>
              <a:rPr sz="950" b="0">
                <a:solidFill>
                  <a:srgbClr val="5B6474"/>
                </a:solidFill>
                <a:latin typeface="Inter"/>
              </a:rPr>
              <a:t>deterministic, API-free</a:t>
            </a:r>
          </a:p>
        </p:txBody>
      </p:sp>
      <p:sp>
        <p:nvSpPr>
          <p:cNvPr id="8" name="Node: Validator"/>
          <p:cNvSpPr/>
          <p:nvPr/>
        </p:nvSpPr>
        <p:spPr>
          <a:xfrm>
            <a:off x="5257800" y="214884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Validator</a:t>
            </a:r>
          </a:p>
          <a:p>
            <a:pPr algn="ctr"/>
            <a:r>
              <a:rPr sz="950" b="0">
                <a:solidFill>
                  <a:srgbClr val="5B6474"/>
                </a:solidFill>
                <a:latin typeface="Inter"/>
              </a:rPr>
              <a:t>schema + facts</a:t>
            </a:r>
          </a:p>
        </p:txBody>
      </p:sp>
      <p:sp>
        <p:nvSpPr>
          <p:cNvPr id="9" name="Node: Canonical state"/>
          <p:cNvSpPr/>
          <p:nvPr/>
        </p:nvSpPr>
        <p:spPr>
          <a:xfrm>
            <a:off x="5029200" y="3337560"/>
            <a:ext cx="2331720" cy="868680"/>
          </a:xfrm>
          <a:prstGeom prst="roundRect">
            <a:avLst>
              <a:gd name="adj" fmla="val 18000"/>
            </a:avLst>
          </a:prstGeom>
          <a:solidFill>
            <a:srgbClr val="16213E"/>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Canonical state</a:t>
            </a:r>
          </a:p>
          <a:p>
            <a:pPr algn="ctr"/>
            <a:r>
              <a:rPr sz="950" b="0">
                <a:solidFill>
                  <a:srgbClr val="C9D3EA"/>
                </a:solidFill>
                <a:latin typeface="Inter"/>
              </a:rPr>
              <a:t>persistent store, audit trail</a:t>
            </a:r>
          </a:p>
        </p:txBody>
      </p:sp>
      <p:sp>
        <p:nvSpPr>
          <p:cNvPr id="10" name="Node: Central command"/>
          <p:cNvSpPr/>
          <p:nvPr/>
        </p:nvSpPr>
        <p:spPr>
          <a:xfrm>
            <a:off x="8229600" y="2148840"/>
            <a:ext cx="233172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override pending dispatch</a:t>
            </a:r>
          </a:p>
        </p:txBody>
      </p:sp>
      <p:sp>
        <p:nvSpPr>
          <p:cNvPr id="11" name="Node: Live Floor &amp; Analytics"/>
          <p:cNvSpPr/>
          <p:nvPr/>
        </p:nvSpPr>
        <p:spPr>
          <a:xfrm>
            <a:off x="8229600" y="3465576"/>
            <a:ext cx="233172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Live Floor &amp; Analytics</a:t>
            </a:r>
          </a:p>
          <a:p>
            <a:pPr algn="ctr"/>
            <a:r>
              <a:rPr sz="950" b="0">
                <a:solidFill>
                  <a:srgbClr val="5B6474"/>
                </a:solidFill>
                <a:latin typeface="Inter"/>
              </a:rPr>
              <a:t>UI, fixed snapshots</a:t>
            </a:r>
          </a:p>
        </p:txBody>
      </p:sp>
      <p:sp>
        <p:nvSpPr>
          <p:cNvPr id="12" name="Node: Resolution engine"/>
          <p:cNvSpPr/>
          <p:nvPr/>
        </p:nvSpPr>
        <p:spPr>
          <a:xfrm>
            <a:off x="8229600" y="4754880"/>
            <a:ext cx="233172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Resolution engine</a:t>
            </a:r>
          </a:p>
          <a:p>
            <a:pPr algn="ctr"/>
            <a:r>
              <a:rPr sz="950" b="0">
                <a:solidFill>
                  <a:srgbClr val="5B6474"/>
                </a:solidFill>
                <a:latin typeface="Inter"/>
              </a:rPr>
              <a:t>hidden skill → outcome</a:t>
            </a:r>
          </a:p>
        </p:txBody>
      </p:sp>
      <p:sp>
        <p:nvSpPr>
          <p:cNvPr id="13" name="Node: Context engine"/>
          <p:cNvSpPr/>
          <p:nvPr/>
        </p:nvSpPr>
        <p:spPr>
          <a:xfrm>
            <a:off x="5257800" y="47548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Context engine</a:t>
            </a:r>
          </a:p>
          <a:p>
            <a:pPr algn="ctr"/>
            <a:r>
              <a:rPr sz="950" b="0">
                <a:solidFill>
                  <a:srgbClr val="5B6474"/>
                </a:solidFill>
                <a:latin typeface="Inter"/>
              </a:rPr>
              <a:t>eligibility, travel, history</a:t>
            </a:r>
          </a:p>
        </p:txBody>
      </p:sp>
      <p:sp>
        <p:nvSpPr>
          <p:cNvPr id="14" name="Node: Compass"/>
          <p:cNvSpPr/>
          <p:nvPr/>
        </p:nvSpPr>
        <p:spPr>
          <a:xfrm>
            <a:off x="2834640" y="4434840"/>
            <a:ext cx="1874519"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Compass</a:t>
            </a:r>
          </a:p>
          <a:p>
            <a:pPr algn="ctr"/>
            <a:r>
              <a:rPr sz="950" b="0">
                <a:solidFill>
                  <a:srgbClr val="E6FFFF"/>
                </a:solidFill>
                <a:latin typeface="Inter"/>
              </a:rPr>
              <a:t>ranks responders, fixes</a:t>
            </a:r>
          </a:p>
        </p:txBody>
      </p:sp>
      <p:sp>
        <p:nvSpPr>
          <p:cNvPr id="15" name="Node: Baselines"/>
          <p:cNvSpPr/>
          <p:nvPr/>
        </p:nvSpPr>
        <p:spPr>
          <a:xfrm>
            <a:off x="2834640" y="548640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Baselines</a:t>
            </a:r>
          </a:p>
          <a:p>
            <a:pPr algn="ctr"/>
            <a:r>
              <a:rPr sz="950" b="0">
                <a:solidFill>
                  <a:srgbClr val="5B6474"/>
                </a:solidFill>
                <a:latin typeface="Inter"/>
              </a:rPr>
              <a:t>nearest + naive score</a:t>
            </a:r>
          </a:p>
        </p:txBody>
      </p:sp>
      <p:sp>
        <p:nvSpPr>
          <p:cNvPr id="16" name="Node: Dispatch"/>
          <p:cNvSpPr/>
          <p:nvPr/>
        </p:nvSpPr>
        <p:spPr>
          <a:xfrm>
            <a:off x="411480" y="493776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Dispatch</a:t>
            </a:r>
          </a:p>
          <a:p>
            <a:pPr algn="ctr"/>
            <a:r>
              <a:rPr sz="950" b="0">
                <a:solidFill>
                  <a:srgbClr val="5B6474"/>
                </a:solidFill>
                <a:latin typeface="Inter"/>
              </a:rPr>
              <a:t>ranked offer queue</a:t>
            </a:r>
          </a:p>
        </p:txBody>
      </p:sp>
      <p:sp>
        <p:nvSpPr>
          <p:cNvPr id="17" name="Node: Responders"/>
          <p:cNvSpPr/>
          <p:nvPr/>
        </p:nvSpPr>
        <p:spPr>
          <a:xfrm>
            <a:off x="411480" y="3840480"/>
            <a:ext cx="1874519"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Responders</a:t>
            </a:r>
          </a:p>
          <a:p>
            <a:pPr algn="ctr"/>
            <a:r>
              <a:rPr sz="950" b="0">
                <a:solidFill>
                  <a:srgbClr val="5B6474"/>
                </a:solidFill>
                <a:latin typeface="Inter"/>
              </a:rPr>
              <a:t>accept or reject</a:t>
            </a:r>
          </a:p>
        </p:txBody>
      </p:sp>
      <p:cxnSp>
        <p:nvCxnSpPr>
          <p:cNvPr id="18" name="Arrow: Simulation clock to Scheduler"/>
          <p:cNvCxnSpPr>
            <a:stCxn id="4" idx="2"/>
            <a:endCxn id="5" idx="0"/>
          </p:cNvCxnSpPr>
          <p:nvPr/>
        </p:nvCxnSpPr>
        <p:spPr>
          <a:xfrm flipH="1">
            <a:off x="1348739" y="2258568"/>
            <a:ext cx="0" cy="43891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Scheduler to Event planner"/>
          <p:cNvCxnSpPr>
            <a:stCxn id="5" idx="3"/>
            <a:endCxn id="6" idx="1"/>
          </p:cNvCxnSpPr>
          <p:nvPr/>
        </p:nvCxnSpPr>
        <p:spPr>
          <a:xfrm flipV="1">
            <a:off x="2285999" y="1929384"/>
            <a:ext cx="548641" cy="109728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Scheduler to Fallback planner"/>
          <p:cNvCxnSpPr>
            <a:stCxn id="5" idx="3"/>
            <a:endCxn id="7" idx="1"/>
          </p:cNvCxnSpPr>
          <p:nvPr/>
        </p:nvCxnSpPr>
        <p:spPr>
          <a:xfrm flipV="1">
            <a:off x="2285999" y="3026664"/>
            <a:ext cx="548641"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Event planner to Validator"/>
          <p:cNvCxnSpPr>
            <a:stCxn id="6" idx="3"/>
            <a:endCxn id="8" idx="1"/>
          </p:cNvCxnSpPr>
          <p:nvPr/>
        </p:nvCxnSpPr>
        <p:spPr>
          <a:xfrm>
            <a:off x="4709159" y="192938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Fallback planner to Validator"/>
          <p:cNvCxnSpPr>
            <a:stCxn id="7" idx="3"/>
            <a:endCxn id="8" idx="1"/>
          </p:cNvCxnSpPr>
          <p:nvPr/>
        </p:nvCxnSpPr>
        <p:spPr>
          <a:xfrm flipV="1">
            <a:off x="4709159" y="247802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Validator to Canonical state"/>
          <p:cNvCxnSpPr>
            <a:stCxn id="8" idx="2"/>
            <a:endCxn id="9" idx="0"/>
          </p:cNvCxnSpPr>
          <p:nvPr/>
        </p:nvCxnSpPr>
        <p:spPr>
          <a:xfrm>
            <a:off x="6195059" y="2807208"/>
            <a:ext cx="1" cy="5303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Central command to Canonical state"/>
          <p:cNvCxnSpPr>
            <a:stCxn id="10" idx="1"/>
            <a:endCxn id="9" idx="3"/>
          </p:cNvCxnSpPr>
          <p:nvPr/>
        </p:nvCxnSpPr>
        <p:spPr>
          <a:xfrm flipH="1">
            <a:off x="7360920" y="2478024"/>
            <a:ext cx="868680" cy="1293876"/>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Canonical state to Live Floor &amp; Analytics"/>
          <p:cNvCxnSpPr>
            <a:stCxn id="9" idx="3"/>
            <a:endCxn id="11" idx="1"/>
          </p:cNvCxnSpPr>
          <p:nvPr/>
        </p:nvCxnSpPr>
        <p:spPr>
          <a:xfrm>
            <a:off x="7360920" y="3771900"/>
            <a:ext cx="868680" cy="2286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Resolution engine to Canonical state"/>
          <p:cNvCxnSpPr>
            <a:stCxn id="12" idx="1"/>
            <a:endCxn id="9" idx="3"/>
          </p:cNvCxnSpPr>
          <p:nvPr/>
        </p:nvCxnSpPr>
        <p:spPr>
          <a:xfrm flipH="1" flipV="1">
            <a:off x="7360920" y="3771900"/>
            <a:ext cx="868680" cy="1312164"/>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Canonical state to Context engine"/>
          <p:cNvCxnSpPr>
            <a:stCxn id="9" idx="2"/>
            <a:endCxn id="13" idx="0"/>
          </p:cNvCxnSpPr>
          <p:nvPr/>
        </p:nvCxnSpPr>
        <p:spPr>
          <a:xfrm flipH="1">
            <a:off x="6195059" y="4206240"/>
            <a:ext cx="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Context engine to Compass"/>
          <p:cNvCxnSpPr>
            <a:stCxn id="13" idx="1"/>
            <a:endCxn id="14" idx="3"/>
          </p:cNvCxnSpPr>
          <p:nvPr/>
        </p:nvCxnSpPr>
        <p:spPr>
          <a:xfrm flipH="1" flipV="1">
            <a:off x="4709159" y="4764024"/>
            <a:ext cx="548641" cy="3200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Context engine to Baselines"/>
          <p:cNvCxnSpPr>
            <a:stCxn id="13" idx="1"/>
            <a:endCxn id="15" idx="3"/>
          </p:cNvCxnSpPr>
          <p:nvPr/>
        </p:nvCxnSpPr>
        <p:spPr>
          <a:xfrm flipH="1">
            <a:off x="4709159" y="5084064"/>
            <a:ext cx="548641" cy="7315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Compass to Dispatch"/>
          <p:cNvCxnSpPr>
            <a:stCxn id="14" idx="1"/>
            <a:endCxn id="16" idx="3"/>
          </p:cNvCxnSpPr>
          <p:nvPr/>
        </p:nvCxnSpPr>
        <p:spPr>
          <a:xfrm flipH="1">
            <a:off x="2285999" y="4764024"/>
            <a:ext cx="548641" cy="5029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Baselines to Dispatch"/>
          <p:cNvCxnSpPr>
            <a:stCxn id="15" idx="1"/>
            <a:endCxn id="16" idx="3"/>
          </p:cNvCxnSpPr>
          <p:nvPr/>
        </p:nvCxnSpPr>
        <p:spPr>
          <a:xfrm flipH="1" flipV="1">
            <a:off x="2285999" y="526694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Dispatch to Responders"/>
          <p:cNvCxnSpPr>
            <a:stCxn id="16" idx="0"/>
            <a:endCxn id="17" idx="2"/>
          </p:cNvCxnSpPr>
          <p:nvPr/>
        </p:nvCxnSpPr>
        <p:spPr>
          <a:xfrm flipH="1" flipV="1">
            <a:off x="1348739" y="4498848"/>
            <a:ext cx="0" cy="43891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Arrow: Responders to Canonical state"/>
          <p:cNvCxnSpPr>
            <a:stCxn id="17" idx="3"/>
            <a:endCxn id="9" idx="1"/>
          </p:cNvCxnSpPr>
          <p:nvPr/>
        </p:nvCxnSpPr>
        <p:spPr>
          <a:xfrm flipV="1">
            <a:off x="2285999" y="3771900"/>
            <a:ext cx="2743201" cy="397764"/>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229600" y="5760720"/>
            <a:ext cx="292608" cy="182880"/>
          </a:xfrm>
          <a:prstGeom prst="roundRect">
            <a:avLst/>
          </a:prstGeom>
          <a:solidFill>
            <a:srgbClr val="FFFFFF"/>
          </a:solidFill>
          <a:ln>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13648" y="5733288"/>
            <a:ext cx="2286000" cy="256032"/>
          </a:xfrm>
          <a:prstGeom prst="rect">
            <a:avLst/>
          </a:prstGeom>
          <a:noFill/>
        </p:spPr>
        <p:txBody>
          <a:bodyPr wrap="square" lIns="0" rIns="0" tIns="0" bIns="0">
            <a:spAutoFit/>
          </a:bodyPr>
          <a:lstStyle/>
          <a:p>
            <a:pPr algn="l"/>
            <a:r>
              <a:rPr sz="1100" b="0">
                <a:solidFill>
                  <a:srgbClr val="5B6474"/>
                </a:solidFill>
                <a:latin typeface="Inter"/>
              </a:rPr>
              <a:t>Application code</a:t>
            </a:r>
          </a:p>
        </p:txBody>
      </p:sp>
      <p:sp>
        <p:nvSpPr>
          <p:cNvPr id="36" name="Rounded Rectangle 35"/>
          <p:cNvSpPr/>
          <p:nvPr/>
        </p:nvSpPr>
        <p:spPr>
          <a:xfrm>
            <a:off x="8229600" y="6035040"/>
            <a:ext cx="292608" cy="182880"/>
          </a:xfrm>
          <a:prstGeom prst="roundRect">
            <a:avLst/>
          </a:prstGeom>
          <a:solidFill>
            <a:srgbClr val="0F8B8D"/>
          </a:solidFill>
          <a:ln>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13648" y="6007607"/>
            <a:ext cx="2286000" cy="256032"/>
          </a:xfrm>
          <a:prstGeom prst="rect">
            <a:avLst/>
          </a:prstGeom>
          <a:noFill/>
        </p:spPr>
        <p:txBody>
          <a:bodyPr wrap="square" lIns="0" rIns="0" tIns="0" bIns="0">
            <a:spAutoFit/>
          </a:bodyPr>
          <a:lstStyle/>
          <a:p>
            <a:pPr algn="l"/>
            <a:r>
              <a:rPr sz="1100" b="0">
                <a:solidFill>
                  <a:srgbClr val="5B6474"/>
                </a:solidFill>
                <a:latin typeface="Inter"/>
              </a:rPr>
              <a:t>AMD model</a:t>
            </a:r>
          </a:p>
        </p:txBody>
      </p:sp>
      <p:sp>
        <p:nvSpPr>
          <p:cNvPr id="38" name="Rounded Rectangle 37"/>
          <p:cNvSpPr/>
          <p:nvPr/>
        </p:nvSpPr>
        <p:spPr>
          <a:xfrm>
            <a:off x="8229600" y="6309359"/>
            <a:ext cx="292608" cy="182880"/>
          </a:xfrm>
          <a:prstGeom prst="roundRect">
            <a:avLst/>
          </a:prstGeom>
          <a:solidFill>
            <a:srgbClr val="FFFFFF"/>
          </a:solidFill>
          <a:ln>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13648" y="6281927"/>
            <a:ext cx="2286000" cy="256032"/>
          </a:xfrm>
          <a:prstGeom prst="rect">
            <a:avLst/>
          </a:prstGeom>
          <a:noFill/>
        </p:spPr>
        <p:txBody>
          <a:bodyPr wrap="square" lIns="0" rIns="0" tIns="0" bIns="0">
            <a:spAutoFit/>
          </a:bodyPr>
          <a:lstStyle/>
          <a:p>
            <a:pPr algn="l"/>
            <a:r>
              <a:rPr sz="1100" b="0">
                <a:solidFill>
                  <a:srgbClr val="5B6474"/>
                </a:solidFill>
                <a:latin typeface="Inter"/>
              </a:rPr>
              <a:t>People</a:t>
            </a:r>
          </a:p>
        </p:txBody>
      </p:sp>
      <p:sp>
        <p:nvSpPr>
          <p:cNvPr id="40" name="TextBox 39"/>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Honest by design</a:t>
            </a:r>
          </a:p>
        </p:txBody>
      </p:sp>
      <p:sp>
        <p:nvSpPr>
          <p:cNvPr id="3" name="TextBox 2"/>
          <p:cNvSpPr txBox="1"/>
          <p:nvPr/>
        </p:nvSpPr>
        <p:spPr>
          <a:xfrm>
            <a:off x="548640" y="1463040"/>
            <a:ext cx="11064240" cy="4754880"/>
          </a:xfrm>
          <a:prstGeom prst="rect">
            <a:avLst/>
          </a:prstGeom>
          <a:noFill/>
        </p:spPr>
        <p:txBody>
          <a:bodyPr wrap="square">
            <a:spAutoFit/>
          </a:bodyPr>
          <a:lstStyle/>
          <a:p>
            <a:pPr>
              <a:spcAft>
                <a:spcPts val="1600"/>
              </a:spcAft>
            </a:pPr>
            <a:r>
              <a:rPr sz="2000" b="1">
                <a:solidFill>
                  <a:srgbClr val="0F8B8D"/>
                </a:solidFill>
                <a:latin typeface="Inter"/>
              </a:rPr>
              <a:t>▸  </a:t>
            </a:r>
            <a:r>
              <a:rPr sz="2000" b="0">
                <a:solidFill>
                  <a:srgbClr val="1F2937"/>
                </a:solidFill>
                <a:latin typeface="Inter"/>
              </a:rPr>
              <a:t>Each responder's </a:t>
            </a:r>
            <a:r>
              <a:rPr sz="2000" b="1">
                <a:solidFill>
                  <a:srgbClr val="16213E"/>
                </a:solidFill>
                <a:latin typeface="Inter"/>
              </a:rPr>
              <a:t>true skill</a:t>
            </a:r>
            <a:r>
              <a:rPr sz="2000" b="0">
                <a:solidFill>
                  <a:srgbClr val="1F2937"/>
                </a:solidFill>
                <a:latin typeface="Inter"/>
              </a:rPr>
              <a:t> and each fault's </a:t>
            </a:r>
            <a:r>
              <a:rPr sz="2000" b="1">
                <a:solidFill>
                  <a:srgbClr val="16213E"/>
                </a:solidFill>
                <a:latin typeface="Inter"/>
              </a:rPr>
              <a:t>true cause</a:t>
            </a:r>
            <a:r>
              <a:rPr sz="2000" b="0">
                <a:solidFill>
                  <a:srgbClr val="1F2937"/>
                </a:solidFill>
                <a:latin typeface="Inter"/>
              </a:rPr>
              <a:t> are hidden simulation truth: no model, screen or analytics sees them.</a:t>
            </a:r>
          </a:p>
          <a:p>
            <a:pPr>
              <a:spcAft>
                <a:spcPts val="1600"/>
              </a:spcAft>
            </a:pPr>
            <a:r>
              <a:rPr sz="2000" b="1">
                <a:solidFill>
                  <a:srgbClr val="0F8B8D"/>
                </a:solidFill>
                <a:latin typeface="Inter"/>
              </a:rPr>
              <a:t>▸  </a:t>
            </a:r>
            <a:r>
              <a:rPr sz="2000" b="0">
                <a:solidFill>
                  <a:srgbClr val="1F2937"/>
                </a:solidFill>
                <a:latin typeface="Inter"/>
              </a:rPr>
              <a:t>Outcomes are simulated from that hidden truth, independently of what the model claims.</a:t>
            </a:r>
          </a:p>
          <a:p>
            <a:pPr>
              <a:spcAft>
                <a:spcPts val="1600"/>
              </a:spcAft>
            </a:pPr>
            <a:r>
              <a:rPr sz="2000" b="1">
                <a:solidFill>
                  <a:srgbClr val="0F8B8D"/>
                </a:solidFill>
                <a:latin typeface="Inter"/>
              </a:rPr>
              <a:t>▸  </a:t>
            </a:r>
            <a:r>
              <a:rPr sz="2000" b="0">
                <a:solidFill>
                  <a:srgbClr val="1F2937"/>
                </a:solidFill>
                <a:latin typeface="Inter"/>
              </a:rPr>
              <a:t>Transparent baselines run alongside (nearest, naive score, most common fix); disagreements are recorded.</a:t>
            </a:r>
          </a:p>
          <a:p>
            <a:pPr>
              <a:spcAft>
                <a:spcPts val="1600"/>
              </a:spcAft>
            </a:pPr>
            <a:r>
              <a:rPr sz="2000" b="1">
                <a:solidFill>
                  <a:srgbClr val="0F8B8D"/>
                </a:solidFill>
                <a:latin typeface="Inter"/>
              </a:rPr>
              <a:t>▸  </a:t>
            </a:r>
            <a:r>
              <a:rPr sz="2000" b="0">
                <a:solidFill>
                  <a:srgbClr val="1F2937"/>
                </a:solidFill>
                <a:latin typeface="Inter"/>
              </a:rPr>
              <a:t>Analytics show denominators, suppress thin samples and are not an employee leaderboard.</a:t>
            </a:r>
          </a:p>
          <a:p>
            <a:pPr>
              <a:spcAft>
                <a:spcPts val="1600"/>
              </a:spcAft>
            </a:pPr>
            <a:r>
              <a:rPr sz="2000" b="1">
                <a:solidFill>
                  <a:srgbClr val="0F8B8D"/>
                </a:solidFill>
                <a:latin typeface="Inter"/>
              </a:rPr>
              <a:t>▸  </a:t>
            </a:r>
            <a:r>
              <a:rPr sz="2000" b="0">
                <a:solidFill>
                  <a:srgbClr val="1F2937"/>
                </a:solidFill>
                <a:latin typeface="Inter"/>
              </a:rPr>
              <a:t>Excluded from ranking: pay, seniority, demographics, fatigue, HR data.</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right responder</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ISS-3618, Station 48 · captured live on AMD Token Factory (MiMo-V2.6-Flash)</a:t>
            </a:r>
          </a:p>
        </p:txBody>
      </p:sp>
      <p:sp>
        <p:nvSpPr>
          <p:cNvPr id="4" name="TextBox 3"/>
          <p:cNvSpPr txBox="1"/>
          <p:nvPr/>
        </p:nvSpPr>
        <p:spPr>
          <a:xfrm>
            <a:off x="548640" y="1600200"/>
            <a:ext cx="11064240" cy="2194560"/>
          </a:xfrm>
          <a:prstGeom prst="rect">
            <a:avLst/>
          </a:prstGeom>
          <a:noFill/>
        </p:spPr>
        <p:txBody>
          <a:bodyPr wrap="square">
            <a:spAutoFit/>
          </a:bodyPr>
          <a:lstStyle/>
          <a:p>
            <a:pPr>
              <a:spcAft>
                <a:spcPts val="1440"/>
              </a:spcAft>
            </a:pPr>
            <a:r>
              <a:rPr sz="1800" b="1">
                <a:solidFill>
                  <a:srgbClr val="0F8B8D"/>
                </a:solidFill>
                <a:latin typeface="Inter"/>
              </a:rPr>
              <a:t>▸  </a:t>
            </a:r>
            <a:r>
              <a:rPr sz="1800" b="0">
                <a:solidFill>
                  <a:srgbClr val="1F2937"/>
                </a:solidFill>
                <a:latin typeface="Inter"/>
              </a:rPr>
              <a:t>Nearest responder </a:t>
            </a:r>
            <a:r>
              <a:rPr sz="1800" b="1">
                <a:solidFill>
                  <a:srgbClr val="16213E"/>
                </a:solidFill>
                <a:latin typeface="Inter"/>
              </a:rPr>
              <a:t>Engr361</a:t>
            </a:r>
            <a:r>
              <a:rPr sz="1800" b="0">
                <a:solidFill>
                  <a:srgbClr val="1F2937"/>
                </a:solidFill>
                <a:latin typeface="Inter"/>
              </a:rPr>
              <a:t>: half a minute away, 26 similar cases.</a:t>
            </a:r>
          </a:p>
          <a:p>
            <a:pPr>
              <a:spcAft>
                <a:spcPts val="1440"/>
              </a:spcAft>
            </a:pPr>
            <a:r>
              <a:rPr sz="1800" b="1">
                <a:solidFill>
                  <a:srgbClr val="0F8B8D"/>
                </a:solidFill>
                <a:latin typeface="Inter"/>
              </a:rPr>
              <a:t>▸  </a:t>
            </a:r>
            <a:r>
              <a:rPr sz="1800" b="0">
                <a:solidFill>
                  <a:srgbClr val="1F2937"/>
                </a:solidFill>
                <a:latin typeface="Inter"/>
              </a:rPr>
              <a:t>Compass ranked </a:t>
            </a:r>
            <a:r>
              <a:rPr sz="1800" b="1">
                <a:solidFill>
                  <a:srgbClr val="16213E"/>
                </a:solidFill>
                <a:latin typeface="Inter"/>
              </a:rPr>
              <a:t>Engr370</a:t>
            </a:r>
            <a:r>
              <a:rPr sz="1800" b="0">
                <a:solidFill>
                  <a:srgbClr val="1F2937"/>
                </a:solidFill>
                <a:latin typeface="Inter"/>
              </a:rPr>
              <a:t> first: 110 similar cases, 87% observed success, the same half-minute away, and explained why.</a:t>
            </a:r>
          </a:p>
          <a:p>
            <a:pPr>
              <a:spcAft>
                <a:spcPts val="1440"/>
              </a:spcAft>
            </a:pPr>
            <a:r>
              <a:rPr sz="1800" b="1">
                <a:solidFill>
                  <a:srgbClr val="0F8B8D"/>
                </a:solidFill>
                <a:latin typeface="Inter"/>
              </a:rPr>
              <a:t>▸  </a:t>
            </a:r>
            <a:r>
              <a:rPr sz="1800" b="0">
                <a:solidFill>
                  <a:srgbClr val="1F2937"/>
                </a:solidFill>
                <a:latin typeface="Inter"/>
              </a:rPr>
              <a:t>Offer accepted automatically; central command could have overridden it at any time.</a:t>
            </a:r>
          </a:p>
        </p:txBody>
      </p:sp>
      <p:pic>
        <p:nvPicPr>
          <p:cNvPr id="5" name="Picture 4" descr="compass-record.png"/>
          <p:cNvPicPr>
            <a:picLocks noChangeAspect="1"/>
          </p:cNvPicPr>
          <p:nvPr/>
        </p:nvPicPr>
        <p:blipFill>
          <a:blip r:embed="rId2"/>
          <a:stretch>
            <a:fillRect/>
          </a:stretch>
        </p:blipFill>
        <p:spPr>
          <a:xfrm>
            <a:off x="548640" y="3977639"/>
            <a:ext cx="11064240" cy="2415692"/>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right fix</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Same record: Compass ranks the troubleshooting procedures for the observed symptom</a:t>
            </a:r>
          </a:p>
        </p:txBody>
      </p:sp>
      <p:sp>
        <p:nvSpPr>
          <p:cNvPr id="4" name="TextBox 3"/>
          <p:cNvSpPr txBox="1"/>
          <p:nvPr/>
        </p:nvSpPr>
        <p:spPr>
          <a:xfrm>
            <a:off x="548640" y="1600200"/>
            <a:ext cx="4206240" cy="4572000"/>
          </a:xfrm>
          <a:prstGeom prst="rect">
            <a:avLst/>
          </a:prstGeom>
          <a:noFill/>
        </p:spPr>
        <p:txBody>
          <a:bodyPr wrap="square">
            <a:spAutoFit/>
          </a:bodyPr>
          <a:lstStyle/>
          <a:p>
            <a:pPr>
              <a:spcAft>
                <a:spcPts val="1280"/>
              </a:spcAft>
            </a:pPr>
            <a:r>
              <a:rPr sz="1600" b="1">
                <a:solidFill>
                  <a:srgbClr val="0F8B8D"/>
                </a:solidFill>
                <a:latin typeface="Inter"/>
              </a:rPr>
              <a:t>▸  </a:t>
            </a:r>
            <a:r>
              <a:rPr sz="1600" b="0">
                <a:solidFill>
                  <a:srgbClr val="1F2937"/>
                </a:solidFill>
                <a:latin typeface="Inter"/>
              </a:rPr>
              <a:t>Code supplies the catalog procedures and their </a:t>
            </a:r>
            <a:r>
              <a:rPr sz="1600" b="1">
                <a:solidFill>
                  <a:srgbClr val="16213E"/>
                </a:solidFill>
                <a:latin typeface="Inter"/>
              </a:rPr>
              <a:t>observed</a:t>
            </a:r>
            <a:r>
              <a:rPr sz="1600" b="0">
                <a:solidFill>
                  <a:srgbClr val="1F2937"/>
                </a:solidFill>
                <a:latin typeface="Inter"/>
              </a:rPr>
              <a:t> success on this symptom, class and station.</a:t>
            </a:r>
          </a:p>
          <a:p>
            <a:pPr>
              <a:spcAft>
                <a:spcPts val="1280"/>
              </a:spcAft>
            </a:pPr>
            <a:r>
              <a:rPr sz="1600" b="1">
                <a:solidFill>
                  <a:srgbClr val="0F8B8D"/>
                </a:solidFill>
                <a:latin typeface="Inter"/>
              </a:rPr>
              <a:t>▸  </a:t>
            </a:r>
            <a:r>
              <a:rPr sz="1600" b="0">
                <a:solidFill>
                  <a:srgbClr val="1F2937"/>
                </a:solidFill>
                <a:latin typeface="Inter"/>
              </a:rPr>
              <a:t>Compass ranked </a:t>
            </a:r>
            <a:r>
              <a:rPr sz="1600" b="1">
                <a:solidFill>
                  <a:srgbClr val="16213E"/>
                </a:solidFill>
                <a:latin typeface="Inter"/>
              </a:rPr>
              <a:t>Correct mechanical alignment</a:t>
            </a:r>
            <a:r>
              <a:rPr sz="1600" b="0">
                <a:solidFill>
                  <a:srgbClr val="1F2937"/>
                </a:solidFill>
                <a:latin typeface="Inter"/>
              </a:rPr>
              <a:t> first; the most common fix is the baseline.</a:t>
            </a:r>
          </a:p>
          <a:p>
            <a:pPr>
              <a:spcAft>
                <a:spcPts val="1280"/>
              </a:spcAft>
            </a:pPr>
            <a:r>
              <a:rPr sz="1600" b="1">
                <a:solidFill>
                  <a:srgbClr val="0F8B8D"/>
                </a:solidFill>
                <a:latin typeface="Inter"/>
              </a:rPr>
              <a:t>▸  </a:t>
            </a:r>
            <a:r>
              <a:rPr sz="1600" b="0">
                <a:solidFill>
                  <a:srgbClr val="1F2937"/>
                </a:solidFill>
                <a:latin typeface="Inter"/>
              </a:rPr>
              <a:t>Engr370 applied it: fixed </a:t>
            </a:r>
            <a:r>
              <a:rPr sz="1600" b="1">
                <a:solidFill>
                  <a:srgbClr val="16213E"/>
                </a:solidFill>
                <a:latin typeface="Inter"/>
              </a:rPr>
              <a:t>first time in 7.0 min</a:t>
            </a:r>
            <a:r>
              <a:rPr sz="1600" b="0">
                <a:solidFill>
                  <a:srgbClr val="1F2937"/>
                </a:solidFill>
                <a:latin typeface="Inter"/>
              </a:rPr>
              <a:t>.</a:t>
            </a:r>
          </a:p>
          <a:p>
            <a:pPr>
              <a:spcAft>
                <a:spcPts val="1280"/>
              </a:spcAft>
            </a:pPr>
            <a:r>
              <a:rPr sz="1600" b="1">
                <a:solidFill>
                  <a:srgbClr val="0F8B8D"/>
                </a:solidFill>
                <a:latin typeface="Inter"/>
              </a:rPr>
              <a:t>▸  </a:t>
            </a:r>
            <a:r>
              <a:rPr sz="1600" b="0">
                <a:solidFill>
                  <a:srgbClr val="1F2937"/>
                </a:solidFill>
                <a:latin typeface="Inter"/>
              </a:rPr>
              <a:t>A failed attempt reopens the issue and the next procedure is tried.</a:t>
            </a:r>
          </a:p>
        </p:txBody>
      </p:sp>
      <p:pic>
        <p:nvPicPr>
          <p:cNvPr id="5" name="Picture 4" descr="fix-record.png"/>
          <p:cNvPicPr>
            <a:picLocks noChangeAspect="1"/>
          </p:cNvPicPr>
          <p:nvPr/>
        </p:nvPicPr>
        <p:blipFill>
          <a:blip r:embed="rId2"/>
          <a:stretch>
            <a:fillRect/>
          </a:stretch>
        </p:blipFill>
        <p:spPr>
          <a:xfrm>
            <a:off x="4983480" y="1600200"/>
            <a:ext cx="6812280" cy="2986049"/>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Overtime, decided by people</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Backlog review → lawful options → Compass ranking → central command approves or rejects</a:t>
            </a:r>
          </a:p>
        </p:txBody>
      </p:sp>
      <p:sp>
        <p:nvSpPr>
          <p:cNvPr id="4" name="TextBox 3"/>
          <p:cNvSpPr txBox="1"/>
          <p:nvPr/>
        </p:nvSpPr>
        <p:spPr>
          <a:xfrm>
            <a:off x="548640" y="1600200"/>
            <a:ext cx="4023360" cy="4754880"/>
          </a:xfrm>
          <a:prstGeom prst="rect">
            <a:avLst/>
          </a:prstGeom>
          <a:noFill/>
        </p:spPr>
        <p:txBody>
          <a:bodyPr wrap="square">
            <a:spAutoFit/>
          </a:bodyPr>
          <a:lstStyle/>
          <a:p>
            <a:pPr>
              <a:spcAft>
                <a:spcPts val="1280"/>
              </a:spcAft>
            </a:pPr>
            <a:r>
              <a:rPr sz="1600" b="1">
                <a:solidFill>
                  <a:srgbClr val="0F8B8D"/>
                </a:solidFill>
                <a:latin typeface="Inter"/>
              </a:rPr>
              <a:t>▸  </a:t>
            </a:r>
            <a:r>
              <a:rPr sz="1600" b="0">
                <a:solidFill>
                  <a:srgbClr val="1F2937"/>
                </a:solidFill>
                <a:latin typeface="Inter"/>
              </a:rPr>
              <a:t>When the backlog outgrows the shift, code lists only </a:t>
            </a:r>
            <a:r>
              <a:rPr sz="1600" b="1">
                <a:solidFill>
                  <a:srgbClr val="16213E"/>
                </a:solidFill>
                <a:latin typeface="Inter"/>
              </a:rPr>
              <a:t>legal</a:t>
            </a:r>
            <a:r>
              <a:rPr sz="1600" b="0">
                <a:solidFill>
                  <a:srgbClr val="1F2937"/>
                </a:solidFill>
                <a:latin typeface="Inter"/>
              </a:rPr>
              <a:t> options: 16 h duty, 12 h rest, staffing cap.</a:t>
            </a:r>
          </a:p>
          <a:p>
            <a:pPr>
              <a:spcAft>
                <a:spcPts val="1280"/>
              </a:spcAft>
            </a:pPr>
            <a:r>
              <a:rPr sz="1600" b="1">
                <a:solidFill>
                  <a:srgbClr val="0F8B8D"/>
                </a:solidFill>
                <a:latin typeface="Inter"/>
              </a:rPr>
              <a:t>▸  </a:t>
            </a:r>
            <a:r>
              <a:rPr sz="1600" b="0">
                <a:solidFill>
                  <a:srgbClr val="1F2937"/>
                </a:solidFill>
                <a:latin typeface="Inter"/>
              </a:rPr>
              <a:t>Compass ranks them by observed coverage of the backlog; the old first-eligible rule is the baseline.</a:t>
            </a:r>
          </a:p>
          <a:p>
            <a:pPr>
              <a:spcAft>
                <a:spcPts val="1280"/>
              </a:spcAft>
            </a:pPr>
            <a:r>
              <a:rPr sz="1600" b="1">
                <a:solidFill>
                  <a:srgbClr val="0F8B8D"/>
                </a:solidFill>
                <a:latin typeface="Inter"/>
              </a:rPr>
              <a:t>▸  </a:t>
            </a:r>
            <a:r>
              <a:rPr sz="1600" b="0">
                <a:solidFill>
                  <a:srgbClr val="1F2937"/>
                </a:solidFill>
                <a:latin typeface="Inter"/>
              </a:rPr>
              <a:t>Nothing changes until </a:t>
            </a:r>
            <a:r>
              <a:rPr sz="1600" b="1">
                <a:solidFill>
                  <a:srgbClr val="16213E"/>
                </a:solidFill>
                <a:latin typeface="Inter"/>
              </a:rPr>
              <a:t>central command</a:t>
            </a:r>
            <a:r>
              <a:rPr sz="1600" b="0">
                <a:solidFill>
                  <a:srgbClr val="1F2937"/>
                </a:solidFill>
                <a:latin typeface="Inter"/>
              </a:rPr>
              <a:t> approves; unanswered recommendations expire.</a:t>
            </a:r>
          </a:p>
          <a:p>
            <a:pPr>
              <a:spcAft>
                <a:spcPts val="1280"/>
              </a:spcAft>
            </a:pPr>
            <a:r>
              <a:rPr sz="1600" b="1">
                <a:solidFill>
                  <a:srgbClr val="0F8B8D"/>
                </a:solidFill>
                <a:latin typeface="Inter"/>
              </a:rPr>
              <a:t>▸  </a:t>
            </a:r>
            <a:r>
              <a:rPr sz="1600" b="0">
                <a:solidFill>
                  <a:srgbClr val="1F2937"/>
                </a:solidFill>
                <a:latin typeface="Inter"/>
              </a:rPr>
              <a:t>Every decision, and who made it, is audited.</a:t>
            </a:r>
          </a:p>
        </p:txBody>
      </p:sp>
      <p:pic>
        <p:nvPicPr>
          <p:cNvPr id="5" name="Picture 4" descr="staffing.png"/>
          <p:cNvPicPr>
            <a:picLocks noChangeAspect="1"/>
          </p:cNvPicPr>
          <p:nvPr/>
        </p:nvPicPr>
        <p:blipFill>
          <a:blip r:embed="rId2"/>
          <a:stretch>
            <a:fillRect/>
          </a:stretch>
        </p:blipFill>
        <p:spPr>
          <a:xfrm>
            <a:off x="4846320" y="1600200"/>
            <a:ext cx="6858000" cy="4252187"/>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Where the downtime comes from</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Issue Pareto: issue class → observed symptom → applied fix, or floor → station</a:t>
            </a:r>
          </a:p>
        </p:txBody>
      </p:sp>
      <p:pic>
        <p:nvPicPr>
          <p:cNvPr id="4" name="Picture 3" descr="screen-pareto.png"/>
          <p:cNvPicPr>
            <a:picLocks noChangeAspect="1"/>
          </p:cNvPicPr>
          <p:nvPr/>
        </p:nvPicPr>
        <p:blipFill>
          <a:blip r:embed="rId2"/>
          <a:stretch>
            <a:fillRect/>
          </a:stretch>
        </p:blipFill>
        <p:spPr>
          <a:xfrm>
            <a:off x="548640" y="1600200"/>
            <a:ext cx="7589520" cy="4269105"/>
          </a:xfrm>
          <a:prstGeom prst="rect">
            <a:avLst/>
          </a:prstGeom>
          <a:ln w="9525">
            <a:solidFill>
              <a:srgbClr val="C9CED8"/>
            </a:solidFill>
          </a:ln>
        </p:spPr>
      </p:pic>
      <p:sp>
        <p:nvSpPr>
          <p:cNvPr id="5" name="TextBox 4"/>
          <p:cNvSpPr txBox="1"/>
          <p:nvPr/>
        </p:nvSpPr>
        <p:spPr>
          <a:xfrm>
            <a:off x="8412480" y="1645920"/>
            <a:ext cx="3291840" cy="4572000"/>
          </a:xfrm>
          <a:prstGeom prst="rect">
            <a:avLst/>
          </a:prstGeom>
          <a:noFill/>
        </p:spPr>
        <p:txBody>
          <a:bodyPr wrap="square">
            <a:spAutoFit/>
          </a:bodyPr>
          <a:lstStyle/>
          <a:p>
            <a:pPr>
              <a:spcAft>
                <a:spcPts val="1200"/>
              </a:spcAft>
            </a:pPr>
            <a:r>
              <a:rPr sz="1500" b="1">
                <a:solidFill>
                  <a:srgbClr val="0F8B8D"/>
                </a:solidFill>
                <a:latin typeface="Inter"/>
              </a:rPr>
              <a:t>▸  </a:t>
            </a:r>
            <a:r>
              <a:rPr sz="1500" b="0">
                <a:solidFill>
                  <a:srgbClr val="1F2937"/>
                </a:solidFill>
                <a:latin typeface="Inter"/>
              </a:rPr>
              <a:t>Issues, downtime or failed attempts per day, week or month.</a:t>
            </a:r>
          </a:p>
          <a:p>
            <a:pPr>
              <a:spcAft>
                <a:spcPts val="1200"/>
              </a:spcAft>
            </a:pPr>
            <a:r>
              <a:rPr sz="1500" b="1">
                <a:solidFill>
                  <a:srgbClr val="0F8B8D"/>
                </a:solidFill>
                <a:latin typeface="Inter"/>
              </a:rPr>
              <a:t>▸  </a:t>
            </a:r>
            <a:r>
              <a:rPr sz="1500" b="0">
                <a:solidFill>
                  <a:srgbClr val="1F2937"/>
                </a:solidFill>
                <a:latin typeface="Inter"/>
              </a:rPr>
              <a:t>Sorted bars, cumulative line and an </a:t>
            </a:r>
            <a:r>
              <a:rPr sz="1500" b="1">
                <a:solidFill>
                  <a:srgbClr val="16213E"/>
                </a:solidFill>
                <a:latin typeface="Inter"/>
              </a:rPr>
              <a:t>80%</a:t>
            </a:r>
            <a:r>
              <a:rPr sz="1500" b="0">
                <a:solidFill>
                  <a:srgbClr val="1F2937"/>
                </a:solidFill>
                <a:latin typeface="Inter"/>
              </a:rPr>
              <a:t> marker, plus a donut.</a:t>
            </a:r>
          </a:p>
          <a:p>
            <a:pPr>
              <a:spcAft>
                <a:spcPts val="1200"/>
              </a:spcAft>
            </a:pPr>
            <a:r>
              <a:rPr sz="1500" b="1">
                <a:solidFill>
                  <a:srgbClr val="0F8B8D"/>
                </a:solidFill>
                <a:latin typeface="Inter"/>
              </a:rPr>
              <a:t>▸  </a:t>
            </a:r>
            <a:r>
              <a:rPr sz="1500" b="0">
                <a:solidFill>
                  <a:srgbClr val="1F2937"/>
                </a:solidFill>
                <a:latin typeface="Inter"/>
              </a:rPr>
              <a:t>Click to drill from class to symptom to the fix that was applied.</a:t>
            </a:r>
          </a:p>
          <a:p>
            <a:pPr>
              <a:spcAft>
                <a:spcPts val="1200"/>
              </a:spcAft>
            </a:pPr>
            <a:r>
              <a:rPr sz="1500" b="1">
                <a:solidFill>
                  <a:srgbClr val="0F8B8D"/>
                </a:solidFill>
                <a:latin typeface="Inter"/>
              </a:rPr>
              <a:t>▸  </a:t>
            </a:r>
            <a:r>
              <a:rPr sz="1500" b="0">
                <a:solidFill>
                  <a:srgbClr val="1F2937"/>
                </a:solidFill>
                <a:latin typeface="Inter"/>
              </a:rPr>
              <a:t>Built from public records only; hidden causes are never used.</a:t>
            </a:r>
          </a:p>
        </p:txBody>
      </p:sp>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A month of operations</a:t>
            </a:r>
          </a:p>
        </p:txBody>
      </p:sp>
      <p:sp>
        <p:nvSpPr>
          <p:cNvPr id="3" name="TextBox 2"/>
          <p:cNvSpPr txBox="1"/>
          <p:nvPr/>
        </p:nvSpPr>
        <p:spPr>
          <a:xfrm>
            <a:off x="548640" y="1463040"/>
            <a:ext cx="4846320" cy="4754880"/>
          </a:xfrm>
          <a:prstGeom prst="rect">
            <a:avLst/>
          </a:prstGeom>
          <a:noFill/>
        </p:spPr>
        <p:txBody>
          <a:bodyPr wrap="square">
            <a:spAutoFit/>
          </a:bodyPr>
          <a:lstStyle/>
          <a:p>
            <a:pPr>
              <a:spcAft>
                <a:spcPts val="1360"/>
              </a:spcAft>
            </a:pPr>
            <a:r>
              <a:rPr sz="1700" b="1">
                <a:solidFill>
                  <a:srgbClr val="0F8B8D"/>
                </a:solidFill>
                <a:latin typeface="Inter"/>
              </a:rPr>
              <a:t>▸  </a:t>
            </a:r>
            <a:r>
              <a:rPr sz="1700" b="0">
                <a:solidFill>
                  <a:srgbClr val="1F2937"/>
                </a:solidFill>
                <a:latin typeface="Inter"/>
              </a:rPr>
              <a:t>e8-aura-p1: </a:t>
            </a:r>
            <a:r>
              <a:rPr sz="1700" b="1">
                <a:solidFill>
                  <a:srgbClr val="16213E"/>
                </a:solidFill>
                <a:latin typeface="Inter"/>
              </a:rPr>
              <a:t>3,512 issues</a:t>
            </a:r>
            <a:r>
              <a:rPr sz="1700" b="0">
                <a:solidFill>
                  <a:srgbClr val="1F2937"/>
                </a:solidFill>
                <a:latin typeface="Inter"/>
              </a:rPr>
              <a:t>, 1 September to 6 October (simulated).</a:t>
            </a:r>
          </a:p>
          <a:p>
            <a:pPr>
              <a:spcAft>
                <a:spcPts val="1360"/>
              </a:spcAft>
            </a:pPr>
            <a:r>
              <a:rPr sz="1700" b="1">
                <a:solidFill>
                  <a:srgbClr val="0F8B8D"/>
                </a:solidFill>
                <a:latin typeface="Inter"/>
              </a:rPr>
              <a:t>▸  </a:t>
            </a:r>
            <a:r>
              <a:rPr sz="1700" b="0">
                <a:solidFill>
                  <a:srgbClr val="1F2937"/>
                </a:solidFill>
                <a:latin typeface="Inter"/>
              </a:rPr>
              <a:t>September: </a:t>
            </a:r>
            <a:r>
              <a:rPr sz="1700" b="1">
                <a:solidFill>
                  <a:srgbClr val="16213E"/>
                </a:solidFill>
                <a:latin typeface="Inter"/>
              </a:rPr>
              <a:t>2,966 raised / 2,985 resolved</a:t>
            </a:r>
            <a:r>
              <a:rPr sz="1700" b="0">
                <a:solidFill>
                  <a:srgbClr val="1F2937"/>
                </a:solidFill>
                <a:latin typeface="Inter"/>
              </a:rPr>
              <a:t> events.</a:t>
            </a:r>
          </a:p>
          <a:p>
            <a:pPr>
              <a:spcAft>
                <a:spcPts val="1360"/>
              </a:spcAft>
            </a:pPr>
            <a:r>
              <a:rPr sz="1700" b="1">
                <a:solidFill>
                  <a:srgbClr val="0F8B8D"/>
                </a:solidFill>
                <a:latin typeface="Inter"/>
              </a:rPr>
              <a:t>▸  </a:t>
            </a:r>
            <a:r>
              <a:rPr sz="1700" b="0">
                <a:solidFill>
                  <a:srgbClr val="1F2937"/>
                </a:solidFill>
                <a:latin typeface="Inter"/>
              </a:rPr>
              <a:t>First-time fix rate in September: </a:t>
            </a:r>
            <a:r>
              <a:rPr sz="1700" b="1">
                <a:solidFill>
                  <a:srgbClr val="16213E"/>
                </a:solidFill>
                <a:latin typeface="Inter"/>
              </a:rPr>
              <a:t>73.5%</a:t>
            </a:r>
            <a:r>
              <a:rPr sz="1700" b="0">
                <a:solidFill>
                  <a:srgbClr val="1F2937"/>
                </a:solidFill>
                <a:latin typeface="Inter"/>
              </a:rPr>
              <a:t> (1,858 of 2,527 first attempts).</a:t>
            </a:r>
          </a:p>
          <a:p>
            <a:pPr>
              <a:spcAft>
                <a:spcPts val="1360"/>
              </a:spcAft>
            </a:pPr>
            <a:r>
              <a:rPr sz="1700" b="1">
                <a:solidFill>
                  <a:srgbClr val="0F8B8D"/>
                </a:solidFill>
                <a:latin typeface="Inter"/>
              </a:rPr>
              <a:t>▸  </a:t>
            </a:r>
            <a:r>
              <a:rPr sz="1700" b="0">
                <a:solidFill>
                  <a:srgbClr val="1F2937"/>
                </a:solidFill>
                <a:latin typeface="Inter"/>
              </a:rPr>
              <a:t>Weekly first-time fix: 67.1%, 74.9%, 76.5%, 75.6%: not a steady climb.</a:t>
            </a:r>
          </a:p>
        </p:txBody>
      </p:sp>
      <p:pic>
        <p:nvPicPr>
          <p:cNvPr id="4" name="Picture 3" descr="analytics-month.png"/>
          <p:cNvPicPr>
            <a:picLocks noChangeAspect="1"/>
          </p:cNvPicPr>
          <p:nvPr/>
        </p:nvPicPr>
        <p:blipFill>
          <a:blip r:embed="rId2"/>
          <a:stretch>
            <a:fillRect/>
          </a:stretch>
        </p:blipFill>
        <p:spPr>
          <a:xfrm>
            <a:off x="5669280" y="1463040"/>
            <a:ext cx="6080760" cy="3527001"/>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Built on AMD Token Factory</a:t>
            </a:r>
          </a:p>
        </p:txBody>
      </p:sp>
      <p:sp>
        <p:nvSpPr>
          <p:cNvPr id="3" name="TextBox 2"/>
          <p:cNvSpPr txBox="1"/>
          <p:nvPr/>
        </p:nvSpPr>
        <p:spPr>
          <a:xfrm>
            <a:off x="548640" y="1463040"/>
            <a:ext cx="6766560" cy="4754880"/>
          </a:xfrm>
          <a:prstGeom prst="rect">
            <a:avLst/>
          </a:prstGeom>
          <a:noFill/>
        </p:spPr>
        <p:txBody>
          <a:bodyPr wrap="square">
            <a:spAutoFit/>
          </a:bodyPr>
          <a:lstStyle/>
          <a:p>
            <a:pPr>
              <a:spcAft>
                <a:spcPts val="1360"/>
              </a:spcAft>
            </a:pPr>
            <a:r>
              <a:rPr sz="1700" b="1">
                <a:solidFill>
                  <a:srgbClr val="0F8B8D"/>
                </a:solidFill>
                <a:latin typeface="Inter"/>
              </a:rPr>
              <a:t>▸  </a:t>
            </a:r>
            <a:r>
              <a:rPr sz="1700" b="0">
                <a:solidFill>
                  <a:srgbClr val="1F2937"/>
                </a:solidFill>
                <a:latin typeface="Inter"/>
              </a:rPr>
              <a:t>OpenAI-compatible API, JSON output; our validators are the contract.</a:t>
            </a:r>
          </a:p>
          <a:p>
            <a:pPr>
              <a:spcAft>
                <a:spcPts val="1360"/>
              </a:spcAft>
            </a:pPr>
            <a:r>
              <a:rPr sz="1700" b="1">
                <a:solidFill>
                  <a:srgbClr val="0F8B8D"/>
                </a:solidFill>
                <a:latin typeface="Inter"/>
              </a:rPr>
              <a:t>▸  </a:t>
            </a:r>
            <a:r>
              <a:rPr sz="1700" b="0">
                <a:solidFill>
                  <a:srgbClr val="1F2937"/>
                </a:solidFill>
                <a:latin typeface="Inter"/>
              </a:rPr>
              <a:t>Default model </a:t>
            </a:r>
            <a:r>
              <a:rPr sz="1700" b="1">
                <a:solidFill>
                  <a:srgbClr val="16213E"/>
                </a:solidFill>
                <a:latin typeface="Inter"/>
              </a:rPr>
              <a:t>MiMo-V2.6-Flash</a:t>
            </a:r>
            <a:r>
              <a:rPr sz="1700" b="0">
                <a:solidFill>
                  <a:srgbClr val="1F2937"/>
                </a:solidFill>
                <a:latin typeface="Inter"/>
              </a:rPr>
              <a:t> ranks responders, fixes and overtime; the event planner can use another model.</a:t>
            </a:r>
          </a:p>
          <a:p>
            <a:pPr>
              <a:spcAft>
                <a:spcPts val="1360"/>
              </a:spcAft>
            </a:pPr>
            <a:r>
              <a:rPr sz="1700" b="1">
                <a:solidFill>
                  <a:srgbClr val="0F8B8D"/>
                </a:solidFill>
                <a:latin typeface="Inter"/>
              </a:rPr>
              <a:t>▸  </a:t>
            </a:r>
            <a:r>
              <a:rPr sz="1700" b="0">
                <a:solidFill>
                  <a:srgbClr val="1F2937"/>
                </a:solidFill>
                <a:latin typeface="Inter"/>
              </a:rPr>
              <a:t>Local budget: 10 requests/min, 2 concurrent; bounded 429 retries; circuit breaker.</a:t>
            </a:r>
          </a:p>
          <a:p>
            <a:pPr>
              <a:spcAft>
                <a:spcPts val="1360"/>
              </a:spcAft>
            </a:pPr>
            <a:r>
              <a:rPr sz="1700" b="1">
                <a:solidFill>
                  <a:srgbClr val="0F8B8D"/>
                </a:solidFill>
                <a:latin typeface="Inter"/>
              </a:rPr>
              <a:t>▸  </a:t>
            </a:r>
            <a:r>
              <a:rPr sz="1700" b="0">
                <a:solidFill>
                  <a:srgbClr val="1F2937"/>
                </a:solidFill>
                <a:latin typeface="Inter"/>
              </a:rPr>
              <a:t>Recorded MiMo check: </a:t>
            </a:r>
            <a:r>
              <a:rPr sz="1700" b="1">
                <a:solidFill>
                  <a:srgbClr val="16213E"/>
                </a:solidFill>
                <a:latin typeface="Inter"/>
              </a:rPr>
              <a:t>9/10</a:t>
            </a:r>
            <a:r>
              <a:rPr sz="1700" b="0">
                <a:solidFill>
                  <a:srgbClr val="1F2937"/>
                </a:solidFill>
                <a:latin typeface="Inter"/>
              </a:rPr>
              <a:t> valid responder rankings, </a:t>
            </a:r>
            <a:r>
              <a:rPr sz="1700" b="1">
                <a:solidFill>
                  <a:srgbClr val="16213E"/>
                </a:solidFill>
                <a:latin typeface="Inter"/>
              </a:rPr>
              <a:t>10/10</a:t>
            </a:r>
            <a:r>
              <a:rPr sz="1700" b="0">
                <a:solidFill>
                  <a:srgbClr val="1F2937"/>
                </a:solidFill>
                <a:latin typeface="Inter"/>
              </a:rPr>
              <a:t> valid event plans.</a:t>
            </a:r>
          </a:p>
          <a:p>
            <a:pPr>
              <a:spcAft>
                <a:spcPts val="1360"/>
              </a:spcAft>
            </a:pPr>
            <a:r>
              <a:rPr sz="1700" b="1">
                <a:solidFill>
                  <a:srgbClr val="0F8B8D"/>
                </a:solidFill>
                <a:latin typeface="Inter"/>
              </a:rPr>
              <a:t>▸  </a:t>
            </a:r>
            <a:r>
              <a:rPr sz="1700" b="0">
                <a:solidFill>
                  <a:srgbClr val="1F2937"/>
                </a:solidFill>
                <a:latin typeface="Inter"/>
              </a:rPr>
              <a:t>Model calls run in a background lane and never hold the simulation clock.</a:t>
            </a:r>
          </a:p>
        </p:txBody>
      </p:sp>
      <p:pic>
        <p:nvPicPr>
          <p:cNvPr id="4" name="Picture 3" descr="settings-models.png"/>
          <p:cNvPicPr>
            <a:picLocks noChangeAspect="1"/>
          </p:cNvPicPr>
          <p:nvPr/>
        </p:nvPicPr>
        <p:blipFill>
          <a:blip r:embed="rId2"/>
          <a:stretch>
            <a:fillRect/>
          </a:stretch>
        </p:blipFill>
        <p:spPr>
          <a:xfrm>
            <a:off x="7818120" y="1371600"/>
            <a:ext cx="4248336" cy="4937760"/>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Engineering quality</a:t>
            </a:r>
          </a:p>
        </p:txBody>
      </p:sp>
      <p:sp>
        <p:nvSpPr>
          <p:cNvPr id="3" name="TextBox 2"/>
          <p:cNvSpPr txBox="1"/>
          <p:nvPr/>
        </p:nvSpPr>
        <p:spPr>
          <a:xfrm>
            <a:off x="548640" y="1463040"/>
            <a:ext cx="11064240" cy="4754880"/>
          </a:xfrm>
          <a:prstGeom prst="rect">
            <a:avLst/>
          </a:prstGeom>
          <a:noFill/>
        </p:spPr>
        <p:txBody>
          <a:bodyPr wrap="square">
            <a:spAutoFit/>
          </a:bodyPr>
          <a:lstStyle/>
          <a:p>
            <a:pPr>
              <a:spcAft>
                <a:spcPts val="1680"/>
              </a:spcAft>
            </a:pPr>
            <a:r>
              <a:rPr sz="2100" b="1">
                <a:solidFill>
                  <a:srgbClr val="0F8B8D"/>
                </a:solidFill>
                <a:latin typeface="Inter"/>
              </a:rPr>
              <a:t>▸  </a:t>
            </a:r>
            <a:r>
              <a:rPr sz="2100" b="0">
                <a:solidFill>
                  <a:srgbClr val="1F2937"/>
                </a:solidFill>
                <a:latin typeface="Inter"/>
              </a:rPr>
              <a:t>Live and Offline are one app; Offline makes no API calls and is fully reproducible.</a:t>
            </a:r>
          </a:p>
          <a:p>
            <a:pPr>
              <a:spcAft>
                <a:spcPts val="1680"/>
              </a:spcAft>
            </a:pPr>
            <a:r>
              <a:rPr sz="2100" b="1">
                <a:solidFill>
                  <a:srgbClr val="0F8B8D"/>
                </a:solidFill>
                <a:latin typeface="Inter"/>
              </a:rPr>
              <a:t>▸  </a:t>
            </a:r>
            <a:r>
              <a:rPr sz="2100" b="1">
                <a:solidFill>
                  <a:srgbClr val="16213E"/>
                </a:solidFill>
                <a:latin typeface="Inter"/>
              </a:rPr>
              <a:t>317</a:t>
            </a:r>
            <a:r>
              <a:rPr sz="2100" b="0">
                <a:solidFill>
                  <a:srgbClr val="1F2937"/>
                </a:solidFill>
                <a:latin typeface="Inter"/>
              </a:rPr>
              <a:t> hermetic unit and integration tests and </a:t>
            </a:r>
            <a:r>
              <a:rPr sz="2100" b="1">
                <a:solidFill>
                  <a:srgbClr val="16213E"/>
                </a:solidFill>
                <a:latin typeface="Inter"/>
              </a:rPr>
              <a:t>67</a:t>
            </a:r>
            <a:r>
              <a:rPr sz="2100" b="0">
                <a:solidFill>
                  <a:srgbClr val="1F2937"/>
                </a:solidFill>
                <a:latin typeface="Inter"/>
              </a:rPr>
              <a:t> Chromium end-to-end tests.</a:t>
            </a:r>
          </a:p>
          <a:p>
            <a:pPr>
              <a:spcAft>
                <a:spcPts val="1680"/>
              </a:spcAft>
            </a:pPr>
            <a:r>
              <a:rPr sz="2100" b="1">
                <a:solidFill>
                  <a:srgbClr val="0F8B8D"/>
                </a:solidFill>
                <a:latin typeface="Inter"/>
              </a:rPr>
              <a:t>▸  </a:t>
            </a:r>
            <a:r>
              <a:rPr sz="2100" b="0">
                <a:solidFill>
                  <a:srgbClr val="1F2937"/>
                </a:solidFill>
                <a:latin typeface="Inter"/>
              </a:rPr>
              <a:t>Deterministic seeded simulation; restart-safe scheduler; atomic, crash-safe persistence.</a:t>
            </a:r>
          </a:p>
          <a:p>
            <a:pPr>
              <a:spcAft>
                <a:spcPts val="1680"/>
              </a:spcAft>
            </a:pPr>
            <a:r>
              <a:rPr sz="2100" b="1">
                <a:solidFill>
                  <a:srgbClr val="0F8B8D"/>
                </a:solidFill>
                <a:latin typeface="Inter"/>
              </a:rPr>
              <a:t>▸  </a:t>
            </a:r>
            <a:r>
              <a:rPr sz="2100" b="0">
                <a:solidFill>
                  <a:srgbClr val="1F2937"/>
                </a:solidFill>
                <a:latin typeface="Inter"/>
              </a:rPr>
              <a:t>Runs on Node.js 22 or Docker; no external services besides the model API.</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What's next</a:t>
            </a:r>
          </a:p>
        </p:txBody>
      </p:sp>
      <p:sp>
        <p:nvSpPr>
          <p:cNvPr id="3" name="TextBox 2"/>
          <p:cNvSpPr txBox="1"/>
          <p:nvPr/>
        </p:nvSpPr>
        <p:spPr>
          <a:xfrm>
            <a:off x="548640" y="1463040"/>
            <a:ext cx="11064240" cy="3291840"/>
          </a:xfrm>
          <a:prstGeom prst="rect">
            <a:avLst/>
          </a:prstGeom>
          <a:noFill/>
        </p:spPr>
        <p:txBody>
          <a:bodyPr wrap="square">
            <a:spAutoFit/>
          </a:bodyPr>
          <a:lstStyle/>
          <a:p>
            <a:pPr>
              <a:spcAft>
                <a:spcPts val="1680"/>
              </a:spcAft>
            </a:pPr>
            <a:r>
              <a:rPr sz="2100" b="1">
                <a:solidFill>
                  <a:srgbClr val="0F8B8D"/>
                </a:solidFill>
                <a:latin typeface="Inter"/>
              </a:rPr>
              <a:t>▸  </a:t>
            </a:r>
            <a:r>
              <a:rPr sz="2100" b="0">
                <a:solidFill>
                  <a:srgbClr val="1F2937"/>
                </a:solidFill>
                <a:latin typeface="Inter"/>
              </a:rPr>
              <a:t>Connect to real maintenance, ticketing and rostering systems in place of the simulated floor.</a:t>
            </a:r>
          </a:p>
          <a:p>
            <a:pPr>
              <a:spcAft>
                <a:spcPts val="1680"/>
              </a:spcAft>
            </a:pPr>
            <a:r>
              <a:rPr sz="2100" b="1">
                <a:solidFill>
                  <a:srgbClr val="0F8B8D"/>
                </a:solidFill>
                <a:latin typeface="Inter"/>
              </a:rPr>
              <a:t>▸  </a:t>
            </a:r>
            <a:r>
              <a:rPr sz="2100" b="0">
                <a:solidFill>
                  <a:srgbClr val="1F2937"/>
                </a:solidFill>
                <a:latin typeface="Inter"/>
              </a:rPr>
              <a:t>Learn from approvals: feed operator decisions and repair outcomes back into the evidence.</a:t>
            </a:r>
          </a:p>
          <a:p>
            <a:pPr>
              <a:spcAft>
                <a:spcPts val="1680"/>
              </a:spcAft>
            </a:pPr>
            <a:r>
              <a:rPr sz="2100" b="1">
                <a:solidFill>
                  <a:srgbClr val="0F8B8D"/>
                </a:solidFill>
                <a:latin typeface="Inter"/>
              </a:rPr>
              <a:t>▸  </a:t>
            </a:r>
            <a:r>
              <a:rPr sz="2100" b="0">
                <a:solidFill>
                  <a:srgbClr val="1F2937"/>
                </a:solidFill>
                <a:latin typeface="Inter"/>
              </a:rPr>
              <a:t>Measure Compass against its baselines on live AMD rankings over a longer run.</a:t>
            </a:r>
          </a:p>
          <a:p>
            <a:pPr>
              <a:spcAft>
                <a:spcPts val="1680"/>
              </a:spcAft>
            </a:pPr>
            <a:r>
              <a:rPr sz="2100" b="1">
                <a:solidFill>
                  <a:srgbClr val="0F8B8D"/>
                </a:solidFill>
                <a:latin typeface="Inter"/>
              </a:rPr>
              <a:t>▸  </a:t>
            </a:r>
            <a:r>
              <a:rPr sz="2100" b="0">
                <a:solidFill>
                  <a:srgbClr val="1F2937"/>
                </a:solidFill>
                <a:latin typeface="Inter"/>
              </a:rPr>
              <a:t>Long-run storage: compact the remaining growing history for year-long runs.</a:t>
            </a:r>
          </a:p>
        </p:txBody>
      </p:sp>
      <p:sp>
        <p:nvSpPr>
          <p:cNvPr id="4" name="Rectangle 3"/>
          <p:cNvSpPr/>
          <p:nvPr/>
        </p:nvSpPr>
        <p:spPr>
          <a:xfrm>
            <a:off x="548640" y="5074920"/>
            <a:ext cx="11064240" cy="1005840"/>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230368"/>
            <a:ext cx="10515600" cy="731520"/>
          </a:xfrm>
          <a:prstGeom prst="rect">
            <a:avLst/>
          </a:prstGeom>
          <a:noFill/>
        </p:spPr>
        <p:txBody>
          <a:bodyPr wrap="square" lIns="0" rIns="0" tIns="0" bIns="0">
            <a:spAutoFit/>
          </a:bodyPr>
          <a:lstStyle/>
          <a:p>
            <a:pPr algn="ctr"/>
            <a:r>
              <a:rPr sz="3000" b="1">
                <a:solidFill>
                  <a:srgbClr val="FFFFFF"/>
                </a:solidFill>
                <a:latin typeface="Inter"/>
              </a:rPr>
              <a:t>The right responder. The right fix.</a:t>
            </a:r>
          </a:p>
        </p:txBody>
      </p:sp>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