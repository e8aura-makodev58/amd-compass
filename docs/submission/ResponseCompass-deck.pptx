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is a dispatch agent for operations control rooms, built on AMD Token Factory. It runs dispatch on its own and the control room supervises it: Compass ranks who to send and which fix to try first, from the plant's own repair history, and people approve or override the decisions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Proximity is easy to compute and easy to defend, but it ignores fit. What matters is who is likely to resolve this class of issue on the first attempt, with which procedure, and whether the shift can cover the backlog.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 room puts the floor map, the issue queue, the dispatch context, the event feed, the Issue Pareto and analytics on separate monitors (/rooms/&lt;room&gt;/display/&lt;screen&gt;). The screens update live from the same state. The operator console, with override and approval controls, is the seventh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Issues are dispatched without anyone touching the console: Compass ranks the eligible responders, an offer goes out, the responder accepts, Compass ranks the troubleshooting procedures, and the repair outcome feeds the history that every later ranking uses. Central command can override, transfer or add support at any time. Before each shift handover a backlog review asks Compass to rank lawful overtime options; central command approves or rejects them, and nothing changes without that decision.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ranker receives application-owned evidence and ranks only the eligible candidates, fixes or overtime options it is given. The planner proposes synthetic incidents; code validates every proposal and owns all mutations. If a model is slow, rate-limited or returns invalid output, the deterministic fallback takes over, so dispatch continues.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wanted the system to be able to show Compass being wrong as well as right. Hidden truth plus baselines make its choices inspectable. Disagreement alone does not prove better outcomes.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Captured live on 2026-10-18 (simulated 6 October). The nearest-responder baseline chose Engr361; Compass ranked Engr370 first. One good outcome is not proof of better performance; disagreements with the baselines are recorded for review. In this capture 15 of 18 live responder rankings returned valid output; the rest fell back deterministically.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true fault cause is hidden simulation truth, like responder skill: the model sees only the public symptom and observed outcomes. Compass agreed with the most-common-fix baseline here. In this capture 12 of 15 live fix rankings were valid AMD results. A live check also found and fixed a defect: the fix ranking never reached the provider until that check.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capture: staffing-7 was ranked by MiMo on AMD Token Factory and approved by central command in the recording. A live check found that approving went stale whenever the top option had picked up a job in the meantime; extensions now depend only on duty and rest limits. Rooms can opt into an audited auto-approve policy; the default is operator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Pareto answers the supervisor's first question: which few problems cost us most of the time. In September two of three issue classes accounted for 80% of issues; drilling into a symptom shows which procedures failed most often. It describes recorded work; it does not rank people or claim causation.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history was generated with the app's own engine, offline and deterministically, so every record is one the app itself would produce. The month extension used deterministic fallbacks, so it is not an AMD-only benchmark or a controlled comparison of model and baseline outcomes. Weekly rates use Monday 08:00 UTC boundaries; they rose then dipped, and we report them as measured.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several Token Factory models on the same scenario and chose the default per role from the data. These are small-sample validity results, not outcome accuracy or uptime guarantees. Retries: at most two, only on HTTP 429. Five consecutive service failures open the breaker; one probe after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matters is tested without spending API credits; the browser tests force provider failures to prove the fallbacks. A live check on AMD found and fixed one defect the hermetic tests could not: the fix ranking never reached the provider. Runs on Node.js 22 or Docker, with no services besides the model API.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Responder ranking, fix ranking, overtime recommendations and the control-room screens are built. Next is real integration and a longer live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AMDResponseCompas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sponseCompassWall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5486400" cy="274320"/>
          </a:xfrm>
          <a:prstGeom prst="rect">
            <a:avLst/>
          </a:prstGeom>
          <a:noFill/>
        </p:spPr>
        <p:txBody>
          <a:bodyPr wrap="square" lIns="0" rIns="0" tIns="0" bIns="0">
            <a:spAutoFit/>
          </a:bodyPr>
          <a:lstStyle/>
          <a:p>
            <a:pPr algn="l"/>
            <a:r>
              <a:rPr sz="1200" b="1" spc="150">
                <a:solidFill>
                  <a:srgbClr val="4F46E5"/>
                </a:solidFill>
                <a:latin typeface="Inter"/>
              </a:rPr>
              <a:t>THE PROBLEM</a:t>
            </a:r>
          </a:p>
        </p:txBody>
      </p:sp>
      <p:sp>
        <p:nvSpPr>
          <p:cNvPr id="4" name="TextBox 3"/>
          <p:cNvSpPr txBox="1"/>
          <p:nvPr/>
        </p:nvSpPr>
        <p:spPr>
          <a:xfrm>
            <a:off x="548640" y="676656"/>
            <a:ext cx="5486400" cy="566928"/>
          </a:xfrm>
          <a:prstGeom prst="rect">
            <a:avLst/>
          </a:prstGeom>
          <a:noFill/>
        </p:spPr>
        <p:txBody>
          <a:bodyPr wrap="square" lIns="0" rIns="0" tIns="0" bIns="0">
            <a:spAutoFit/>
          </a:bodyPr>
          <a:lstStyle/>
          <a:p>
            <a:pPr algn="l"/>
            <a:r>
              <a:rPr sz="3200" b="1">
                <a:solidFill>
                  <a:srgbClr val="111827"/>
                </a:solidFill>
                <a:latin typeface="Inter"/>
              </a:rPr>
              <a:t>Closest is not best</a:t>
            </a:r>
          </a:p>
        </p:txBody>
      </p:sp>
      <p:sp>
        <p:nvSpPr>
          <p:cNvPr id="5" name="Oval 4"/>
          <p:cNvSpPr/>
          <p:nvPr/>
        </p:nvSpPr>
        <p:spPr>
          <a:xfrm>
            <a:off x="548640" y="16916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0354"/>
            <a:ext cx="457200" cy="457200"/>
          </a:xfrm>
          <a:prstGeom prst="rect">
            <a:avLst/>
          </a:prstGeom>
          <a:noFill/>
        </p:spPr>
        <p:txBody>
          <a:bodyPr wrap="square" lIns="0" rIns="0" tIns="0" bIns="0">
            <a:spAutoFit/>
          </a:bodyPr>
          <a:lstStyle/>
          <a:p>
            <a:pPr algn="ctr"/>
            <a:r>
              <a:rPr sz="1300" b="1">
                <a:solidFill>
                  <a:srgbClr val="FFFFFF"/>
                </a:solidFill>
                <a:latin typeface="Inter"/>
              </a:rPr>
              <a:t>01</a:t>
            </a:r>
          </a:p>
        </p:txBody>
      </p:sp>
      <p:sp>
        <p:nvSpPr>
          <p:cNvPr id="7" name="TextBox 6"/>
          <p:cNvSpPr txBox="1"/>
          <p:nvPr/>
        </p:nvSpPr>
        <p:spPr>
          <a:xfrm>
            <a:off x="1207007" y="1746504"/>
            <a:ext cx="4736592" cy="457200"/>
          </a:xfrm>
          <a:prstGeom prst="rect">
            <a:avLst/>
          </a:prstGeom>
          <a:noFill/>
        </p:spPr>
        <p:txBody>
          <a:bodyPr wrap="square" lIns="0" rIns="0" tIns="0" bIns="0">
            <a:spAutoFit/>
          </a:bodyPr>
          <a:lstStyle/>
          <a:p>
            <a:pPr algn="l"/>
            <a:r>
              <a:rPr sz="1700" b="1">
                <a:solidFill>
                  <a:srgbClr val="111827"/>
                </a:solidFill>
                <a:latin typeface="Inter"/>
              </a:rPr>
              <a:t>Nearest is not most experienced.</a:t>
            </a:r>
          </a:p>
        </p:txBody>
      </p:sp>
      <p:sp>
        <p:nvSpPr>
          <p:cNvPr id="8" name="TextBox 7"/>
          <p:cNvSpPr txBox="1"/>
          <p:nvPr/>
        </p:nvSpPr>
        <p:spPr>
          <a:xfrm>
            <a:off x="1207007" y="2080895"/>
            <a:ext cx="4736592" cy="457200"/>
          </a:xfrm>
          <a:prstGeom prst="rect">
            <a:avLst/>
          </a:prstGeom>
          <a:noFill/>
        </p:spPr>
        <p:txBody>
          <a:bodyPr wrap="square" lIns="0" rIns="0" tIns="0" bIns="0">
            <a:spAutoFit/>
          </a:bodyPr>
          <a:lstStyle/>
          <a:p>
            <a:pPr algn="l"/>
            <a:r>
              <a:rPr sz="1400" b="0">
                <a:solidFill>
                  <a:srgbClr val="475467"/>
                </a:solidFill>
                <a:latin typeface="Inter"/>
              </a:rPr>
              <a:t>The closest technician may never have fixed this fault.</a:t>
            </a:r>
          </a:p>
        </p:txBody>
      </p:sp>
      <p:sp>
        <p:nvSpPr>
          <p:cNvPr id="9" name="Oval 8"/>
          <p:cNvSpPr/>
          <p:nvPr/>
        </p:nvSpPr>
        <p:spPr>
          <a:xfrm>
            <a:off x="548640" y="278892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17634"/>
            <a:ext cx="457200" cy="457200"/>
          </a:xfrm>
          <a:prstGeom prst="rect">
            <a:avLst/>
          </a:prstGeom>
          <a:noFill/>
        </p:spPr>
        <p:txBody>
          <a:bodyPr wrap="square" lIns="0" rIns="0" tIns="0" bIns="0">
            <a:spAutoFit/>
          </a:bodyPr>
          <a:lstStyle/>
          <a:p>
            <a:pPr algn="ctr"/>
            <a:r>
              <a:rPr sz="1300" b="1">
                <a:solidFill>
                  <a:srgbClr val="FFFFFF"/>
                </a:solidFill>
                <a:latin typeface="Inter"/>
              </a:rPr>
              <a:t>02</a:t>
            </a:r>
          </a:p>
        </p:txBody>
      </p:sp>
      <p:sp>
        <p:nvSpPr>
          <p:cNvPr id="11" name="TextBox 10"/>
          <p:cNvSpPr txBox="1"/>
          <p:nvPr/>
        </p:nvSpPr>
        <p:spPr>
          <a:xfrm>
            <a:off x="1207007" y="2843784"/>
            <a:ext cx="4736592" cy="457200"/>
          </a:xfrm>
          <a:prstGeom prst="rect">
            <a:avLst/>
          </a:prstGeom>
          <a:noFill/>
        </p:spPr>
        <p:txBody>
          <a:bodyPr wrap="square" lIns="0" rIns="0" tIns="0" bIns="0">
            <a:spAutoFit/>
          </a:bodyPr>
          <a:lstStyle/>
          <a:p>
            <a:pPr algn="l"/>
            <a:r>
              <a:rPr sz="1700" b="1">
                <a:solidFill>
                  <a:srgbClr val="111827"/>
                </a:solidFill>
                <a:latin typeface="Inter"/>
              </a:rPr>
              <a:t>The first fix is often a guess.</a:t>
            </a:r>
          </a:p>
        </p:txBody>
      </p:sp>
      <p:sp>
        <p:nvSpPr>
          <p:cNvPr id="12" name="TextBox 11"/>
          <p:cNvSpPr txBox="1"/>
          <p:nvPr/>
        </p:nvSpPr>
        <p:spPr>
          <a:xfrm>
            <a:off x="1207007" y="3178175"/>
            <a:ext cx="4736592" cy="457200"/>
          </a:xfrm>
          <a:prstGeom prst="rect">
            <a:avLst/>
          </a:prstGeom>
          <a:noFill/>
        </p:spPr>
        <p:txBody>
          <a:bodyPr wrap="square" lIns="0" rIns="0" tIns="0" bIns="0">
            <a:spAutoFit/>
          </a:bodyPr>
          <a:lstStyle/>
          <a:p>
            <a:pPr algn="l"/>
            <a:r>
              <a:rPr sz="1400" b="0">
                <a:solidFill>
                  <a:srgbClr val="475467"/>
                </a:solidFill>
                <a:latin typeface="Inter"/>
              </a:rPr>
              <a:t>A wrong guess means a reopened issue and another trip.</a:t>
            </a:r>
          </a:p>
        </p:txBody>
      </p:sp>
      <p:sp>
        <p:nvSpPr>
          <p:cNvPr id="13" name="Oval 12"/>
          <p:cNvSpPr/>
          <p:nvPr/>
        </p:nvSpPr>
        <p:spPr>
          <a:xfrm>
            <a:off x="548640" y="388620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14914"/>
            <a:ext cx="457200" cy="457200"/>
          </a:xfrm>
          <a:prstGeom prst="rect">
            <a:avLst/>
          </a:prstGeom>
          <a:noFill/>
        </p:spPr>
        <p:txBody>
          <a:bodyPr wrap="square" lIns="0" rIns="0" tIns="0" bIns="0">
            <a:spAutoFit/>
          </a:bodyPr>
          <a:lstStyle/>
          <a:p>
            <a:pPr algn="ctr"/>
            <a:r>
              <a:rPr sz="1300" b="1">
                <a:solidFill>
                  <a:srgbClr val="FFFFFF"/>
                </a:solidFill>
                <a:latin typeface="Inter"/>
              </a:rPr>
              <a:t>03</a:t>
            </a:r>
          </a:p>
        </p:txBody>
      </p:sp>
      <p:sp>
        <p:nvSpPr>
          <p:cNvPr id="15" name="TextBox 14"/>
          <p:cNvSpPr txBox="1"/>
          <p:nvPr/>
        </p:nvSpPr>
        <p:spPr>
          <a:xfrm>
            <a:off x="1207007" y="3941063"/>
            <a:ext cx="4736592" cy="457200"/>
          </a:xfrm>
          <a:prstGeom prst="rect">
            <a:avLst/>
          </a:prstGeom>
          <a:noFill/>
        </p:spPr>
        <p:txBody>
          <a:bodyPr wrap="square" lIns="0" rIns="0" tIns="0" bIns="0">
            <a:spAutoFit/>
          </a:bodyPr>
          <a:lstStyle/>
          <a:p>
            <a:pPr algn="l"/>
            <a:r>
              <a:rPr sz="1700" b="1">
                <a:solidFill>
                  <a:srgbClr val="111827"/>
                </a:solidFill>
                <a:latin typeface="Inter"/>
              </a:rPr>
              <a:t>Backlogs force overtime calls.</a:t>
            </a:r>
          </a:p>
        </p:txBody>
      </p:sp>
      <p:sp>
        <p:nvSpPr>
          <p:cNvPr id="16" name="TextBox 15"/>
          <p:cNvSpPr txBox="1"/>
          <p:nvPr/>
        </p:nvSpPr>
        <p:spPr>
          <a:xfrm>
            <a:off x="1207007" y="4275454"/>
            <a:ext cx="4736592" cy="457200"/>
          </a:xfrm>
          <a:prstGeom prst="rect">
            <a:avLst/>
          </a:prstGeom>
          <a:noFill/>
        </p:spPr>
        <p:txBody>
          <a:bodyPr wrap="square" lIns="0" rIns="0" tIns="0" bIns="0">
            <a:spAutoFit/>
          </a:bodyPr>
          <a:lstStyle/>
          <a:p>
            <a:pPr algn="l"/>
            <a:r>
              <a:rPr sz="1400" b="0">
                <a:solidFill>
                  <a:srgbClr val="475467"/>
                </a:solidFill>
                <a:latin typeface="Inter"/>
              </a:rPr>
              <a:t>Who may legally stay on, and who covers the most work?</a:t>
            </a:r>
          </a:p>
        </p:txBody>
      </p:sp>
      <p:sp>
        <p:nvSpPr>
          <p:cNvPr id="17" name="Oval 16"/>
          <p:cNvSpPr/>
          <p:nvPr/>
        </p:nvSpPr>
        <p:spPr>
          <a:xfrm>
            <a:off x="548640" y="4983479"/>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112194"/>
            <a:ext cx="457200" cy="457200"/>
          </a:xfrm>
          <a:prstGeom prst="rect">
            <a:avLst/>
          </a:prstGeom>
          <a:noFill/>
        </p:spPr>
        <p:txBody>
          <a:bodyPr wrap="square" lIns="0" rIns="0" tIns="0" bIns="0">
            <a:spAutoFit/>
          </a:bodyPr>
          <a:lstStyle/>
          <a:p>
            <a:pPr algn="ctr"/>
            <a:r>
              <a:rPr sz="1300" b="1">
                <a:solidFill>
                  <a:srgbClr val="FFFFFF"/>
                </a:solidFill>
                <a:latin typeface="Inter"/>
              </a:rPr>
              <a:t>04</a:t>
            </a:r>
          </a:p>
        </p:txBody>
      </p:sp>
      <p:sp>
        <p:nvSpPr>
          <p:cNvPr id="19" name="TextBox 18"/>
          <p:cNvSpPr txBox="1"/>
          <p:nvPr/>
        </p:nvSpPr>
        <p:spPr>
          <a:xfrm>
            <a:off x="1207007" y="5038343"/>
            <a:ext cx="4736592" cy="457200"/>
          </a:xfrm>
          <a:prstGeom prst="rect">
            <a:avLst/>
          </a:prstGeom>
          <a:noFill/>
        </p:spPr>
        <p:txBody>
          <a:bodyPr wrap="square" lIns="0" rIns="0" tIns="0" bIns="0">
            <a:spAutoFit/>
          </a:bodyPr>
          <a:lstStyle/>
          <a:p>
            <a:pPr algn="l"/>
            <a:r>
              <a:rPr sz="1700" b="1">
                <a:solidFill>
                  <a:srgbClr val="111827"/>
                </a:solidFill>
                <a:latin typeface="Inter"/>
              </a:rPr>
              <a:t>Know-how is locked away.</a:t>
            </a:r>
          </a:p>
        </p:txBody>
      </p:sp>
      <p:sp>
        <p:nvSpPr>
          <p:cNvPr id="20" name="TextBox 19"/>
          <p:cNvSpPr txBox="1"/>
          <p:nvPr/>
        </p:nvSpPr>
        <p:spPr>
          <a:xfrm>
            <a:off x="1207007" y="5372734"/>
            <a:ext cx="4736592" cy="457200"/>
          </a:xfrm>
          <a:prstGeom prst="rect">
            <a:avLst/>
          </a:prstGeom>
          <a:noFill/>
        </p:spPr>
        <p:txBody>
          <a:bodyPr wrap="square" lIns="0" rIns="0" tIns="0" bIns="0">
            <a:spAutoFit/>
          </a:bodyPr>
          <a:lstStyle/>
          <a:p>
            <a:pPr algn="l"/>
            <a:r>
              <a:rPr sz="1400" b="0">
                <a:solidFill>
                  <a:srgbClr val="475467"/>
                </a:solidFill>
                <a:latin typeface="Inter"/>
              </a:rPr>
              <a:t>It lives in people's heads and old tickets, not in dispatch.</a:t>
            </a:r>
          </a:p>
        </p:txBody>
      </p:sp>
      <p:sp>
        <p:nvSpPr>
          <p:cNvPr id="21" name="TextBox 20"/>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CONTROL ROOM</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One agent, many screens</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Each panel runs full screen on its own monitor; the operator console keeps the controls.</a:t>
            </a:r>
          </a:p>
        </p:txBody>
      </p:sp>
      <p:sp>
        <p:nvSpPr>
          <p:cNvPr id="6" name="Rounded Rectangle 5"/>
          <p:cNvSpPr/>
          <p:nvPr/>
        </p:nvSpPr>
        <p:spPr>
          <a:xfrm>
            <a:off x="475488" y="1755648"/>
            <a:ext cx="3575304" cy="2075116"/>
          </a:xfrm>
          <a:prstGeom prst="roundRect">
            <a:avLst>
              <a:gd name="adj" fmla="val 4406"/>
            </a:avLst>
          </a:prstGeom>
          <a:solidFill>
            <a:srgbClr val="1E1B4B"/>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map.png"/>
          <p:cNvPicPr>
            <a:picLocks noChangeAspect="1"/>
          </p:cNvPicPr>
          <p:nvPr/>
        </p:nvPicPr>
        <p:blipFill>
          <a:blip r:embed="rId3"/>
          <a:stretch>
            <a:fillRect/>
          </a:stretch>
        </p:blipFill>
        <p:spPr>
          <a:xfrm>
            <a:off x="548640" y="1828800"/>
            <a:ext cx="3429000" cy="1928812"/>
          </a:xfrm>
          <a:prstGeom prst="roundRect">
            <a:avLst>
              <a:gd name="adj" fmla="val 1896"/>
            </a:avLst>
          </a:prstGeom>
          <a:ln w="9525">
            <a:solidFill>
              <a:srgbClr val="D0D5DD"/>
            </a:solidFill>
          </a:ln>
          <a:effectLst>
            <a:outerShdw blurRad="203200" dist="38100" dir="5400000" algn="t" rotWithShape="0">
              <a:srgbClr val="1E1B4B">
                <a:alpha val="13000"/>
              </a:srgbClr>
            </a:outerShdw>
          </a:effectLst>
        </p:spPr>
      </p:pic>
      <p:sp>
        <p:nvSpPr>
          <p:cNvPr id="8" name="Rounded Rectangle 7"/>
          <p:cNvSpPr/>
          <p:nvPr/>
        </p:nvSpPr>
        <p:spPr>
          <a:xfrm>
            <a:off x="2724911" y="3373564"/>
            <a:ext cx="1143000" cy="274320"/>
          </a:xfrm>
          <a:prstGeom prst="roundRect">
            <a:avLst>
              <a:gd name="adj" fmla="val 50000"/>
            </a:avLst>
          </a:prstGeom>
          <a:solidFill>
            <a:srgbClr val="1E1B4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24911" y="3419284"/>
            <a:ext cx="1143000" cy="228600"/>
          </a:xfrm>
          <a:prstGeom prst="rect">
            <a:avLst/>
          </a:prstGeom>
          <a:noFill/>
        </p:spPr>
        <p:txBody>
          <a:bodyPr wrap="square" lIns="0" rIns="0" tIns="0" bIns="0">
            <a:spAutoFit/>
          </a:bodyPr>
          <a:lstStyle/>
          <a:p>
            <a:pPr algn="ctr"/>
            <a:r>
              <a:rPr sz="1100" b="1">
                <a:solidFill>
                  <a:srgbClr val="FFFFFF"/>
                </a:solidFill>
                <a:latin typeface="Inter"/>
              </a:rPr>
              <a:t>Floor map</a:t>
            </a:r>
          </a:p>
        </p:txBody>
      </p:sp>
      <p:sp>
        <p:nvSpPr>
          <p:cNvPr id="10" name="Rounded Rectangle 9"/>
          <p:cNvSpPr/>
          <p:nvPr/>
        </p:nvSpPr>
        <p:spPr>
          <a:xfrm>
            <a:off x="4293107" y="1755648"/>
            <a:ext cx="3575304" cy="2075116"/>
          </a:xfrm>
          <a:prstGeom prst="roundRect">
            <a:avLst>
              <a:gd name="adj" fmla="val 4406"/>
            </a:avLst>
          </a:prstGeom>
          <a:solidFill>
            <a:srgbClr val="1E1B4B"/>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issues.png"/>
          <p:cNvPicPr>
            <a:picLocks noChangeAspect="1"/>
          </p:cNvPicPr>
          <p:nvPr/>
        </p:nvPicPr>
        <p:blipFill>
          <a:blip r:embed="rId4"/>
          <a:stretch>
            <a:fillRect/>
          </a:stretch>
        </p:blipFill>
        <p:spPr>
          <a:xfrm>
            <a:off x="4366259" y="1828800"/>
            <a:ext cx="3429000" cy="1928812"/>
          </a:xfrm>
          <a:prstGeom prst="roundRect">
            <a:avLst>
              <a:gd name="adj" fmla="val 1896"/>
            </a:avLst>
          </a:prstGeom>
          <a:ln w="9525">
            <a:solidFill>
              <a:srgbClr val="D0D5DD"/>
            </a:solidFill>
          </a:ln>
          <a:effectLst>
            <a:outerShdw blurRad="203200" dist="38100" dir="5400000" algn="t" rotWithShape="0">
              <a:srgbClr val="1E1B4B">
                <a:alpha val="13000"/>
              </a:srgbClr>
            </a:outerShdw>
          </a:effectLst>
        </p:spPr>
      </p:pic>
      <p:sp>
        <p:nvSpPr>
          <p:cNvPr id="12" name="Rounded Rectangle 11"/>
          <p:cNvSpPr/>
          <p:nvPr/>
        </p:nvSpPr>
        <p:spPr>
          <a:xfrm>
            <a:off x="6542531" y="3373564"/>
            <a:ext cx="1143000" cy="274320"/>
          </a:xfrm>
          <a:prstGeom prst="roundRect">
            <a:avLst>
              <a:gd name="adj" fmla="val 50000"/>
            </a:avLst>
          </a:prstGeom>
          <a:solidFill>
            <a:srgbClr val="1E1B4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2531" y="3419284"/>
            <a:ext cx="1143000" cy="228600"/>
          </a:xfrm>
          <a:prstGeom prst="rect">
            <a:avLst/>
          </a:prstGeom>
          <a:noFill/>
        </p:spPr>
        <p:txBody>
          <a:bodyPr wrap="square" lIns="0" rIns="0" tIns="0" bIns="0">
            <a:spAutoFit/>
          </a:bodyPr>
          <a:lstStyle/>
          <a:p>
            <a:pPr algn="ctr"/>
            <a:r>
              <a:rPr sz="1100" b="1">
                <a:solidFill>
                  <a:srgbClr val="FFFFFF"/>
                </a:solidFill>
                <a:latin typeface="Inter"/>
              </a:rPr>
              <a:t>Issues</a:t>
            </a:r>
          </a:p>
        </p:txBody>
      </p:sp>
      <p:sp>
        <p:nvSpPr>
          <p:cNvPr id="14" name="Rounded Rectangle 13"/>
          <p:cNvSpPr/>
          <p:nvPr/>
        </p:nvSpPr>
        <p:spPr>
          <a:xfrm>
            <a:off x="8110727" y="1755648"/>
            <a:ext cx="3575304" cy="2075116"/>
          </a:xfrm>
          <a:prstGeom prst="roundRect">
            <a:avLst>
              <a:gd name="adj" fmla="val 4406"/>
            </a:avLst>
          </a:prstGeom>
          <a:solidFill>
            <a:srgbClr val="1E1B4B"/>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creen-dispatch.png"/>
          <p:cNvPicPr>
            <a:picLocks noChangeAspect="1"/>
          </p:cNvPicPr>
          <p:nvPr/>
        </p:nvPicPr>
        <p:blipFill>
          <a:blip r:embed="rId5"/>
          <a:stretch>
            <a:fillRect/>
          </a:stretch>
        </p:blipFill>
        <p:spPr>
          <a:xfrm>
            <a:off x="8183879" y="1828800"/>
            <a:ext cx="3429000" cy="1928812"/>
          </a:xfrm>
          <a:prstGeom prst="roundRect">
            <a:avLst>
              <a:gd name="adj" fmla="val 1896"/>
            </a:avLst>
          </a:prstGeom>
          <a:ln w="9525">
            <a:solidFill>
              <a:srgbClr val="D0D5DD"/>
            </a:solidFill>
          </a:ln>
          <a:effectLst>
            <a:outerShdw blurRad="203200" dist="38100" dir="5400000" algn="t" rotWithShape="0">
              <a:srgbClr val="1E1B4B">
                <a:alpha val="13000"/>
              </a:srgbClr>
            </a:outerShdw>
          </a:effectLst>
        </p:spPr>
      </p:pic>
      <p:sp>
        <p:nvSpPr>
          <p:cNvPr id="16" name="Rounded Rectangle 15"/>
          <p:cNvSpPr/>
          <p:nvPr/>
        </p:nvSpPr>
        <p:spPr>
          <a:xfrm>
            <a:off x="10360151" y="3373564"/>
            <a:ext cx="1143000" cy="274320"/>
          </a:xfrm>
          <a:prstGeom prst="roundRect">
            <a:avLst>
              <a:gd name="adj" fmla="val 50000"/>
            </a:avLst>
          </a:prstGeom>
          <a:solidFill>
            <a:srgbClr val="1E1B4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60151" y="3419284"/>
            <a:ext cx="1143000" cy="228600"/>
          </a:xfrm>
          <a:prstGeom prst="rect">
            <a:avLst/>
          </a:prstGeom>
          <a:noFill/>
        </p:spPr>
        <p:txBody>
          <a:bodyPr wrap="square" lIns="0" rIns="0" tIns="0" bIns="0">
            <a:spAutoFit/>
          </a:bodyPr>
          <a:lstStyle/>
          <a:p>
            <a:pPr algn="ctr"/>
            <a:r>
              <a:rPr sz="1100" b="1">
                <a:solidFill>
                  <a:srgbClr val="FFFFFF"/>
                </a:solidFill>
                <a:latin typeface="Inter"/>
              </a:rPr>
              <a:t>Dispatch</a:t>
            </a:r>
          </a:p>
        </p:txBody>
      </p:sp>
      <p:sp>
        <p:nvSpPr>
          <p:cNvPr id="18" name="Rounded Rectangle 17"/>
          <p:cNvSpPr/>
          <p:nvPr/>
        </p:nvSpPr>
        <p:spPr>
          <a:xfrm>
            <a:off x="475488" y="3977068"/>
            <a:ext cx="3575304" cy="2075116"/>
          </a:xfrm>
          <a:prstGeom prst="roundRect">
            <a:avLst>
              <a:gd name="adj" fmla="val 4406"/>
            </a:avLst>
          </a:prstGeom>
          <a:solidFill>
            <a:srgbClr val="1E1B4B"/>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creen-events.png"/>
          <p:cNvPicPr>
            <a:picLocks noChangeAspect="1"/>
          </p:cNvPicPr>
          <p:nvPr/>
        </p:nvPicPr>
        <p:blipFill>
          <a:blip r:embed="rId6"/>
          <a:stretch>
            <a:fillRect/>
          </a:stretch>
        </p:blipFill>
        <p:spPr>
          <a:xfrm>
            <a:off x="548640" y="4050220"/>
            <a:ext cx="3429000" cy="1928812"/>
          </a:xfrm>
          <a:prstGeom prst="roundRect">
            <a:avLst>
              <a:gd name="adj" fmla="val 1896"/>
            </a:avLst>
          </a:prstGeom>
          <a:ln w="9525">
            <a:solidFill>
              <a:srgbClr val="D0D5DD"/>
            </a:solidFill>
          </a:ln>
          <a:effectLst>
            <a:outerShdw blurRad="203200" dist="38100" dir="5400000" algn="t" rotWithShape="0">
              <a:srgbClr val="1E1B4B">
                <a:alpha val="13000"/>
              </a:srgbClr>
            </a:outerShdw>
          </a:effectLst>
        </p:spPr>
      </p:pic>
      <p:sp>
        <p:nvSpPr>
          <p:cNvPr id="20" name="Rounded Rectangle 19"/>
          <p:cNvSpPr/>
          <p:nvPr/>
        </p:nvSpPr>
        <p:spPr>
          <a:xfrm>
            <a:off x="2724911" y="5594985"/>
            <a:ext cx="1143000" cy="274320"/>
          </a:xfrm>
          <a:prstGeom prst="roundRect">
            <a:avLst>
              <a:gd name="adj" fmla="val 50000"/>
            </a:avLst>
          </a:prstGeom>
          <a:solidFill>
            <a:srgbClr val="1E1B4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24911" y="5640705"/>
            <a:ext cx="1143000" cy="228600"/>
          </a:xfrm>
          <a:prstGeom prst="rect">
            <a:avLst/>
          </a:prstGeom>
          <a:noFill/>
        </p:spPr>
        <p:txBody>
          <a:bodyPr wrap="square" lIns="0" rIns="0" tIns="0" bIns="0">
            <a:spAutoFit/>
          </a:bodyPr>
          <a:lstStyle/>
          <a:p>
            <a:pPr algn="ctr"/>
            <a:r>
              <a:rPr sz="1100" b="1">
                <a:solidFill>
                  <a:srgbClr val="FFFFFF"/>
                </a:solidFill>
                <a:latin typeface="Inter"/>
              </a:rPr>
              <a:t>Event feed</a:t>
            </a:r>
          </a:p>
        </p:txBody>
      </p:sp>
      <p:sp>
        <p:nvSpPr>
          <p:cNvPr id="22" name="Rounded Rectangle 21"/>
          <p:cNvSpPr/>
          <p:nvPr/>
        </p:nvSpPr>
        <p:spPr>
          <a:xfrm>
            <a:off x="4293107" y="3977068"/>
            <a:ext cx="3575304" cy="2075116"/>
          </a:xfrm>
          <a:prstGeom prst="roundRect">
            <a:avLst>
              <a:gd name="adj" fmla="val 4406"/>
            </a:avLst>
          </a:prstGeom>
          <a:solidFill>
            <a:srgbClr val="1E1B4B"/>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reen-pareto.png"/>
          <p:cNvPicPr>
            <a:picLocks noChangeAspect="1"/>
          </p:cNvPicPr>
          <p:nvPr/>
        </p:nvPicPr>
        <p:blipFill>
          <a:blip r:embed="rId7"/>
          <a:stretch>
            <a:fillRect/>
          </a:stretch>
        </p:blipFill>
        <p:spPr>
          <a:xfrm>
            <a:off x="4366259" y="4050220"/>
            <a:ext cx="3429000" cy="1928812"/>
          </a:xfrm>
          <a:prstGeom prst="roundRect">
            <a:avLst>
              <a:gd name="adj" fmla="val 1896"/>
            </a:avLst>
          </a:prstGeom>
          <a:ln w="9525">
            <a:solidFill>
              <a:srgbClr val="D0D5DD"/>
            </a:solidFill>
          </a:ln>
          <a:effectLst>
            <a:outerShdw blurRad="203200" dist="38100" dir="5400000" algn="t" rotWithShape="0">
              <a:srgbClr val="1E1B4B">
                <a:alpha val="13000"/>
              </a:srgbClr>
            </a:outerShdw>
          </a:effectLst>
        </p:spPr>
      </p:pic>
      <p:sp>
        <p:nvSpPr>
          <p:cNvPr id="24" name="Rounded Rectangle 23"/>
          <p:cNvSpPr/>
          <p:nvPr/>
        </p:nvSpPr>
        <p:spPr>
          <a:xfrm>
            <a:off x="6542531" y="5594985"/>
            <a:ext cx="1143000" cy="274320"/>
          </a:xfrm>
          <a:prstGeom prst="roundRect">
            <a:avLst>
              <a:gd name="adj" fmla="val 50000"/>
            </a:avLst>
          </a:prstGeom>
          <a:solidFill>
            <a:srgbClr val="1E1B4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42531" y="5640705"/>
            <a:ext cx="1143000" cy="228600"/>
          </a:xfrm>
          <a:prstGeom prst="rect">
            <a:avLst/>
          </a:prstGeom>
          <a:noFill/>
        </p:spPr>
        <p:txBody>
          <a:bodyPr wrap="square" lIns="0" rIns="0" tIns="0" bIns="0">
            <a:spAutoFit/>
          </a:bodyPr>
          <a:lstStyle/>
          <a:p>
            <a:pPr algn="ctr"/>
            <a:r>
              <a:rPr sz="1100" b="1">
                <a:solidFill>
                  <a:srgbClr val="FFFFFF"/>
                </a:solidFill>
                <a:latin typeface="Inter"/>
              </a:rPr>
              <a:t>Issue Pareto</a:t>
            </a:r>
          </a:p>
        </p:txBody>
      </p:sp>
      <p:sp>
        <p:nvSpPr>
          <p:cNvPr id="26" name="Rounded Rectangle 25"/>
          <p:cNvSpPr/>
          <p:nvPr/>
        </p:nvSpPr>
        <p:spPr>
          <a:xfrm>
            <a:off x="8110727" y="3977068"/>
            <a:ext cx="3575304" cy="2075116"/>
          </a:xfrm>
          <a:prstGeom prst="roundRect">
            <a:avLst>
              <a:gd name="adj" fmla="val 4406"/>
            </a:avLst>
          </a:prstGeom>
          <a:solidFill>
            <a:srgbClr val="1E1B4B"/>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reen-analytics.png"/>
          <p:cNvPicPr>
            <a:picLocks noChangeAspect="1"/>
          </p:cNvPicPr>
          <p:nvPr/>
        </p:nvPicPr>
        <p:blipFill>
          <a:blip r:embed="rId8"/>
          <a:stretch>
            <a:fillRect/>
          </a:stretch>
        </p:blipFill>
        <p:spPr>
          <a:xfrm>
            <a:off x="8183879" y="4050220"/>
            <a:ext cx="3429000" cy="1928812"/>
          </a:xfrm>
          <a:prstGeom prst="roundRect">
            <a:avLst>
              <a:gd name="adj" fmla="val 1896"/>
            </a:avLst>
          </a:prstGeom>
          <a:ln w="9525">
            <a:solidFill>
              <a:srgbClr val="D0D5DD"/>
            </a:solidFill>
          </a:ln>
          <a:effectLst>
            <a:outerShdw blurRad="203200" dist="38100" dir="5400000" algn="t" rotWithShape="0">
              <a:srgbClr val="1E1B4B">
                <a:alpha val="13000"/>
              </a:srgbClr>
            </a:outerShdw>
          </a:effectLst>
        </p:spPr>
      </p:pic>
      <p:sp>
        <p:nvSpPr>
          <p:cNvPr id="28" name="Rounded Rectangle 27"/>
          <p:cNvSpPr/>
          <p:nvPr/>
        </p:nvSpPr>
        <p:spPr>
          <a:xfrm>
            <a:off x="10360151" y="5594985"/>
            <a:ext cx="1143000" cy="274320"/>
          </a:xfrm>
          <a:prstGeom prst="roundRect">
            <a:avLst>
              <a:gd name="adj" fmla="val 50000"/>
            </a:avLst>
          </a:prstGeom>
          <a:solidFill>
            <a:srgbClr val="1E1B4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60151" y="5640705"/>
            <a:ext cx="1143000" cy="228600"/>
          </a:xfrm>
          <a:prstGeom prst="rect">
            <a:avLst/>
          </a:prstGeom>
          <a:noFill/>
        </p:spPr>
        <p:txBody>
          <a:bodyPr wrap="square" lIns="0" rIns="0" tIns="0" bIns="0">
            <a:spAutoFit/>
          </a:bodyPr>
          <a:lstStyle/>
          <a:p>
            <a:pPr algn="ctr"/>
            <a:r>
              <a:rPr sz="1100" b="1">
                <a:solidFill>
                  <a:srgbClr val="FFFFFF"/>
                </a:solidFill>
                <a:latin typeface="Inter"/>
              </a:rPr>
              <a:t>Analytics</a:t>
            </a:r>
          </a:p>
        </p:txBody>
      </p:sp>
      <p:sp>
        <p:nvSpPr>
          <p:cNvPr id="30" name="TextBox 29"/>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HOW IT RUNS</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Autonomous by default, human in command</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Code runs the loop; AMD models rank; people decide at the amber steps.</a:t>
            </a:r>
          </a:p>
        </p:txBody>
      </p:sp>
      <p:sp>
        <p:nvSpPr>
          <p:cNvPr id="6" name="Node: Issue raised"/>
          <p:cNvSpPr/>
          <p:nvPr/>
        </p:nvSpPr>
        <p:spPr>
          <a:xfrm>
            <a:off x="411480" y="1828800"/>
            <a:ext cx="1920240"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Issue raised</a:t>
            </a:r>
          </a:p>
          <a:p>
            <a:pPr algn="ctr"/>
            <a:r>
              <a:rPr sz="950" b="0">
                <a:solidFill>
                  <a:srgbClr val="475467"/>
                </a:solidFill>
                <a:latin typeface="Inter"/>
              </a:rPr>
              <a:t>equipment fault, symptom</a:t>
            </a:r>
          </a:p>
        </p:txBody>
      </p:sp>
      <p:sp>
        <p:nvSpPr>
          <p:cNvPr id="7" name="Node: Rank responders"/>
          <p:cNvSpPr/>
          <p:nvPr/>
        </p:nvSpPr>
        <p:spPr>
          <a:xfrm>
            <a:off x="2788920" y="1828800"/>
            <a:ext cx="1920240" cy="658368"/>
          </a:xfrm>
          <a:prstGeom prst="roundRect">
            <a:avLst>
              <a:gd name="adj" fmla="val 18000"/>
            </a:avLst>
          </a:prstGeom>
          <a:solidFill>
            <a:srgbClr val="4F46E5"/>
          </a:solidFill>
          <a:ln w="19050">
            <a:solidFill>
              <a:srgbClr val="4F46E5"/>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responders</a:t>
            </a:r>
          </a:p>
          <a:p>
            <a:pPr algn="ctr"/>
            <a:r>
              <a:rPr sz="950" b="0">
                <a:solidFill>
                  <a:srgbClr val="E0E7FF"/>
                </a:solidFill>
                <a:latin typeface="Inter"/>
              </a:rPr>
              <a:t>Compass on AMD</a:t>
            </a:r>
          </a:p>
        </p:txBody>
      </p:sp>
      <p:sp>
        <p:nvSpPr>
          <p:cNvPr id="8" name="Node: Offer sent"/>
          <p:cNvSpPr/>
          <p:nvPr/>
        </p:nvSpPr>
        <p:spPr>
          <a:xfrm>
            <a:off x="5166360" y="1828800"/>
            <a:ext cx="1920240"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Offer sent</a:t>
            </a:r>
          </a:p>
          <a:p>
            <a:pPr algn="ctr"/>
            <a:r>
              <a:rPr sz="950" b="0">
                <a:solidFill>
                  <a:srgbClr val="475467"/>
                </a:solidFill>
                <a:latin typeface="Inter"/>
              </a:rPr>
              <a:t>automatic, ranked queue</a:t>
            </a:r>
          </a:p>
        </p:txBody>
      </p:sp>
      <p:sp>
        <p:nvSpPr>
          <p:cNvPr id="9" name="Node: Responder"/>
          <p:cNvSpPr/>
          <p:nvPr/>
        </p:nvSpPr>
        <p:spPr>
          <a:xfrm>
            <a:off x="7543800" y="1828800"/>
            <a:ext cx="1920240" cy="658368"/>
          </a:xfrm>
          <a:prstGeom prst="roundRect">
            <a:avLst>
              <a:gd name="adj" fmla="val 18000"/>
            </a:avLst>
          </a:prstGeom>
          <a:solidFill>
            <a:srgbClr val="FFF7ED"/>
          </a:solidFill>
          <a:ln w="19050">
            <a:solidFill>
              <a:srgbClr val="D97706"/>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Responder</a:t>
            </a:r>
          </a:p>
          <a:p>
            <a:pPr algn="ctr"/>
            <a:r>
              <a:rPr sz="950" b="0">
                <a:solidFill>
                  <a:srgbClr val="475467"/>
                </a:solidFill>
                <a:latin typeface="Inter"/>
              </a:rPr>
              <a:t>accepts or rejects</a:t>
            </a:r>
          </a:p>
        </p:txBody>
      </p:sp>
      <p:sp>
        <p:nvSpPr>
          <p:cNvPr id="10" name="Node: Rank fixes"/>
          <p:cNvSpPr/>
          <p:nvPr/>
        </p:nvSpPr>
        <p:spPr>
          <a:xfrm>
            <a:off x="9921240" y="1828800"/>
            <a:ext cx="1920240" cy="658368"/>
          </a:xfrm>
          <a:prstGeom prst="roundRect">
            <a:avLst>
              <a:gd name="adj" fmla="val 18000"/>
            </a:avLst>
          </a:prstGeom>
          <a:solidFill>
            <a:srgbClr val="4F46E5"/>
          </a:solidFill>
          <a:ln w="19050">
            <a:solidFill>
              <a:srgbClr val="4F46E5"/>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fixes</a:t>
            </a:r>
          </a:p>
          <a:p>
            <a:pPr algn="ctr"/>
            <a:r>
              <a:rPr sz="950" b="0">
                <a:solidFill>
                  <a:srgbClr val="E0E7FF"/>
                </a:solidFill>
                <a:latin typeface="Inter"/>
              </a:rPr>
              <a:t>Compass on AMD</a:t>
            </a:r>
          </a:p>
        </p:txBody>
      </p:sp>
      <p:sp>
        <p:nvSpPr>
          <p:cNvPr id="11" name="Node: Rank overtime"/>
          <p:cNvSpPr/>
          <p:nvPr/>
        </p:nvSpPr>
        <p:spPr>
          <a:xfrm>
            <a:off x="411480" y="3200400"/>
            <a:ext cx="1920240" cy="658368"/>
          </a:xfrm>
          <a:prstGeom prst="roundRect">
            <a:avLst>
              <a:gd name="adj" fmla="val 18000"/>
            </a:avLst>
          </a:prstGeom>
          <a:solidFill>
            <a:srgbClr val="4F46E5"/>
          </a:solidFill>
          <a:ln w="19050">
            <a:solidFill>
              <a:srgbClr val="4F46E5"/>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overtime</a:t>
            </a:r>
          </a:p>
          <a:p>
            <a:pPr algn="ctr"/>
            <a:r>
              <a:rPr sz="950" b="0">
                <a:solidFill>
                  <a:srgbClr val="E0E7FF"/>
                </a:solidFill>
                <a:latin typeface="Inter"/>
              </a:rPr>
              <a:t>Compass, legal options only</a:t>
            </a:r>
          </a:p>
        </p:txBody>
      </p:sp>
      <p:sp>
        <p:nvSpPr>
          <p:cNvPr id="12" name="Node: Central command"/>
          <p:cNvSpPr/>
          <p:nvPr/>
        </p:nvSpPr>
        <p:spPr>
          <a:xfrm>
            <a:off x="2788920" y="3200400"/>
            <a:ext cx="1920240" cy="658368"/>
          </a:xfrm>
          <a:prstGeom prst="roundRect">
            <a:avLst>
              <a:gd name="adj" fmla="val 18000"/>
            </a:avLst>
          </a:prstGeom>
          <a:solidFill>
            <a:srgbClr val="FFF7ED"/>
          </a:solidFill>
          <a:ln w="19050">
            <a:solidFill>
              <a:srgbClr val="D97706"/>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Central command</a:t>
            </a:r>
          </a:p>
          <a:p>
            <a:pPr algn="ctr"/>
            <a:r>
              <a:rPr sz="950" b="0">
                <a:solidFill>
                  <a:srgbClr val="475467"/>
                </a:solidFill>
                <a:latin typeface="Inter"/>
              </a:rPr>
              <a:t>approves or rejects</a:t>
            </a:r>
          </a:p>
        </p:txBody>
      </p:sp>
      <p:sp>
        <p:nvSpPr>
          <p:cNvPr id="13" name="Node: Central command"/>
          <p:cNvSpPr/>
          <p:nvPr/>
        </p:nvSpPr>
        <p:spPr>
          <a:xfrm>
            <a:off x="7543800" y="3200400"/>
            <a:ext cx="1920240" cy="658368"/>
          </a:xfrm>
          <a:prstGeom prst="roundRect">
            <a:avLst>
              <a:gd name="adj" fmla="val 18000"/>
            </a:avLst>
          </a:prstGeom>
          <a:solidFill>
            <a:srgbClr val="FFF7ED"/>
          </a:solidFill>
          <a:ln w="19050">
            <a:solidFill>
              <a:srgbClr val="D97706"/>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Central command</a:t>
            </a:r>
          </a:p>
          <a:p>
            <a:pPr algn="ctr"/>
            <a:r>
              <a:rPr sz="950" b="0">
                <a:solidFill>
                  <a:srgbClr val="475467"/>
                </a:solidFill>
                <a:latin typeface="Inter"/>
              </a:rPr>
              <a:t>override, transfer, support</a:t>
            </a:r>
          </a:p>
        </p:txBody>
      </p:sp>
      <p:sp>
        <p:nvSpPr>
          <p:cNvPr id="14" name="Node: Repair attempt"/>
          <p:cNvSpPr/>
          <p:nvPr/>
        </p:nvSpPr>
        <p:spPr>
          <a:xfrm>
            <a:off x="9921240" y="3200400"/>
            <a:ext cx="1920240"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Repair attempt</a:t>
            </a:r>
          </a:p>
          <a:p>
            <a:pPr algn="ctr"/>
            <a:r>
              <a:rPr sz="950" b="0">
                <a:solidFill>
                  <a:srgbClr val="475467"/>
                </a:solidFill>
                <a:latin typeface="Inter"/>
              </a:rPr>
              <a:t>outcome from hidden truth</a:t>
            </a:r>
          </a:p>
        </p:txBody>
      </p:sp>
      <p:sp>
        <p:nvSpPr>
          <p:cNvPr id="15" name="Node: Backlog review"/>
          <p:cNvSpPr/>
          <p:nvPr/>
        </p:nvSpPr>
        <p:spPr>
          <a:xfrm>
            <a:off x="411480" y="4572000"/>
            <a:ext cx="1920240"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Backlog review</a:t>
            </a:r>
          </a:p>
          <a:p>
            <a:pPr algn="ctr"/>
            <a:r>
              <a:rPr sz="950" b="0">
                <a:solidFill>
                  <a:srgbClr val="475467"/>
                </a:solidFill>
                <a:latin typeface="Inter"/>
              </a:rPr>
              <a:t>before each handover</a:t>
            </a:r>
          </a:p>
        </p:txBody>
      </p:sp>
      <p:sp>
        <p:nvSpPr>
          <p:cNvPr id="16" name="Node: Observed history"/>
          <p:cNvSpPr/>
          <p:nvPr/>
        </p:nvSpPr>
        <p:spPr>
          <a:xfrm>
            <a:off x="7543800" y="4572000"/>
            <a:ext cx="1920240" cy="658368"/>
          </a:xfrm>
          <a:prstGeom prst="roundRect">
            <a:avLst>
              <a:gd name="adj" fmla="val 18000"/>
            </a:avLst>
          </a:prstGeom>
          <a:solidFill>
            <a:srgbClr val="1E1B4B"/>
          </a:solidFill>
          <a:ln w="19050">
            <a:solidFill>
              <a:srgbClr val="1E1B4B"/>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Observed history</a:t>
            </a:r>
          </a:p>
          <a:p>
            <a:pPr algn="ctr"/>
            <a:r>
              <a:rPr sz="950" b="0">
                <a:solidFill>
                  <a:srgbClr val="C7D2FE"/>
                </a:solidFill>
                <a:latin typeface="Inter"/>
              </a:rPr>
              <a:t>evidence for every ranking</a:t>
            </a:r>
          </a:p>
        </p:txBody>
      </p:sp>
      <p:sp>
        <p:nvSpPr>
          <p:cNvPr id="17" name="Node: Wall screens"/>
          <p:cNvSpPr/>
          <p:nvPr/>
        </p:nvSpPr>
        <p:spPr>
          <a:xfrm>
            <a:off x="7543800" y="5715000"/>
            <a:ext cx="1920240"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Wall screens</a:t>
            </a:r>
          </a:p>
          <a:p>
            <a:pPr algn="ctr"/>
            <a:r>
              <a:rPr sz="950" b="0">
                <a:solidFill>
                  <a:srgbClr val="475467"/>
                </a:solidFill>
                <a:latin typeface="Inter"/>
              </a:rPr>
              <a:t>floor, issues, feed, Pareto</a:t>
            </a:r>
          </a:p>
        </p:txBody>
      </p:sp>
      <p:cxnSp>
        <p:nvCxnSpPr>
          <p:cNvPr id="18" name="Arrow: Issue raised to Rank responders"/>
          <p:cNvCxnSpPr>
            <a:stCxn id="6" idx="3"/>
            <a:endCxn id="7" idx="1"/>
          </p:cNvCxnSpPr>
          <p:nvPr/>
        </p:nvCxnSpPr>
        <p:spPr>
          <a:xfrm flipV="1">
            <a:off x="2331720" y="2157984"/>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Arrow: Rank responders to Offer sent"/>
          <p:cNvCxnSpPr>
            <a:stCxn id="7" idx="3"/>
            <a:endCxn id="8" idx="1"/>
          </p:cNvCxnSpPr>
          <p:nvPr/>
        </p:nvCxnSpPr>
        <p:spPr>
          <a:xfrm flipV="1">
            <a:off x="4709160" y="2157984"/>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Offer sent to Responder"/>
          <p:cNvCxnSpPr>
            <a:stCxn id="8" idx="3"/>
            <a:endCxn id="9" idx="1"/>
          </p:cNvCxnSpPr>
          <p:nvPr/>
        </p:nvCxnSpPr>
        <p:spPr>
          <a:xfrm flipV="1">
            <a:off x="7086600" y="2157984"/>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Responder to Rank fixes"/>
          <p:cNvCxnSpPr>
            <a:stCxn id="9" idx="3"/>
            <a:endCxn id="10" idx="1"/>
          </p:cNvCxnSpPr>
          <p:nvPr/>
        </p:nvCxnSpPr>
        <p:spPr>
          <a:xfrm flipV="1">
            <a:off x="9464040" y="2157984"/>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Rank fixes to Repair attempt"/>
          <p:cNvCxnSpPr>
            <a:stCxn id="10" idx="2"/>
            <a:endCxn id="14" idx="0"/>
          </p:cNvCxnSpPr>
          <p:nvPr/>
        </p:nvCxnSpPr>
        <p:spPr>
          <a:xfrm flipH="1">
            <a:off x="10881360" y="2487168"/>
            <a:ext cx="0" cy="71323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Repair attempt to Observed history"/>
          <p:cNvCxnSpPr>
            <a:stCxn id="14" idx="1"/>
            <a:endCxn id="16" idx="3"/>
          </p:cNvCxnSpPr>
          <p:nvPr/>
        </p:nvCxnSpPr>
        <p:spPr>
          <a:xfrm flipH="1">
            <a:off x="9464040" y="3529584"/>
            <a:ext cx="457200" cy="137160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Observed history to Rank responders"/>
          <p:cNvCxnSpPr>
            <a:stCxn id="16" idx="1"/>
            <a:endCxn id="7" idx="3"/>
          </p:cNvCxnSpPr>
          <p:nvPr/>
        </p:nvCxnSpPr>
        <p:spPr>
          <a:xfrm flipH="1" flipV="1">
            <a:off x="4709160" y="2157984"/>
            <a:ext cx="2834640" cy="274320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Central command to Offer sent"/>
          <p:cNvCxnSpPr>
            <a:stCxn id="13" idx="1"/>
            <a:endCxn id="8" idx="3"/>
          </p:cNvCxnSpPr>
          <p:nvPr/>
        </p:nvCxnSpPr>
        <p:spPr>
          <a:xfrm flipH="1" flipV="1">
            <a:off x="7086600" y="2157984"/>
            <a:ext cx="457200" cy="137160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Observed history to Wall screens"/>
          <p:cNvCxnSpPr>
            <a:stCxn id="16" idx="2"/>
            <a:endCxn id="17" idx="0"/>
          </p:cNvCxnSpPr>
          <p:nvPr/>
        </p:nvCxnSpPr>
        <p:spPr>
          <a:xfrm flipH="1">
            <a:off x="8503920" y="5230368"/>
            <a:ext cx="0" cy="48463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Observed history to Backlog review"/>
          <p:cNvCxnSpPr>
            <a:stCxn id="16" idx="1"/>
            <a:endCxn id="15" idx="3"/>
          </p:cNvCxnSpPr>
          <p:nvPr/>
        </p:nvCxnSpPr>
        <p:spPr>
          <a:xfrm flipH="1" flipV="1">
            <a:off x="2331720" y="4901184"/>
            <a:ext cx="521208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Backlog review to Rank overtime"/>
          <p:cNvCxnSpPr>
            <a:stCxn id="15" idx="0"/>
            <a:endCxn id="11" idx="2"/>
          </p:cNvCxnSpPr>
          <p:nvPr/>
        </p:nvCxnSpPr>
        <p:spPr>
          <a:xfrm flipH="1" flipV="1">
            <a:off x="1371600" y="3858768"/>
            <a:ext cx="0" cy="71323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Rank overtime to Central command"/>
          <p:cNvCxnSpPr>
            <a:stCxn id="11" idx="3"/>
            <a:endCxn id="12" idx="1"/>
          </p:cNvCxnSpPr>
          <p:nvPr/>
        </p:nvCxnSpPr>
        <p:spPr>
          <a:xfrm flipV="1">
            <a:off x="2331720" y="3529584"/>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Central command to Rank responders"/>
          <p:cNvCxnSpPr>
            <a:stCxn id="12" idx="0"/>
            <a:endCxn id="7" idx="2"/>
          </p:cNvCxnSpPr>
          <p:nvPr/>
        </p:nvCxnSpPr>
        <p:spPr>
          <a:xfrm flipH="1" flipV="1">
            <a:off x="3749040" y="2487168"/>
            <a:ext cx="0" cy="71323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5669280" y="429768"/>
            <a:ext cx="292608" cy="182880"/>
          </a:xfrm>
          <a:prstGeom prst="roundRect">
            <a:avLst/>
          </a:prstGeom>
          <a:solidFill>
            <a:srgbClr val="FFFFFF"/>
          </a:solidFill>
          <a:ln>
            <a:solidFill>
              <a:srgbClr val="98A2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420623"/>
            <a:ext cx="1645920" cy="256032"/>
          </a:xfrm>
          <a:prstGeom prst="rect">
            <a:avLst/>
          </a:prstGeom>
          <a:noFill/>
        </p:spPr>
        <p:txBody>
          <a:bodyPr wrap="square" lIns="0" rIns="0" tIns="0" bIns="0">
            <a:spAutoFit/>
          </a:bodyPr>
          <a:lstStyle/>
          <a:p>
            <a:pPr algn="l"/>
            <a:r>
              <a:rPr sz="1200" b="0">
                <a:solidFill>
                  <a:srgbClr val="475467"/>
                </a:solidFill>
                <a:latin typeface="Inter"/>
              </a:rPr>
              <a:t>Application code</a:t>
            </a:r>
          </a:p>
        </p:txBody>
      </p:sp>
      <p:sp>
        <p:nvSpPr>
          <p:cNvPr id="33" name="Rounded Rectangle 32"/>
          <p:cNvSpPr/>
          <p:nvPr/>
        </p:nvSpPr>
        <p:spPr>
          <a:xfrm>
            <a:off x="7653528" y="429768"/>
            <a:ext cx="292608" cy="182880"/>
          </a:xfrm>
          <a:prstGeom prst="roundRect">
            <a:avLst/>
          </a:prstGeom>
          <a:solidFill>
            <a:srgbClr val="4F46E5"/>
          </a:solidFill>
          <a:ln>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37576" y="420623"/>
            <a:ext cx="1645920" cy="256032"/>
          </a:xfrm>
          <a:prstGeom prst="rect">
            <a:avLst/>
          </a:prstGeom>
          <a:noFill/>
        </p:spPr>
        <p:txBody>
          <a:bodyPr wrap="square" lIns="0" rIns="0" tIns="0" bIns="0">
            <a:spAutoFit/>
          </a:bodyPr>
          <a:lstStyle/>
          <a:p>
            <a:pPr algn="l"/>
            <a:r>
              <a:rPr sz="1200" b="0">
                <a:solidFill>
                  <a:srgbClr val="475467"/>
                </a:solidFill>
                <a:latin typeface="Inter"/>
              </a:rPr>
              <a:t>AMD model</a:t>
            </a:r>
          </a:p>
        </p:txBody>
      </p:sp>
      <p:sp>
        <p:nvSpPr>
          <p:cNvPr id="35" name="Rounded Rectangle 34"/>
          <p:cNvSpPr/>
          <p:nvPr/>
        </p:nvSpPr>
        <p:spPr>
          <a:xfrm>
            <a:off x="9226296" y="429768"/>
            <a:ext cx="292608" cy="182880"/>
          </a:xfrm>
          <a:prstGeom prst="roundRect">
            <a:avLst/>
          </a:prstGeom>
          <a:solidFill>
            <a:srgbClr val="1E1B4B"/>
          </a:solidFill>
          <a:ln>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10344" y="420623"/>
            <a:ext cx="1645920" cy="256032"/>
          </a:xfrm>
          <a:prstGeom prst="rect">
            <a:avLst/>
          </a:prstGeom>
          <a:noFill/>
        </p:spPr>
        <p:txBody>
          <a:bodyPr wrap="square" lIns="0" rIns="0" tIns="0" bIns="0">
            <a:spAutoFit/>
          </a:bodyPr>
          <a:lstStyle/>
          <a:p>
            <a:pPr algn="l"/>
            <a:r>
              <a:rPr sz="1200" b="0">
                <a:solidFill>
                  <a:srgbClr val="475467"/>
                </a:solidFill>
                <a:latin typeface="Inter"/>
              </a:rPr>
              <a:t>Store</a:t>
            </a:r>
          </a:p>
        </p:txBody>
      </p:sp>
      <p:sp>
        <p:nvSpPr>
          <p:cNvPr id="37" name="Rounded Rectangle 36"/>
          <p:cNvSpPr/>
          <p:nvPr/>
        </p:nvSpPr>
        <p:spPr>
          <a:xfrm>
            <a:off x="10387584" y="429768"/>
            <a:ext cx="292608" cy="182880"/>
          </a:xfrm>
          <a:prstGeom prst="roundRect">
            <a:avLst/>
          </a:prstGeom>
          <a:solidFill>
            <a:srgbClr val="FFF7ED"/>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771632" y="420623"/>
            <a:ext cx="1645920" cy="256032"/>
          </a:xfrm>
          <a:prstGeom prst="rect">
            <a:avLst/>
          </a:prstGeom>
          <a:noFill/>
        </p:spPr>
        <p:txBody>
          <a:bodyPr wrap="square" lIns="0" rIns="0" tIns="0" bIns="0">
            <a:spAutoFit/>
          </a:bodyPr>
          <a:lstStyle/>
          <a:p>
            <a:pPr algn="l"/>
            <a:r>
              <a:rPr sz="1200" b="0">
                <a:solidFill>
                  <a:srgbClr val="475467"/>
                </a:solidFill>
                <a:latin typeface="Inter"/>
              </a:rPr>
              <a:t>People</a:t>
            </a:r>
          </a:p>
        </p:txBody>
      </p:sp>
      <p:sp>
        <p:nvSpPr>
          <p:cNvPr id="39" name="TextBox 38"/>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ARCHITECTURE</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Code owns the facts. Models only rank.</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Application code owns time, facts, eligibility, baselines and every mutation; models only propose.</a:t>
            </a:r>
          </a:p>
        </p:txBody>
      </p:sp>
      <p:sp>
        <p:nvSpPr>
          <p:cNvPr id="6" name="Node: Simulation clock"/>
          <p:cNvSpPr/>
          <p:nvPr/>
        </p:nvSpPr>
        <p:spPr>
          <a:xfrm>
            <a:off x="411480" y="1783080"/>
            <a:ext cx="1874519"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Simulation clock</a:t>
            </a:r>
          </a:p>
          <a:p>
            <a:pPr algn="ctr"/>
            <a:r>
              <a:rPr sz="950" b="0">
                <a:solidFill>
                  <a:srgbClr val="475467"/>
                </a:solidFill>
                <a:latin typeface="Inter"/>
              </a:rPr>
              <a:t>persistent, pausable</a:t>
            </a:r>
          </a:p>
        </p:txBody>
      </p:sp>
      <p:sp>
        <p:nvSpPr>
          <p:cNvPr id="7" name="Node: Scheduler"/>
          <p:cNvSpPr/>
          <p:nvPr/>
        </p:nvSpPr>
        <p:spPr>
          <a:xfrm>
            <a:off x="411480" y="2880360"/>
            <a:ext cx="1874519"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Scheduler</a:t>
            </a:r>
          </a:p>
          <a:p>
            <a:pPr algn="ctr"/>
            <a:r>
              <a:rPr sz="950" b="0">
                <a:solidFill>
                  <a:srgbClr val="475467"/>
                </a:solidFill>
                <a:latin typeface="Inter"/>
              </a:rPr>
              <a:t>one-shot, restart-safe</a:t>
            </a:r>
          </a:p>
        </p:txBody>
      </p:sp>
      <p:sp>
        <p:nvSpPr>
          <p:cNvPr id="8" name="Node: Event planner"/>
          <p:cNvSpPr/>
          <p:nvPr/>
        </p:nvSpPr>
        <p:spPr>
          <a:xfrm>
            <a:off x="2834640" y="1783080"/>
            <a:ext cx="1874519" cy="658368"/>
          </a:xfrm>
          <a:prstGeom prst="roundRect">
            <a:avLst>
              <a:gd name="adj" fmla="val 18000"/>
            </a:avLst>
          </a:prstGeom>
          <a:solidFill>
            <a:srgbClr val="4F46E5"/>
          </a:solidFill>
          <a:ln w="19050">
            <a:solidFill>
              <a:srgbClr val="4F46E5"/>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Event planner</a:t>
            </a:r>
          </a:p>
          <a:p>
            <a:pPr algn="ctr"/>
            <a:r>
              <a:rPr sz="950" b="0">
                <a:solidFill>
                  <a:srgbClr val="E0E7FF"/>
                </a:solidFill>
                <a:latin typeface="Inter"/>
              </a:rPr>
              <a:t>AMD Token Factory</a:t>
            </a:r>
          </a:p>
        </p:txBody>
      </p:sp>
      <p:sp>
        <p:nvSpPr>
          <p:cNvPr id="9" name="Node: Fallback planner"/>
          <p:cNvSpPr/>
          <p:nvPr/>
        </p:nvSpPr>
        <p:spPr>
          <a:xfrm>
            <a:off x="2834640" y="2880360"/>
            <a:ext cx="1874519"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Fallback planner</a:t>
            </a:r>
          </a:p>
          <a:p>
            <a:pPr algn="ctr"/>
            <a:r>
              <a:rPr sz="950" b="0">
                <a:solidFill>
                  <a:srgbClr val="475467"/>
                </a:solidFill>
                <a:latin typeface="Inter"/>
              </a:rPr>
              <a:t>deterministic, API-free</a:t>
            </a:r>
          </a:p>
        </p:txBody>
      </p:sp>
      <p:sp>
        <p:nvSpPr>
          <p:cNvPr id="10" name="Node: Validator"/>
          <p:cNvSpPr/>
          <p:nvPr/>
        </p:nvSpPr>
        <p:spPr>
          <a:xfrm>
            <a:off x="5257800" y="2331720"/>
            <a:ext cx="1874519"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Validator</a:t>
            </a:r>
          </a:p>
          <a:p>
            <a:pPr algn="ctr"/>
            <a:r>
              <a:rPr sz="950" b="0">
                <a:solidFill>
                  <a:srgbClr val="475467"/>
                </a:solidFill>
                <a:latin typeface="Inter"/>
              </a:rPr>
              <a:t>schema + facts</a:t>
            </a:r>
          </a:p>
        </p:txBody>
      </p:sp>
      <p:sp>
        <p:nvSpPr>
          <p:cNvPr id="11" name="Node: Canonical state"/>
          <p:cNvSpPr/>
          <p:nvPr/>
        </p:nvSpPr>
        <p:spPr>
          <a:xfrm>
            <a:off x="5029200" y="3520440"/>
            <a:ext cx="2331720" cy="868680"/>
          </a:xfrm>
          <a:prstGeom prst="roundRect">
            <a:avLst>
              <a:gd name="adj" fmla="val 18000"/>
            </a:avLst>
          </a:prstGeom>
          <a:solidFill>
            <a:srgbClr val="1E1B4B"/>
          </a:solidFill>
          <a:ln w="19050">
            <a:solidFill>
              <a:srgbClr val="1E1B4B"/>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Canonical state</a:t>
            </a:r>
          </a:p>
          <a:p>
            <a:pPr algn="ctr"/>
            <a:r>
              <a:rPr sz="950" b="0">
                <a:solidFill>
                  <a:srgbClr val="C7D2FE"/>
                </a:solidFill>
                <a:latin typeface="Inter"/>
              </a:rPr>
              <a:t>persistent store, audit trail</a:t>
            </a:r>
          </a:p>
        </p:txBody>
      </p:sp>
      <p:sp>
        <p:nvSpPr>
          <p:cNvPr id="12" name="Node: Central command"/>
          <p:cNvSpPr/>
          <p:nvPr/>
        </p:nvSpPr>
        <p:spPr>
          <a:xfrm>
            <a:off x="8229600" y="2331720"/>
            <a:ext cx="2331720" cy="658368"/>
          </a:xfrm>
          <a:prstGeom prst="roundRect">
            <a:avLst>
              <a:gd name="adj" fmla="val 18000"/>
            </a:avLst>
          </a:prstGeom>
          <a:solidFill>
            <a:srgbClr val="FFF7ED"/>
          </a:solidFill>
          <a:ln w="19050">
            <a:solidFill>
              <a:srgbClr val="D97706"/>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Central command</a:t>
            </a:r>
          </a:p>
          <a:p>
            <a:pPr algn="ctr"/>
            <a:r>
              <a:rPr sz="950" b="0">
                <a:solidFill>
                  <a:srgbClr val="475467"/>
                </a:solidFill>
                <a:latin typeface="Inter"/>
              </a:rPr>
              <a:t>override pending dispatch</a:t>
            </a:r>
          </a:p>
        </p:txBody>
      </p:sp>
      <p:sp>
        <p:nvSpPr>
          <p:cNvPr id="13" name="Node: Live Floor &amp; Analytics"/>
          <p:cNvSpPr/>
          <p:nvPr/>
        </p:nvSpPr>
        <p:spPr>
          <a:xfrm>
            <a:off x="8229600" y="3648456"/>
            <a:ext cx="2331720"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Live Floor &amp; Analytics</a:t>
            </a:r>
          </a:p>
          <a:p>
            <a:pPr algn="ctr"/>
            <a:r>
              <a:rPr sz="950" b="0">
                <a:solidFill>
                  <a:srgbClr val="475467"/>
                </a:solidFill>
                <a:latin typeface="Inter"/>
              </a:rPr>
              <a:t>UI, fixed snapshots</a:t>
            </a:r>
          </a:p>
        </p:txBody>
      </p:sp>
      <p:sp>
        <p:nvSpPr>
          <p:cNvPr id="14" name="Node: Resolution engine"/>
          <p:cNvSpPr/>
          <p:nvPr/>
        </p:nvSpPr>
        <p:spPr>
          <a:xfrm>
            <a:off x="8229600" y="4937760"/>
            <a:ext cx="2331720"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Resolution engine</a:t>
            </a:r>
          </a:p>
          <a:p>
            <a:pPr algn="ctr"/>
            <a:r>
              <a:rPr sz="950" b="0">
                <a:solidFill>
                  <a:srgbClr val="475467"/>
                </a:solidFill>
                <a:latin typeface="Inter"/>
              </a:rPr>
              <a:t>hidden skill → outcome</a:t>
            </a:r>
          </a:p>
        </p:txBody>
      </p:sp>
      <p:sp>
        <p:nvSpPr>
          <p:cNvPr id="15" name="Node: Context engine"/>
          <p:cNvSpPr/>
          <p:nvPr/>
        </p:nvSpPr>
        <p:spPr>
          <a:xfrm>
            <a:off x="5257800" y="4937760"/>
            <a:ext cx="1874519"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Context engine</a:t>
            </a:r>
          </a:p>
          <a:p>
            <a:pPr algn="ctr"/>
            <a:r>
              <a:rPr sz="950" b="0">
                <a:solidFill>
                  <a:srgbClr val="475467"/>
                </a:solidFill>
                <a:latin typeface="Inter"/>
              </a:rPr>
              <a:t>eligibility, travel, history</a:t>
            </a:r>
          </a:p>
        </p:txBody>
      </p:sp>
      <p:sp>
        <p:nvSpPr>
          <p:cNvPr id="16" name="Node: Compass"/>
          <p:cNvSpPr/>
          <p:nvPr/>
        </p:nvSpPr>
        <p:spPr>
          <a:xfrm>
            <a:off x="2834640" y="4617720"/>
            <a:ext cx="1874519" cy="658368"/>
          </a:xfrm>
          <a:prstGeom prst="roundRect">
            <a:avLst>
              <a:gd name="adj" fmla="val 18000"/>
            </a:avLst>
          </a:prstGeom>
          <a:solidFill>
            <a:srgbClr val="4F46E5"/>
          </a:solidFill>
          <a:ln w="19050">
            <a:solidFill>
              <a:srgbClr val="4F46E5"/>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Compass</a:t>
            </a:r>
          </a:p>
          <a:p>
            <a:pPr algn="ctr"/>
            <a:r>
              <a:rPr sz="950" b="0">
                <a:solidFill>
                  <a:srgbClr val="E0E7FF"/>
                </a:solidFill>
                <a:latin typeface="Inter"/>
              </a:rPr>
              <a:t>ranks responders, fixes</a:t>
            </a:r>
          </a:p>
        </p:txBody>
      </p:sp>
      <p:sp>
        <p:nvSpPr>
          <p:cNvPr id="17" name="Node: Baselines"/>
          <p:cNvSpPr/>
          <p:nvPr/>
        </p:nvSpPr>
        <p:spPr>
          <a:xfrm>
            <a:off x="2834640" y="5669280"/>
            <a:ext cx="1874519"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Baselines</a:t>
            </a:r>
          </a:p>
          <a:p>
            <a:pPr algn="ctr"/>
            <a:r>
              <a:rPr sz="950" b="0">
                <a:solidFill>
                  <a:srgbClr val="475467"/>
                </a:solidFill>
                <a:latin typeface="Inter"/>
              </a:rPr>
              <a:t>nearest + naive score</a:t>
            </a:r>
          </a:p>
        </p:txBody>
      </p:sp>
      <p:sp>
        <p:nvSpPr>
          <p:cNvPr id="18" name="Node: Dispatch"/>
          <p:cNvSpPr/>
          <p:nvPr/>
        </p:nvSpPr>
        <p:spPr>
          <a:xfrm>
            <a:off x="411480" y="5120640"/>
            <a:ext cx="1874519" cy="658368"/>
          </a:xfrm>
          <a:prstGeom prst="roundRect">
            <a:avLst>
              <a:gd name="adj" fmla="val 18000"/>
            </a:avLst>
          </a:prstGeom>
          <a:solidFill>
            <a:srgbClr val="FFFFFF"/>
          </a:solidFill>
          <a:ln w="19050">
            <a:solidFill>
              <a:srgbClr val="98A2B3"/>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Dispatch</a:t>
            </a:r>
          </a:p>
          <a:p>
            <a:pPr algn="ctr"/>
            <a:r>
              <a:rPr sz="950" b="0">
                <a:solidFill>
                  <a:srgbClr val="475467"/>
                </a:solidFill>
                <a:latin typeface="Inter"/>
              </a:rPr>
              <a:t>ranked offer queue</a:t>
            </a:r>
          </a:p>
        </p:txBody>
      </p:sp>
      <p:sp>
        <p:nvSpPr>
          <p:cNvPr id="19" name="Node: Responders"/>
          <p:cNvSpPr/>
          <p:nvPr/>
        </p:nvSpPr>
        <p:spPr>
          <a:xfrm>
            <a:off x="411480" y="4023360"/>
            <a:ext cx="1874519" cy="658368"/>
          </a:xfrm>
          <a:prstGeom prst="roundRect">
            <a:avLst>
              <a:gd name="adj" fmla="val 18000"/>
            </a:avLst>
          </a:prstGeom>
          <a:solidFill>
            <a:srgbClr val="FFF7ED"/>
          </a:solidFill>
          <a:ln w="19050">
            <a:solidFill>
              <a:srgbClr val="D97706"/>
            </a:solid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11827"/>
                </a:solidFill>
                <a:latin typeface="Inter"/>
              </a:rPr>
              <a:t>Responders</a:t>
            </a:r>
          </a:p>
          <a:p>
            <a:pPr algn="ctr"/>
            <a:r>
              <a:rPr sz="950" b="0">
                <a:solidFill>
                  <a:srgbClr val="475467"/>
                </a:solidFill>
                <a:latin typeface="Inter"/>
              </a:rPr>
              <a:t>accept or reject</a:t>
            </a:r>
          </a:p>
        </p:txBody>
      </p:sp>
      <p:cxnSp>
        <p:nvCxnSpPr>
          <p:cNvPr id="20" name="Arrow: Simulation clock to Scheduler"/>
          <p:cNvCxnSpPr>
            <a:stCxn id="6" idx="2"/>
            <a:endCxn id="7" idx="0"/>
          </p:cNvCxnSpPr>
          <p:nvPr/>
        </p:nvCxnSpPr>
        <p:spPr>
          <a:xfrm flipH="1">
            <a:off x="1348739" y="2441448"/>
            <a:ext cx="0" cy="43891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Scheduler to Event planner"/>
          <p:cNvCxnSpPr>
            <a:stCxn id="7" idx="3"/>
            <a:endCxn id="8" idx="1"/>
          </p:cNvCxnSpPr>
          <p:nvPr/>
        </p:nvCxnSpPr>
        <p:spPr>
          <a:xfrm flipV="1">
            <a:off x="2285999" y="2112264"/>
            <a:ext cx="548641" cy="109728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Scheduler to Fallback planner"/>
          <p:cNvCxnSpPr>
            <a:stCxn id="7" idx="3"/>
            <a:endCxn id="9" idx="1"/>
          </p:cNvCxnSpPr>
          <p:nvPr/>
        </p:nvCxnSpPr>
        <p:spPr>
          <a:xfrm flipV="1">
            <a:off x="2285999" y="3209544"/>
            <a:ext cx="548641"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Event planner to Validator"/>
          <p:cNvCxnSpPr>
            <a:stCxn id="8" idx="3"/>
            <a:endCxn id="10" idx="1"/>
          </p:cNvCxnSpPr>
          <p:nvPr/>
        </p:nvCxnSpPr>
        <p:spPr>
          <a:xfrm>
            <a:off x="4709159" y="2112264"/>
            <a:ext cx="548641" cy="5486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Fallback planner to Validator"/>
          <p:cNvCxnSpPr>
            <a:stCxn id="9" idx="3"/>
            <a:endCxn id="10" idx="1"/>
          </p:cNvCxnSpPr>
          <p:nvPr/>
        </p:nvCxnSpPr>
        <p:spPr>
          <a:xfrm flipV="1">
            <a:off x="4709159" y="2660904"/>
            <a:ext cx="548641" cy="5486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Validator to Canonical state"/>
          <p:cNvCxnSpPr>
            <a:stCxn id="10" idx="2"/>
            <a:endCxn id="11" idx="0"/>
          </p:cNvCxnSpPr>
          <p:nvPr/>
        </p:nvCxnSpPr>
        <p:spPr>
          <a:xfrm>
            <a:off x="6195059" y="2990088"/>
            <a:ext cx="1" cy="53035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Central command to Canonical state"/>
          <p:cNvCxnSpPr>
            <a:stCxn id="12" idx="1"/>
            <a:endCxn id="11" idx="3"/>
          </p:cNvCxnSpPr>
          <p:nvPr/>
        </p:nvCxnSpPr>
        <p:spPr>
          <a:xfrm flipH="1">
            <a:off x="7360920" y="2660904"/>
            <a:ext cx="868680" cy="1293876"/>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Canonical state to Live Floor &amp; Analytics"/>
          <p:cNvCxnSpPr>
            <a:stCxn id="11" idx="3"/>
            <a:endCxn id="13" idx="1"/>
          </p:cNvCxnSpPr>
          <p:nvPr/>
        </p:nvCxnSpPr>
        <p:spPr>
          <a:xfrm>
            <a:off x="7360920" y="3954780"/>
            <a:ext cx="868680" cy="2286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Resolution engine to Canonical state"/>
          <p:cNvCxnSpPr>
            <a:stCxn id="14" idx="1"/>
            <a:endCxn id="11" idx="3"/>
          </p:cNvCxnSpPr>
          <p:nvPr/>
        </p:nvCxnSpPr>
        <p:spPr>
          <a:xfrm flipH="1" flipV="1">
            <a:off x="7360920" y="3954780"/>
            <a:ext cx="868680" cy="1312164"/>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Canonical state to Context engine"/>
          <p:cNvCxnSpPr>
            <a:stCxn id="11" idx="2"/>
            <a:endCxn id="15" idx="0"/>
          </p:cNvCxnSpPr>
          <p:nvPr/>
        </p:nvCxnSpPr>
        <p:spPr>
          <a:xfrm flipH="1">
            <a:off x="6195059" y="4389120"/>
            <a:ext cx="1" cy="5486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Context engine to Compass"/>
          <p:cNvCxnSpPr>
            <a:stCxn id="15" idx="1"/>
            <a:endCxn id="16" idx="3"/>
          </p:cNvCxnSpPr>
          <p:nvPr/>
        </p:nvCxnSpPr>
        <p:spPr>
          <a:xfrm flipH="1" flipV="1">
            <a:off x="4709159" y="4946904"/>
            <a:ext cx="548641" cy="3200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Context engine to Baselines"/>
          <p:cNvCxnSpPr>
            <a:stCxn id="15" idx="1"/>
            <a:endCxn id="17" idx="3"/>
          </p:cNvCxnSpPr>
          <p:nvPr/>
        </p:nvCxnSpPr>
        <p:spPr>
          <a:xfrm flipH="1">
            <a:off x="4709159" y="5266944"/>
            <a:ext cx="548641" cy="73152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Compass to Dispatch"/>
          <p:cNvCxnSpPr>
            <a:stCxn id="16" idx="1"/>
            <a:endCxn id="18" idx="3"/>
          </p:cNvCxnSpPr>
          <p:nvPr/>
        </p:nvCxnSpPr>
        <p:spPr>
          <a:xfrm flipH="1">
            <a:off x="2285999" y="4946904"/>
            <a:ext cx="548641" cy="50292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Arrow: Baselines to Dispatch"/>
          <p:cNvCxnSpPr>
            <a:stCxn id="17" idx="1"/>
            <a:endCxn id="18" idx="3"/>
          </p:cNvCxnSpPr>
          <p:nvPr/>
        </p:nvCxnSpPr>
        <p:spPr>
          <a:xfrm flipH="1" flipV="1">
            <a:off x="2285999" y="5449824"/>
            <a:ext cx="548641" cy="5486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Dispatch to Responders"/>
          <p:cNvCxnSpPr>
            <a:stCxn id="18" idx="0"/>
            <a:endCxn id="19" idx="2"/>
          </p:cNvCxnSpPr>
          <p:nvPr/>
        </p:nvCxnSpPr>
        <p:spPr>
          <a:xfrm flipH="1" flipV="1">
            <a:off x="1348739" y="4681728"/>
            <a:ext cx="0" cy="43891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Arrow: Responders to Canonical state"/>
          <p:cNvCxnSpPr>
            <a:stCxn id="19" idx="3"/>
            <a:endCxn id="11" idx="1"/>
          </p:cNvCxnSpPr>
          <p:nvPr/>
        </p:nvCxnSpPr>
        <p:spPr>
          <a:xfrm flipV="1">
            <a:off x="2285999" y="3954780"/>
            <a:ext cx="2743201" cy="397764"/>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669280" y="429768"/>
            <a:ext cx="292608" cy="182880"/>
          </a:xfrm>
          <a:prstGeom prst="roundRect">
            <a:avLst/>
          </a:prstGeom>
          <a:solidFill>
            <a:srgbClr val="FFFFFF"/>
          </a:solidFill>
          <a:ln>
            <a:solidFill>
              <a:srgbClr val="98A2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53328" y="420623"/>
            <a:ext cx="1645920" cy="256032"/>
          </a:xfrm>
          <a:prstGeom prst="rect">
            <a:avLst/>
          </a:prstGeom>
          <a:noFill/>
        </p:spPr>
        <p:txBody>
          <a:bodyPr wrap="square" lIns="0" rIns="0" tIns="0" bIns="0">
            <a:spAutoFit/>
          </a:bodyPr>
          <a:lstStyle/>
          <a:p>
            <a:pPr algn="l"/>
            <a:r>
              <a:rPr sz="1200" b="0">
                <a:solidFill>
                  <a:srgbClr val="475467"/>
                </a:solidFill>
                <a:latin typeface="Inter"/>
              </a:rPr>
              <a:t>Application code</a:t>
            </a:r>
          </a:p>
        </p:txBody>
      </p:sp>
      <p:sp>
        <p:nvSpPr>
          <p:cNvPr id="38" name="Rounded Rectangle 37"/>
          <p:cNvSpPr/>
          <p:nvPr/>
        </p:nvSpPr>
        <p:spPr>
          <a:xfrm>
            <a:off x="7653528" y="429768"/>
            <a:ext cx="292608" cy="182880"/>
          </a:xfrm>
          <a:prstGeom prst="roundRect">
            <a:avLst/>
          </a:prstGeom>
          <a:solidFill>
            <a:srgbClr val="4F46E5"/>
          </a:solidFill>
          <a:ln>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37576" y="420623"/>
            <a:ext cx="1645920" cy="256032"/>
          </a:xfrm>
          <a:prstGeom prst="rect">
            <a:avLst/>
          </a:prstGeom>
          <a:noFill/>
        </p:spPr>
        <p:txBody>
          <a:bodyPr wrap="square" lIns="0" rIns="0" tIns="0" bIns="0">
            <a:spAutoFit/>
          </a:bodyPr>
          <a:lstStyle/>
          <a:p>
            <a:pPr algn="l"/>
            <a:r>
              <a:rPr sz="1200" b="0">
                <a:solidFill>
                  <a:srgbClr val="475467"/>
                </a:solidFill>
                <a:latin typeface="Inter"/>
              </a:rPr>
              <a:t>AMD model</a:t>
            </a:r>
          </a:p>
        </p:txBody>
      </p:sp>
      <p:sp>
        <p:nvSpPr>
          <p:cNvPr id="40" name="Rounded Rectangle 39"/>
          <p:cNvSpPr/>
          <p:nvPr/>
        </p:nvSpPr>
        <p:spPr>
          <a:xfrm>
            <a:off x="9226296" y="429768"/>
            <a:ext cx="292608" cy="182880"/>
          </a:xfrm>
          <a:prstGeom prst="roundRect">
            <a:avLst/>
          </a:prstGeom>
          <a:solidFill>
            <a:srgbClr val="1E1B4B"/>
          </a:solidFill>
          <a:ln>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10344" y="420623"/>
            <a:ext cx="1645920" cy="256032"/>
          </a:xfrm>
          <a:prstGeom prst="rect">
            <a:avLst/>
          </a:prstGeom>
          <a:noFill/>
        </p:spPr>
        <p:txBody>
          <a:bodyPr wrap="square" lIns="0" rIns="0" tIns="0" bIns="0">
            <a:spAutoFit/>
          </a:bodyPr>
          <a:lstStyle/>
          <a:p>
            <a:pPr algn="l"/>
            <a:r>
              <a:rPr sz="1200" b="0">
                <a:solidFill>
                  <a:srgbClr val="475467"/>
                </a:solidFill>
                <a:latin typeface="Inter"/>
              </a:rPr>
              <a:t>Store</a:t>
            </a:r>
          </a:p>
        </p:txBody>
      </p:sp>
      <p:sp>
        <p:nvSpPr>
          <p:cNvPr id="42" name="Rounded Rectangle 41"/>
          <p:cNvSpPr/>
          <p:nvPr/>
        </p:nvSpPr>
        <p:spPr>
          <a:xfrm>
            <a:off x="10387584" y="429768"/>
            <a:ext cx="292608" cy="182880"/>
          </a:xfrm>
          <a:prstGeom prst="roundRect">
            <a:avLst/>
          </a:prstGeom>
          <a:solidFill>
            <a:srgbClr val="FFF7ED"/>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771632" y="420623"/>
            <a:ext cx="1645920" cy="256032"/>
          </a:xfrm>
          <a:prstGeom prst="rect">
            <a:avLst/>
          </a:prstGeom>
          <a:noFill/>
        </p:spPr>
        <p:txBody>
          <a:bodyPr wrap="square" lIns="0" rIns="0" tIns="0" bIns="0">
            <a:spAutoFit/>
          </a:bodyPr>
          <a:lstStyle/>
          <a:p>
            <a:pPr algn="l"/>
            <a:r>
              <a:rPr sz="1200" b="0">
                <a:solidFill>
                  <a:srgbClr val="475467"/>
                </a:solidFill>
                <a:latin typeface="Inter"/>
              </a:rPr>
              <a:t>People</a:t>
            </a:r>
          </a:p>
        </p:txBody>
      </p:sp>
      <p:sp>
        <p:nvSpPr>
          <p:cNvPr id="44" name="TextBox 43"/>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sponseCompassWall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5486400" cy="274320"/>
          </a:xfrm>
          <a:prstGeom prst="rect">
            <a:avLst/>
          </a:prstGeom>
          <a:noFill/>
        </p:spPr>
        <p:txBody>
          <a:bodyPr wrap="square" lIns="0" rIns="0" tIns="0" bIns="0">
            <a:spAutoFit/>
          </a:bodyPr>
          <a:lstStyle/>
          <a:p>
            <a:pPr algn="l"/>
            <a:r>
              <a:rPr sz="1200" b="1" spc="150">
                <a:solidFill>
                  <a:srgbClr val="4F46E5"/>
                </a:solidFill>
                <a:latin typeface="Inter"/>
              </a:rPr>
              <a:t>TRUST</a:t>
            </a:r>
          </a:p>
        </p:txBody>
      </p:sp>
      <p:sp>
        <p:nvSpPr>
          <p:cNvPr id="4" name="TextBox 3"/>
          <p:cNvSpPr txBox="1"/>
          <p:nvPr/>
        </p:nvSpPr>
        <p:spPr>
          <a:xfrm>
            <a:off x="548640" y="676656"/>
            <a:ext cx="5486400" cy="566928"/>
          </a:xfrm>
          <a:prstGeom prst="rect">
            <a:avLst/>
          </a:prstGeom>
          <a:noFill/>
        </p:spPr>
        <p:txBody>
          <a:bodyPr wrap="square" lIns="0" rIns="0" tIns="0" bIns="0">
            <a:spAutoFit/>
          </a:bodyPr>
          <a:lstStyle/>
          <a:p>
            <a:pPr algn="l"/>
            <a:r>
              <a:rPr sz="3200" b="1">
                <a:solidFill>
                  <a:srgbClr val="111827"/>
                </a:solidFill>
                <a:latin typeface="Inter"/>
              </a:rPr>
              <a:t>Honest by design</a:t>
            </a:r>
          </a:p>
        </p:txBody>
      </p:sp>
      <p:sp>
        <p:nvSpPr>
          <p:cNvPr id="5" name="Rounded Rectangle 4"/>
          <p:cNvSpPr/>
          <p:nvPr/>
        </p:nvSpPr>
        <p:spPr>
          <a:xfrm>
            <a:off x="548640" y="1600200"/>
            <a:ext cx="2606040" cy="2103120"/>
          </a:xfrm>
          <a:prstGeom prst="roundRect">
            <a:avLst>
              <a:gd name="adj" fmla="val 6086"/>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2148840" cy="320040"/>
          </a:xfrm>
          <a:prstGeom prst="rect">
            <a:avLst/>
          </a:prstGeom>
          <a:noFill/>
        </p:spPr>
        <p:txBody>
          <a:bodyPr wrap="square" lIns="0" rIns="0" tIns="0" bIns="0">
            <a:spAutoFit/>
          </a:bodyPr>
          <a:lstStyle/>
          <a:p>
            <a:pPr algn="l"/>
            <a:r>
              <a:rPr sz="1600" b="1">
                <a:solidFill>
                  <a:srgbClr val="111827"/>
                </a:solidFill>
                <a:latin typeface="Inter"/>
              </a:rPr>
              <a:t>Hidden truth</a:t>
            </a:r>
          </a:p>
        </p:txBody>
      </p:sp>
      <p:sp>
        <p:nvSpPr>
          <p:cNvPr id="7" name="TextBox 6"/>
          <p:cNvSpPr txBox="1"/>
          <p:nvPr/>
        </p:nvSpPr>
        <p:spPr>
          <a:xfrm>
            <a:off x="777240" y="2148840"/>
            <a:ext cx="2148840" cy="1554479"/>
          </a:xfrm>
          <a:prstGeom prst="rect">
            <a:avLst/>
          </a:prstGeom>
          <a:noFill/>
        </p:spPr>
        <p:txBody>
          <a:bodyPr wrap="square" lIns="0" rIns="0" tIns="0" bIns="0">
            <a:spAutoFit/>
          </a:bodyPr>
          <a:lstStyle/>
          <a:p>
            <a:pPr algn="l"/>
            <a:r>
              <a:rPr sz="1400" b="0">
                <a:solidFill>
                  <a:srgbClr val="475467"/>
                </a:solidFill>
                <a:latin typeface="Inter"/>
              </a:rPr>
              <a:t>True skill and true fault cause stay hidden from every model, screen and chart.</a:t>
            </a:r>
          </a:p>
        </p:txBody>
      </p:sp>
      <p:sp>
        <p:nvSpPr>
          <p:cNvPr id="8" name="Rounded Rectangle 7"/>
          <p:cNvSpPr/>
          <p:nvPr/>
        </p:nvSpPr>
        <p:spPr>
          <a:xfrm>
            <a:off x="3383280" y="1600200"/>
            <a:ext cx="2606040" cy="2103120"/>
          </a:xfrm>
          <a:prstGeom prst="roundRect">
            <a:avLst>
              <a:gd name="adj" fmla="val 6086"/>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80" y="1783080"/>
            <a:ext cx="2148840" cy="320040"/>
          </a:xfrm>
          <a:prstGeom prst="rect">
            <a:avLst/>
          </a:prstGeom>
          <a:noFill/>
        </p:spPr>
        <p:txBody>
          <a:bodyPr wrap="square" lIns="0" rIns="0" tIns="0" bIns="0">
            <a:spAutoFit/>
          </a:bodyPr>
          <a:lstStyle/>
          <a:p>
            <a:pPr algn="l"/>
            <a:r>
              <a:rPr sz="1600" b="1">
                <a:solidFill>
                  <a:srgbClr val="111827"/>
                </a:solidFill>
                <a:latin typeface="Inter"/>
              </a:rPr>
              <a:t>Outcomes from truth</a:t>
            </a:r>
          </a:p>
        </p:txBody>
      </p:sp>
      <p:sp>
        <p:nvSpPr>
          <p:cNvPr id="10" name="TextBox 9"/>
          <p:cNvSpPr txBox="1"/>
          <p:nvPr/>
        </p:nvSpPr>
        <p:spPr>
          <a:xfrm>
            <a:off x="3611880" y="2148840"/>
            <a:ext cx="2148840" cy="1554479"/>
          </a:xfrm>
          <a:prstGeom prst="rect">
            <a:avLst/>
          </a:prstGeom>
          <a:noFill/>
        </p:spPr>
        <p:txBody>
          <a:bodyPr wrap="square" lIns="0" rIns="0" tIns="0" bIns="0">
            <a:spAutoFit/>
          </a:bodyPr>
          <a:lstStyle/>
          <a:p>
            <a:pPr algn="l"/>
            <a:r>
              <a:rPr sz="1400" b="0">
                <a:solidFill>
                  <a:srgbClr val="475467"/>
                </a:solidFill>
                <a:latin typeface="Inter"/>
              </a:rPr>
              <a:t>Repairs succeed or fail from that hidden truth, not from what a model claims.</a:t>
            </a:r>
          </a:p>
        </p:txBody>
      </p:sp>
      <p:sp>
        <p:nvSpPr>
          <p:cNvPr id="11" name="Rounded Rectangle 10"/>
          <p:cNvSpPr/>
          <p:nvPr/>
        </p:nvSpPr>
        <p:spPr>
          <a:xfrm>
            <a:off x="548640" y="3931920"/>
            <a:ext cx="2606040" cy="2103120"/>
          </a:xfrm>
          <a:prstGeom prst="roundRect">
            <a:avLst>
              <a:gd name="adj" fmla="val 6086"/>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14800"/>
            <a:ext cx="2148840" cy="320040"/>
          </a:xfrm>
          <a:prstGeom prst="rect">
            <a:avLst/>
          </a:prstGeom>
          <a:noFill/>
        </p:spPr>
        <p:txBody>
          <a:bodyPr wrap="square" lIns="0" rIns="0" tIns="0" bIns="0">
            <a:spAutoFit/>
          </a:bodyPr>
          <a:lstStyle/>
          <a:p>
            <a:pPr algn="l"/>
            <a:r>
              <a:rPr sz="1600" b="1">
                <a:solidFill>
                  <a:srgbClr val="111827"/>
                </a:solidFill>
                <a:latin typeface="Inter"/>
              </a:rPr>
              <a:t>Baselines alongside</a:t>
            </a:r>
          </a:p>
        </p:txBody>
      </p:sp>
      <p:sp>
        <p:nvSpPr>
          <p:cNvPr id="13" name="TextBox 12"/>
          <p:cNvSpPr txBox="1"/>
          <p:nvPr/>
        </p:nvSpPr>
        <p:spPr>
          <a:xfrm>
            <a:off x="777240" y="4480559"/>
            <a:ext cx="2148840" cy="1554479"/>
          </a:xfrm>
          <a:prstGeom prst="rect">
            <a:avLst/>
          </a:prstGeom>
          <a:noFill/>
        </p:spPr>
        <p:txBody>
          <a:bodyPr wrap="square" lIns="0" rIns="0" tIns="0" bIns="0">
            <a:spAutoFit/>
          </a:bodyPr>
          <a:lstStyle/>
          <a:p>
            <a:pPr algn="l"/>
            <a:r>
              <a:rPr sz="1400" b="0">
                <a:solidFill>
                  <a:srgbClr val="475467"/>
                </a:solidFill>
                <a:latin typeface="Inter"/>
              </a:rPr>
              <a:t>Nearest, naive score and most common fix run next to Compass; disagreements are recorded.</a:t>
            </a:r>
          </a:p>
        </p:txBody>
      </p:sp>
      <p:sp>
        <p:nvSpPr>
          <p:cNvPr id="14" name="Rounded Rectangle 13"/>
          <p:cNvSpPr/>
          <p:nvPr/>
        </p:nvSpPr>
        <p:spPr>
          <a:xfrm>
            <a:off x="3383280" y="3931920"/>
            <a:ext cx="2606040" cy="2103120"/>
          </a:xfrm>
          <a:prstGeom prst="roundRect">
            <a:avLst>
              <a:gd name="adj" fmla="val 6086"/>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4114800"/>
            <a:ext cx="2148840" cy="320040"/>
          </a:xfrm>
          <a:prstGeom prst="rect">
            <a:avLst/>
          </a:prstGeom>
          <a:noFill/>
        </p:spPr>
        <p:txBody>
          <a:bodyPr wrap="square" lIns="0" rIns="0" tIns="0" bIns="0">
            <a:spAutoFit/>
          </a:bodyPr>
          <a:lstStyle/>
          <a:p>
            <a:pPr algn="l"/>
            <a:r>
              <a:rPr sz="1600" b="1">
                <a:solidFill>
                  <a:srgbClr val="111827"/>
                </a:solidFill>
                <a:latin typeface="Inter"/>
              </a:rPr>
              <a:t>Fair analytics</a:t>
            </a:r>
          </a:p>
        </p:txBody>
      </p:sp>
      <p:sp>
        <p:nvSpPr>
          <p:cNvPr id="16" name="TextBox 15"/>
          <p:cNvSpPr txBox="1"/>
          <p:nvPr/>
        </p:nvSpPr>
        <p:spPr>
          <a:xfrm>
            <a:off x="3611880" y="4480559"/>
            <a:ext cx="2148840" cy="1554479"/>
          </a:xfrm>
          <a:prstGeom prst="rect">
            <a:avLst/>
          </a:prstGeom>
          <a:noFill/>
        </p:spPr>
        <p:txBody>
          <a:bodyPr wrap="square" lIns="0" rIns="0" tIns="0" bIns="0">
            <a:spAutoFit/>
          </a:bodyPr>
          <a:lstStyle/>
          <a:p>
            <a:pPr algn="l"/>
            <a:r>
              <a:rPr sz="1400" b="0">
                <a:solidFill>
                  <a:srgbClr val="475467"/>
                </a:solidFill>
                <a:latin typeface="Inter"/>
              </a:rPr>
              <a:t>Denominators shown, thin samples suppressed, no leaderboard. Pay, seniority and HR data are never inputs.</a:t>
            </a:r>
          </a:p>
        </p:txBody>
      </p:sp>
      <p:sp>
        <p:nvSpPr>
          <p:cNvPr id="17" name="TextBox 16"/>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LIVE CAPTURE</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The right responder</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ISS-3618, Station 48 · ranked live on AMD Token Factory (MiMo-V2.6-Flash)</a:t>
            </a:r>
          </a:p>
        </p:txBody>
      </p:sp>
      <p:sp>
        <p:nvSpPr>
          <p:cNvPr id="6" name="Rounded Rectangle 5"/>
          <p:cNvSpPr/>
          <p:nvPr/>
        </p:nvSpPr>
        <p:spPr>
          <a:xfrm>
            <a:off x="548640" y="1828800"/>
            <a:ext cx="3291840" cy="1783080"/>
          </a:xfrm>
          <a:prstGeom prst="roundRect">
            <a:avLst>
              <a:gd name="adj" fmla="val 7179"/>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029968"/>
            <a:ext cx="2743200" cy="274320"/>
          </a:xfrm>
          <a:prstGeom prst="rect">
            <a:avLst/>
          </a:prstGeom>
          <a:noFill/>
        </p:spPr>
        <p:txBody>
          <a:bodyPr wrap="square" lIns="0" rIns="0" tIns="0" bIns="0">
            <a:spAutoFit/>
          </a:bodyPr>
          <a:lstStyle/>
          <a:p>
            <a:pPr algn="l"/>
            <a:r>
              <a:rPr sz="1100" b="1" spc="120">
                <a:solidFill>
                  <a:srgbClr val="475467"/>
                </a:solidFill>
                <a:latin typeface="Inter"/>
              </a:rPr>
              <a:t>NEAREST-RESPONDER BASELINE</a:t>
            </a:r>
          </a:p>
        </p:txBody>
      </p:sp>
      <p:sp>
        <p:nvSpPr>
          <p:cNvPr id="8" name="TextBox 7"/>
          <p:cNvSpPr txBox="1"/>
          <p:nvPr/>
        </p:nvSpPr>
        <p:spPr>
          <a:xfrm>
            <a:off x="822959" y="2340864"/>
            <a:ext cx="2743200" cy="635000"/>
          </a:xfrm>
          <a:prstGeom prst="rect">
            <a:avLst/>
          </a:prstGeom>
          <a:noFill/>
        </p:spPr>
        <p:txBody>
          <a:bodyPr wrap="square" lIns="0" rIns="0" tIns="0" bIns="0">
            <a:spAutoFit/>
          </a:bodyPr>
          <a:lstStyle/>
          <a:p>
            <a:pPr algn="l"/>
            <a:r>
              <a:rPr sz="4000" b="1">
                <a:solidFill>
                  <a:srgbClr val="4F46E5"/>
                </a:solidFill>
                <a:latin typeface="Inter"/>
              </a:rPr>
              <a:t>26</a:t>
            </a:r>
          </a:p>
        </p:txBody>
      </p:sp>
      <p:sp>
        <p:nvSpPr>
          <p:cNvPr id="9" name="TextBox 8"/>
          <p:cNvSpPr txBox="1"/>
          <p:nvPr/>
        </p:nvSpPr>
        <p:spPr>
          <a:xfrm>
            <a:off x="822959" y="3046984"/>
            <a:ext cx="2743200" cy="1783080"/>
          </a:xfrm>
          <a:prstGeom prst="rect">
            <a:avLst/>
          </a:prstGeom>
          <a:noFill/>
        </p:spPr>
        <p:txBody>
          <a:bodyPr wrap="square" lIns="0" rIns="0" tIns="0" bIns="0">
            <a:spAutoFit/>
          </a:bodyPr>
          <a:lstStyle/>
          <a:p>
            <a:pPr algn="l"/>
            <a:r>
              <a:rPr sz="1400" b="0">
                <a:solidFill>
                  <a:srgbClr val="475467"/>
                </a:solidFill>
                <a:latin typeface="Inter"/>
              </a:rPr>
              <a:t>similar cases · Engr361, 0.5 min away</a:t>
            </a:r>
          </a:p>
        </p:txBody>
      </p:sp>
      <p:sp>
        <p:nvSpPr>
          <p:cNvPr id="10" name="Rounded Rectangle 9"/>
          <p:cNvSpPr/>
          <p:nvPr/>
        </p:nvSpPr>
        <p:spPr>
          <a:xfrm>
            <a:off x="4114800" y="1828800"/>
            <a:ext cx="3931920" cy="1783080"/>
          </a:xfrm>
          <a:prstGeom prst="roundRect">
            <a:avLst>
              <a:gd name="adj" fmla="val 7179"/>
            </a:avLst>
          </a:prstGeom>
          <a:solidFill>
            <a:srgbClr val="4F46E5"/>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2029968"/>
            <a:ext cx="3383279" cy="274320"/>
          </a:xfrm>
          <a:prstGeom prst="rect">
            <a:avLst/>
          </a:prstGeom>
          <a:noFill/>
        </p:spPr>
        <p:txBody>
          <a:bodyPr wrap="square" lIns="0" rIns="0" tIns="0" bIns="0">
            <a:spAutoFit/>
          </a:bodyPr>
          <a:lstStyle/>
          <a:p>
            <a:pPr algn="l"/>
            <a:r>
              <a:rPr sz="1100" b="1" spc="120">
                <a:solidFill>
                  <a:srgbClr val="E0E7FF"/>
                </a:solidFill>
                <a:latin typeface="Inter"/>
              </a:rPr>
              <a:t>COMPASS ON AMD</a:t>
            </a:r>
          </a:p>
        </p:txBody>
      </p:sp>
      <p:sp>
        <p:nvSpPr>
          <p:cNvPr id="12" name="TextBox 11"/>
          <p:cNvSpPr txBox="1"/>
          <p:nvPr/>
        </p:nvSpPr>
        <p:spPr>
          <a:xfrm>
            <a:off x="4389120" y="2340864"/>
            <a:ext cx="3383279" cy="635000"/>
          </a:xfrm>
          <a:prstGeom prst="rect">
            <a:avLst/>
          </a:prstGeom>
          <a:noFill/>
        </p:spPr>
        <p:txBody>
          <a:bodyPr wrap="square" lIns="0" rIns="0" tIns="0" bIns="0">
            <a:spAutoFit/>
          </a:bodyPr>
          <a:lstStyle/>
          <a:p>
            <a:pPr algn="l"/>
            <a:r>
              <a:rPr sz="4000" b="1">
                <a:solidFill>
                  <a:srgbClr val="FFFFFF"/>
                </a:solidFill>
                <a:latin typeface="Inter"/>
              </a:rPr>
              <a:t>110</a:t>
            </a:r>
          </a:p>
        </p:txBody>
      </p:sp>
      <p:sp>
        <p:nvSpPr>
          <p:cNvPr id="13" name="TextBox 12"/>
          <p:cNvSpPr txBox="1"/>
          <p:nvPr/>
        </p:nvSpPr>
        <p:spPr>
          <a:xfrm>
            <a:off x="4389120" y="3046984"/>
            <a:ext cx="3383279" cy="1783080"/>
          </a:xfrm>
          <a:prstGeom prst="rect">
            <a:avLst/>
          </a:prstGeom>
          <a:noFill/>
        </p:spPr>
        <p:txBody>
          <a:bodyPr wrap="square" lIns="0" rIns="0" tIns="0" bIns="0">
            <a:spAutoFit/>
          </a:bodyPr>
          <a:lstStyle/>
          <a:p>
            <a:pPr algn="l"/>
            <a:r>
              <a:rPr sz="1400" b="0">
                <a:solidFill>
                  <a:srgbClr val="E0E7FF"/>
                </a:solidFill>
                <a:latin typeface="Inter"/>
              </a:rPr>
              <a:t>similar cases, 87% success · Engr370, 0.5 min away</a:t>
            </a:r>
          </a:p>
        </p:txBody>
      </p:sp>
      <p:sp>
        <p:nvSpPr>
          <p:cNvPr id="14" name="Rounded Rectangle 13"/>
          <p:cNvSpPr/>
          <p:nvPr/>
        </p:nvSpPr>
        <p:spPr>
          <a:xfrm>
            <a:off x="8321040" y="1828800"/>
            <a:ext cx="3291840" cy="1783080"/>
          </a:xfrm>
          <a:prstGeom prst="roundRect">
            <a:avLst>
              <a:gd name="adj" fmla="val 7179"/>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9640" y="2011680"/>
            <a:ext cx="2834640" cy="320040"/>
          </a:xfrm>
          <a:prstGeom prst="rect">
            <a:avLst/>
          </a:prstGeom>
          <a:noFill/>
        </p:spPr>
        <p:txBody>
          <a:bodyPr wrap="square" lIns="0" rIns="0" tIns="0" bIns="0">
            <a:spAutoFit/>
          </a:bodyPr>
          <a:lstStyle/>
          <a:p>
            <a:pPr algn="l"/>
            <a:r>
              <a:rPr sz="1600" b="1">
                <a:solidFill>
                  <a:srgbClr val="111827"/>
                </a:solidFill>
                <a:latin typeface="Inter"/>
              </a:rPr>
              <a:t>4× the record</a:t>
            </a:r>
          </a:p>
        </p:txBody>
      </p:sp>
      <p:sp>
        <p:nvSpPr>
          <p:cNvPr id="16" name="TextBox 15"/>
          <p:cNvSpPr txBox="1"/>
          <p:nvPr/>
        </p:nvSpPr>
        <p:spPr>
          <a:xfrm>
            <a:off x="8549640" y="2377440"/>
            <a:ext cx="2834640" cy="1234440"/>
          </a:xfrm>
          <a:prstGeom prst="rect">
            <a:avLst/>
          </a:prstGeom>
          <a:noFill/>
        </p:spPr>
        <p:txBody>
          <a:bodyPr wrap="square" lIns="0" rIns="0" tIns="0" bIns="0">
            <a:spAutoFit/>
          </a:bodyPr>
          <a:lstStyle/>
          <a:p>
            <a:pPr algn="l"/>
            <a:r>
              <a:rPr sz="1300" b="0">
                <a:solidFill>
                  <a:srgbClr val="475467"/>
                </a:solidFill>
                <a:latin typeface="Inter"/>
              </a:rPr>
              <a:t>Same half-minute trip. The offer went out automatically; central command could override it.</a:t>
            </a:r>
          </a:p>
        </p:txBody>
      </p:sp>
      <p:pic>
        <p:nvPicPr>
          <p:cNvPr id="17" name="Picture 16" descr="compass-record.png"/>
          <p:cNvPicPr>
            <a:picLocks noChangeAspect="1"/>
          </p:cNvPicPr>
          <p:nvPr/>
        </p:nvPicPr>
        <p:blipFill>
          <a:blip r:embed="rId3"/>
          <a:stretch>
            <a:fillRect/>
          </a:stretch>
        </p:blipFill>
        <p:spPr>
          <a:xfrm>
            <a:off x="978408" y="3886200"/>
            <a:ext cx="10241280" cy="2236012"/>
          </a:xfrm>
          <a:prstGeom prst="roundRect">
            <a:avLst>
              <a:gd name="adj" fmla="val 3271"/>
            </a:avLst>
          </a:prstGeom>
          <a:ln w="9525">
            <a:solidFill>
              <a:srgbClr val="D0D5DD"/>
            </a:solidFill>
          </a:ln>
          <a:effectLst>
            <a:outerShdw blurRad="203200" dist="38100" dir="5400000" algn="t" rotWithShape="0">
              <a:srgbClr val="1E1B4B">
                <a:alpha val="13000"/>
              </a:srgbClr>
            </a:outerShdw>
          </a:effectLst>
        </p:spPr>
      </p:pic>
      <p:sp>
        <p:nvSpPr>
          <p:cNvPr id="18" name="TextBox 17"/>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LIVE CAPTURE</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The right fix</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Same record: Compass ranks the troubleshooting procedures for the observed symptom</a:t>
            </a:r>
          </a:p>
        </p:txBody>
      </p:sp>
      <p:sp>
        <p:nvSpPr>
          <p:cNvPr id="6" name="Rounded Rectangle 5"/>
          <p:cNvSpPr/>
          <p:nvPr/>
        </p:nvSpPr>
        <p:spPr>
          <a:xfrm>
            <a:off x="548640" y="1828800"/>
            <a:ext cx="4023360" cy="1463040"/>
          </a:xfrm>
          <a:prstGeom prst="roundRect">
            <a:avLst>
              <a:gd name="adj" fmla="val 8750"/>
            </a:avLst>
          </a:prstGeom>
          <a:solidFill>
            <a:srgbClr val="4F46E5"/>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029968"/>
            <a:ext cx="3474720" cy="635000"/>
          </a:xfrm>
          <a:prstGeom prst="rect">
            <a:avLst/>
          </a:prstGeom>
          <a:noFill/>
        </p:spPr>
        <p:txBody>
          <a:bodyPr wrap="square" lIns="0" rIns="0" tIns="0" bIns="0">
            <a:spAutoFit/>
          </a:bodyPr>
          <a:lstStyle/>
          <a:p>
            <a:pPr algn="l"/>
            <a:r>
              <a:rPr sz="4000" b="1">
                <a:solidFill>
                  <a:srgbClr val="FFFFFF"/>
                </a:solidFill>
                <a:latin typeface="Inter"/>
              </a:rPr>
              <a:t>7.0 min</a:t>
            </a:r>
          </a:p>
        </p:txBody>
      </p:sp>
      <p:sp>
        <p:nvSpPr>
          <p:cNvPr id="8" name="TextBox 7"/>
          <p:cNvSpPr txBox="1"/>
          <p:nvPr/>
        </p:nvSpPr>
        <p:spPr>
          <a:xfrm>
            <a:off x="822959" y="2736088"/>
            <a:ext cx="3474720" cy="1463040"/>
          </a:xfrm>
          <a:prstGeom prst="rect">
            <a:avLst/>
          </a:prstGeom>
          <a:noFill/>
        </p:spPr>
        <p:txBody>
          <a:bodyPr wrap="square" lIns="0" rIns="0" tIns="0" bIns="0">
            <a:spAutoFit/>
          </a:bodyPr>
          <a:lstStyle/>
          <a:p>
            <a:pPr algn="l"/>
            <a:r>
              <a:rPr sz="1400" b="0">
                <a:solidFill>
                  <a:srgbClr val="E0E7FF"/>
                </a:solidFill>
                <a:latin typeface="Inter"/>
              </a:rPr>
              <a:t>fixed first time with the top-ranked procedure</a:t>
            </a:r>
          </a:p>
        </p:txBody>
      </p:sp>
      <p:sp>
        <p:nvSpPr>
          <p:cNvPr id="9" name="Oval 8"/>
          <p:cNvSpPr/>
          <p:nvPr/>
        </p:nvSpPr>
        <p:spPr>
          <a:xfrm>
            <a:off x="548640" y="356616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694874"/>
            <a:ext cx="457200" cy="457200"/>
          </a:xfrm>
          <a:prstGeom prst="rect">
            <a:avLst/>
          </a:prstGeom>
          <a:noFill/>
        </p:spPr>
        <p:txBody>
          <a:bodyPr wrap="square" lIns="0" rIns="0" tIns="0" bIns="0">
            <a:spAutoFit/>
          </a:bodyPr>
          <a:lstStyle/>
          <a:p>
            <a:pPr algn="ctr"/>
            <a:r>
              <a:rPr sz="1300" b="1">
                <a:solidFill>
                  <a:srgbClr val="FFFFFF"/>
                </a:solidFill>
                <a:latin typeface="Inter"/>
              </a:rPr>
              <a:t>01</a:t>
            </a:r>
          </a:p>
        </p:txBody>
      </p:sp>
      <p:sp>
        <p:nvSpPr>
          <p:cNvPr id="11" name="TextBox 10"/>
          <p:cNvSpPr txBox="1"/>
          <p:nvPr/>
        </p:nvSpPr>
        <p:spPr>
          <a:xfrm>
            <a:off x="1207007" y="3621024"/>
            <a:ext cx="3364992" cy="457200"/>
          </a:xfrm>
          <a:prstGeom prst="rect">
            <a:avLst/>
          </a:prstGeom>
          <a:noFill/>
        </p:spPr>
        <p:txBody>
          <a:bodyPr wrap="square" lIns="0" rIns="0" tIns="0" bIns="0">
            <a:spAutoFit/>
          </a:bodyPr>
          <a:lstStyle/>
          <a:p>
            <a:pPr algn="l"/>
            <a:r>
              <a:rPr sz="1600" b="1">
                <a:solidFill>
                  <a:srgbClr val="111827"/>
                </a:solidFill>
                <a:latin typeface="Inter"/>
              </a:rPr>
              <a:t>Evidence from code</a:t>
            </a:r>
          </a:p>
        </p:txBody>
      </p:sp>
      <p:sp>
        <p:nvSpPr>
          <p:cNvPr id="12" name="TextBox 11"/>
          <p:cNvSpPr txBox="1"/>
          <p:nvPr/>
        </p:nvSpPr>
        <p:spPr>
          <a:xfrm>
            <a:off x="1207007" y="3940047"/>
            <a:ext cx="3364992" cy="457200"/>
          </a:xfrm>
          <a:prstGeom prst="rect">
            <a:avLst/>
          </a:prstGeom>
          <a:noFill/>
        </p:spPr>
        <p:txBody>
          <a:bodyPr wrap="square" lIns="0" rIns="0" tIns="0" bIns="0">
            <a:spAutoFit/>
          </a:bodyPr>
          <a:lstStyle/>
          <a:p>
            <a:pPr algn="l"/>
            <a:r>
              <a:rPr sz="1400" b="0">
                <a:solidFill>
                  <a:srgbClr val="475467"/>
                </a:solidFill>
                <a:latin typeface="Inter"/>
              </a:rPr>
              <a:t>Procedures and observed success.</a:t>
            </a:r>
          </a:p>
        </p:txBody>
      </p:sp>
      <p:sp>
        <p:nvSpPr>
          <p:cNvPr id="13" name="Oval 12"/>
          <p:cNvSpPr/>
          <p:nvPr/>
        </p:nvSpPr>
        <p:spPr>
          <a:xfrm>
            <a:off x="548640" y="44348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563554"/>
            <a:ext cx="457200" cy="457200"/>
          </a:xfrm>
          <a:prstGeom prst="rect">
            <a:avLst/>
          </a:prstGeom>
          <a:noFill/>
        </p:spPr>
        <p:txBody>
          <a:bodyPr wrap="square" lIns="0" rIns="0" tIns="0" bIns="0">
            <a:spAutoFit/>
          </a:bodyPr>
          <a:lstStyle/>
          <a:p>
            <a:pPr algn="ctr"/>
            <a:r>
              <a:rPr sz="1300" b="1">
                <a:solidFill>
                  <a:srgbClr val="FFFFFF"/>
                </a:solidFill>
                <a:latin typeface="Inter"/>
              </a:rPr>
              <a:t>02</a:t>
            </a:r>
          </a:p>
        </p:txBody>
      </p:sp>
      <p:sp>
        <p:nvSpPr>
          <p:cNvPr id="15" name="TextBox 14"/>
          <p:cNvSpPr txBox="1"/>
          <p:nvPr/>
        </p:nvSpPr>
        <p:spPr>
          <a:xfrm>
            <a:off x="1207007" y="4489703"/>
            <a:ext cx="3364992" cy="457200"/>
          </a:xfrm>
          <a:prstGeom prst="rect">
            <a:avLst/>
          </a:prstGeom>
          <a:noFill/>
        </p:spPr>
        <p:txBody>
          <a:bodyPr wrap="square" lIns="0" rIns="0" tIns="0" bIns="0">
            <a:spAutoFit/>
          </a:bodyPr>
          <a:lstStyle/>
          <a:p>
            <a:pPr algn="l"/>
            <a:r>
              <a:rPr sz="1600" b="1">
                <a:solidFill>
                  <a:srgbClr val="111827"/>
                </a:solidFill>
                <a:latin typeface="Inter"/>
              </a:rPr>
              <a:t>Compass ranks</a:t>
            </a:r>
          </a:p>
        </p:txBody>
      </p:sp>
      <p:sp>
        <p:nvSpPr>
          <p:cNvPr id="16" name="TextBox 15"/>
          <p:cNvSpPr txBox="1"/>
          <p:nvPr/>
        </p:nvSpPr>
        <p:spPr>
          <a:xfrm>
            <a:off x="1207007" y="4808728"/>
            <a:ext cx="3364992" cy="457200"/>
          </a:xfrm>
          <a:prstGeom prst="rect">
            <a:avLst/>
          </a:prstGeom>
          <a:noFill/>
        </p:spPr>
        <p:txBody>
          <a:bodyPr wrap="square" lIns="0" rIns="0" tIns="0" bIns="0">
            <a:spAutoFit/>
          </a:bodyPr>
          <a:lstStyle/>
          <a:p>
            <a:pPr algn="l"/>
            <a:r>
              <a:rPr sz="1400" b="0">
                <a:solidFill>
                  <a:srgbClr val="475467"/>
                </a:solidFill>
                <a:latin typeface="Inter"/>
              </a:rPr>
              <a:t>Mechanical alignment came first.</a:t>
            </a:r>
          </a:p>
        </p:txBody>
      </p:sp>
      <p:sp>
        <p:nvSpPr>
          <p:cNvPr id="17" name="Oval 16"/>
          <p:cNvSpPr/>
          <p:nvPr/>
        </p:nvSpPr>
        <p:spPr>
          <a:xfrm>
            <a:off x="548640" y="530352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432234"/>
            <a:ext cx="457200" cy="457200"/>
          </a:xfrm>
          <a:prstGeom prst="rect">
            <a:avLst/>
          </a:prstGeom>
          <a:noFill/>
        </p:spPr>
        <p:txBody>
          <a:bodyPr wrap="square" lIns="0" rIns="0" tIns="0" bIns="0">
            <a:spAutoFit/>
          </a:bodyPr>
          <a:lstStyle/>
          <a:p>
            <a:pPr algn="ctr"/>
            <a:r>
              <a:rPr sz="1300" b="1">
                <a:solidFill>
                  <a:srgbClr val="FFFFFF"/>
                </a:solidFill>
                <a:latin typeface="Inter"/>
              </a:rPr>
              <a:t>03</a:t>
            </a:r>
          </a:p>
        </p:txBody>
      </p:sp>
      <p:sp>
        <p:nvSpPr>
          <p:cNvPr id="19" name="TextBox 18"/>
          <p:cNvSpPr txBox="1"/>
          <p:nvPr/>
        </p:nvSpPr>
        <p:spPr>
          <a:xfrm>
            <a:off x="1207007" y="5358383"/>
            <a:ext cx="3364992" cy="457200"/>
          </a:xfrm>
          <a:prstGeom prst="rect">
            <a:avLst/>
          </a:prstGeom>
          <a:noFill/>
        </p:spPr>
        <p:txBody>
          <a:bodyPr wrap="square" lIns="0" rIns="0" tIns="0" bIns="0">
            <a:spAutoFit/>
          </a:bodyPr>
          <a:lstStyle/>
          <a:p>
            <a:pPr algn="l"/>
            <a:r>
              <a:rPr sz="1600" b="1">
                <a:solidFill>
                  <a:srgbClr val="111827"/>
                </a:solidFill>
                <a:latin typeface="Inter"/>
              </a:rPr>
              <a:t>Fail, then next</a:t>
            </a:r>
          </a:p>
        </p:txBody>
      </p:sp>
      <p:sp>
        <p:nvSpPr>
          <p:cNvPr id="20" name="TextBox 19"/>
          <p:cNvSpPr txBox="1"/>
          <p:nvPr/>
        </p:nvSpPr>
        <p:spPr>
          <a:xfrm>
            <a:off x="1207007" y="5677408"/>
            <a:ext cx="3364992" cy="457200"/>
          </a:xfrm>
          <a:prstGeom prst="rect">
            <a:avLst/>
          </a:prstGeom>
          <a:noFill/>
        </p:spPr>
        <p:txBody>
          <a:bodyPr wrap="square" lIns="0" rIns="0" tIns="0" bIns="0">
            <a:spAutoFit/>
          </a:bodyPr>
          <a:lstStyle/>
          <a:p>
            <a:pPr algn="l"/>
            <a:r>
              <a:rPr sz="1400" b="0">
                <a:solidFill>
                  <a:srgbClr val="475467"/>
                </a:solidFill>
                <a:latin typeface="Inter"/>
              </a:rPr>
              <a:t>A failed attempt reopens the issue.</a:t>
            </a:r>
          </a:p>
        </p:txBody>
      </p:sp>
      <p:pic>
        <p:nvPicPr>
          <p:cNvPr id="21" name="Picture 20" descr="fix-record.png"/>
          <p:cNvPicPr>
            <a:picLocks noChangeAspect="1"/>
          </p:cNvPicPr>
          <p:nvPr/>
        </p:nvPicPr>
        <p:blipFill>
          <a:blip r:embed="rId3"/>
          <a:stretch>
            <a:fillRect/>
          </a:stretch>
        </p:blipFill>
        <p:spPr>
          <a:xfrm>
            <a:off x="4892040" y="1828800"/>
            <a:ext cx="6720840" cy="3052381"/>
          </a:xfrm>
          <a:prstGeom prst="roundRect">
            <a:avLst>
              <a:gd name="adj" fmla="val 2396"/>
            </a:avLst>
          </a:prstGeom>
          <a:ln w="9525">
            <a:solidFill>
              <a:srgbClr val="D0D5DD"/>
            </a:solidFill>
          </a:ln>
          <a:effectLst>
            <a:outerShdw blurRad="203200" dist="38100" dir="5400000" algn="t" rotWithShape="0">
              <a:srgbClr val="1E1B4B">
                <a:alpha val="13000"/>
              </a:srgbClr>
            </a:outerShdw>
          </a:effectLst>
        </p:spPr>
      </p:pic>
      <p:sp>
        <p:nvSpPr>
          <p:cNvPr id="22" name="Rounded Rectangle 21"/>
          <p:cNvSpPr/>
          <p:nvPr/>
        </p:nvSpPr>
        <p:spPr>
          <a:xfrm>
            <a:off x="4892040" y="5120640"/>
            <a:ext cx="6720840" cy="960120"/>
          </a:xfrm>
          <a:prstGeom prst="roundRect">
            <a:avLst>
              <a:gd name="adj" fmla="val 13333"/>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5248655"/>
            <a:ext cx="6263640" cy="320040"/>
          </a:xfrm>
          <a:prstGeom prst="rect">
            <a:avLst/>
          </a:prstGeom>
          <a:noFill/>
        </p:spPr>
        <p:txBody>
          <a:bodyPr wrap="square" lIns="0" rIns="0" tIns="0" bIns="0">
            <a:spAutoFit/>
          </a:bodyPr>
          <a:lstStyle/>
          <a:p>
            <a:pPr algn="l"/>
            <a:r>
              <a:rPr sz="1500" b="1">
                <a:solidFill>
                  <a:srgbClr val="111827"/>
                </a:solidFill>
                <a:latin typeface="Inter"/>
              </a:rPr>
              <a:t>Agrees with the baseline</a:t>
            </a:r>
          </a:p>
        </p:txBody>
      </p:sp>
      <p:sp>
        <p:nvSpPr>
          <p:cNvPr id="24" name="TextBox 23"/>
          <p:cNvSpPr txBox="1"/>
          <p:nvPr/>
        </p:nvSpPr>
        <p:spPr>
          <a:xfrm>
            <a:off x="5120640" y="5504688"/>
            <a:ext cx="6263640" cy="576072"/>
          </a:xfrm>
          <a:prstGeom prst="rect">
            <a:avLst/>
          </a:prstGeom>
          <a:noFill/>
        </p:spPr>
        <p:txBody>
          <a:bodyPr wrap="square" lIns="0" rIns="0" tIns="0" bIns="0">
            <a:spAutoFit/>
          </a:bodyPr>
          <a:lstStyle/>
          <a:p>
            <a:pPr algn="l"/>
            <a:r>
              <a:rPr sz="1300" b="0">
                <a:solidFill>
                  <a:srgbClr val="475467"/>
                </a:solidFill>
                <a:latin typeface="Inter"/>
              </a:rPr>
              <a:t>The most common fix for this symptom also came first; disagreements are recorded.</a:t>
            </a:r>
          </a:p>
        </p:txBody>
      </p:sp>
      <p:sp>
        <p:nvSpPr>
          <p:cNvPr id="25" name="TextBox 24"/>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STAFFING</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Overtime, decided by people</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Nothing changes until central command approves; unanswered recommendations expire.</a:t>
            </a:r>
          </a:p>
        </p:txBody>
      </p:sp>
      <p:sp>
        <p:nvSpPr>
          <p:cNvPr id="6" name="Pentagon 5"/>
          <p:cNvSpPr/>
          <p:nvPr/>
        </p:nvSpPr>
        <p:spPr>
          <a:xfrm>
            <a:off x="548640" y="1810512"/>
            <a:ext cx="2898648" cy="658368"/>
          </a:xfrm>
          <a:prstGeom prst="homePlate">
            <a:avLst>
              <a:gd name="adj" fmla="val 30000"/>
            </a:avLst>
          </a:prstGeom>
          <a:solidFill>
            <a:srgbClr val="EE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7"/>
            <a:ext cx="2212848" cy="274320"/>
          </a:xfrm>
          <a:prstGeom prst="rect">
            <a:avLst/>
          </a:prstGeom>
          <a:noFill/>
        </p:spPr>
        <p:txBody>
          <a:bodyPr wrap="square" lIns="0" rIns="0" tIns="0" bIns="0">
            <a:spAutoFit/>
          </a:bodyPr>
          <a:lstStyle/>
          <a:p>
            <a:pPr algn="ctr"/>
            <a:r>
              <a:rPr sz="1500" b="1">
                <a:solidFill>
                  <a:srgbClr val="111827"/>
                </a:solidFill>
                <a:latin typeface="Inter"/>
              </a:rPr>
              <a:t>Backlog review</a:t>
            </a:r>
          </a:p>
        </p:txBody>
      </p:sp>
      <p:sp>
        <p:nvSpPr>
          <p:cNvPr id="8" name="Chevron 7"/>
          <p:cNvSpPr/>
          <p:nvPr/>
        </p:nvSpPr>
        <p:spPr>
          <a:xfrm>
            <a:off x="3282696" y="1810512"/>
            <a:ext cx="2898648" cy="658368"/>
          </a:xfrm>
          <a:prstGeom prst="chevron">
            <a:avLst>
              <a:gd name="adj" fmla="val 30000"/>
            </a:avLst>
          </a:prstGeom>
          <a:solidFill>
            <a:srgbClr val="EE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8456" y="2029967"/>
            <a:ext cx="2212848" cy="274320"/>
          </a:xfrm>
          <a:prstGeom prst="rect">
            <a:avLst/>
          </a:prstGeom>
          <a:noFill/>
        </p:spPr>
        <p:txBody>
          <a:bodyPr wrap="square" lIns="0" rIns="0" tIns="0" bIns="0">
            <a:spAutoFit/>
          </a:bodyPr>
          <a:lstStyle/>
          <a:p>
            <a:pPr algn="ctr"/>
            <a:r>
              <a:rPr sz="1500" b="1">
                <a:solidFill>
                  <a:srgbClr val="111827"/>
                </a:solidFill>
                <a:latin typeface="Inter"/>
              </a:rPr>
              <a:t>Lawful options only</a:t>
            </a:r>
          </a:p>
        </p:txBody>
      </p:sp>
      <p:sp>
        <p:nvSpPr>
          <p:cNvPr id="10" name="Chevron 9"/>
          <p:cNvSpPr/>
          <p:nvPr/>
        </p:nvSpPr>
        <p:spPr>
          <a:xfrm>
            <a:off x="6016751" y="1810512"/>
            <a:ext cx="2898648" cy="658368"/>
          </a:xfrm>
          <a:prstGeom prst="chevron">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2029967"/>
            <a:ext cx="2212848" cy="274320"/>
          </a:xfrm>
          <a:prstGeom prst="rect">
            <a:avLst/>
          </a:prstGeom>
          <a:noFill/>
        </p:spPr>
        <p:txBody>
          <a:bodyPr wrap="square" lIns="0" rIns="0" tIns="0" bIns="0">
            <a:spAutoFit/>
          </a:bodyPr>
          <a:lstStyle/>
          <a:p>
            <a:pPr algn="ctr"/>
            <a:r>
              <a:rPr sz="1500" b="1">
                <a:solidFill>
                  <a:srgbClr val="FFFFFF"/>
                </a:solidFill>
                <a:latin typeface="Inter"/>
              </a:rPr>
              <a:t>Compass ranks</a:t>
            </a:r>
          </a:p>
        </p:txBody>
      </p:sp>
      <p:sp>
        <p:nvSpPr>
          <p:cNvPr id="12" name="Chevron 11"/>
          <p:cNvSpPr/>
          <p:nvPr/>
        </p:nvSpPr>
        <p:spPr>
          <a:xfrm>
            <a:off x="8750807" y="1810512"/>
            <a:ext cx="2898648" cy="658368"/>
          </a:xfrm>
          <a:prstGeom prst="chevron">
            <a:avLst>
              <a:gd name="adj" fmla="val 30000"/>
            </a:avLst>
          </a:prstGeom>
          <a:solidFill>
            <a:srgbClr val="FFF7ED"/>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16567" y="2029967"/>
            <a:ext cx="2212848" cy="274320"/>
          </a:xfrm>
          <a:prstGeom prst="rect">
            <a:avLst/>
          </a:prstGeom>
          <a:noFill/>
        </p:spPr>
        <p:txBody>
          <a:bodyPr wrap="square" lIns="0" rIns="0" tIns="0" bIns="0">
            <a:spAutoFit/>
          </a:bodyPr>
          <a:lstStyle/>
          <a:p>
            <a:pPr algn="ctr"/>
            <a:r>
              <a:rPr sz="1500" b="1">
                <a:solidFill>
                  <a:srgbClr val="111827"/>
                </a:solidFill>
                <a:latin typeface="Inter"/>
              </a:rPr>
              <a:t>Command approves</a:t>
            </a:r>
          </a:p>
        </p:txBody>
      </p:sp>
      <p:sp>
        <p:nvSpPr>
          <p:cNvPr id="14" name="Oval 13"/>
          <p:cNvSpPr/>
          <p:nvPr/>
        </p:nvSpPr>
        <p:spPr>
          <a:xfrm>
            <a:off x="548640" y="292608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054794"/>
            <a:ext cx="457200" cy="457200"/>
          </a:xfrm>
          <a:prstGeom prst="rect">
            <a:avLst/>
          </a:prstGeom>
          <a:noFill/>
        </p:spPr>
        <p:txBody>
          <a:bodyPr wrap="square" lIns="0" rIns="0" tIns="0" bIns="0">
            <a:spAutoFit/>
          </a:bodyPr>
          <a:lstStyle/>
          <a:p>
            <a:pPr algn="ctr"/>
            <a:r>
              <a:rPr sz="1300" b="1">
                <a:solidFill>
                  <a:srgbClr val="FFFFFF"/>
                </a:solidFill>
                <a:latin typeface="Inter"/>
              </a:rPr>
              <a:t>01</a:t>
            </a:r>
          </a:p>
        </p:txBody>
      </p:sp>
      <p:sp>
        <p:nvSpPr>
          <p:cNvPr id="16" name="TextBox 15"/>
          <p:cNvSpPr txBox="1"/>
          <p:nvPr/>
        </p:nvSpPr>
        <p:spPr>
          <a:xfrm>
            <a:off x="1207007" y="2980944"/>
            <a:ext cx="4736592" cy="457200"/>
          </a:xfrm>
          <a:prstGeom prst="rect">
            <a:avLst/>
          </a:prstGeom>
          <a:noFill/>
        </p:spPr>
        <p:txBody>
          <a:bodyPr wrap="square" lIns="0" rIns="0" tIns="0" bIns="0">
            <a:spAutoFit/>
          </a:bodyPr>
          <a:lstStyle/>
          <a:p>
            <a:pPr algn="l"/>
            <a:r>
              <a:rPr sz="1600" b="1">
                <a:solidFill>
                  <a:srgbClr val="111827"/>
                </a:solidFill>
                <a:latin typeface="Inter"/>
              </a:rPr>
              <a:t>Legal limits first</a:t>
            </a:r>
          </a:p>
        </p:txBody>
      </p:sp>
      <p:sp>
        <p:nvSpPr>
          <p:cNvPr id="17" name="TextBox 16"/>
          <p:cNvSpPr txBox="1"/>
          <p:nvPr/>
        </p:nvSpPr>
        <p:spPr>
          <a:xfrm>
            <a:off x="1207007" y="3299968"/>
            <a:ext cx="4736592" cy="457200"/>
          </a:xfrm>
          <a:prstGeom prst="rect">
            <a:avLst/>
          </a:prstGeom>
          <a:noFill/>
        </p:spPr>
        <p:txBody>
          <a:bodyPr wrap="square" lIns="0" rIns="0" tIns="0" bIns="0">
            <a:spAutoFit/>
          </a:bodyPr>
          <a:lstStyle/>
          <a:p>
            <a:pPr algn="l"/>
            <a:r>
              <a:rPr sz="1400" b="0">
                <a:solidFill>
                  <a:srgbClr val="475467"/>
                </a:solidFill>
                <a:latin typeface="Inter"/>
              </a:rPr>
              <a:t>16 h duty, 12 h rest and the staffing cap, checked in code.</a:t>
            </a:r>
          </a:p>
        </p:txBody>
      </p:sp>
      <p:sp>
        <p:nvSpPr>
          <p:cNvPr id="18" name="Oval 17"/>
          <p:cNvSpPr/>
          <p:nvPr/>
        </p:nvSpPr>
        <p:spPr>
          <a:xfrm>
            <a:off x="548640" y="3977639"/>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106354"/>
            <a:ext cx="457200" cy="457200"/>
          </a:xfrm>
          <a:prstGeom prst="rect">
            <a:avLst/>
          </a:prstGeom>
          <a:noFill/>
        </p:spPr>
        <p:txBody>
          <a:bodyPr wrap="square" lIns="0" rIns="0" tIns="0" bIns="0">
            <a:spAutoFit/>
          </a:bodyPr>
          <a:lstStyle/>
          <a:p>
            <a:pPr algn="ctr"/>
            <a:r>
              <a:rPr sz="1300" b="1">
                <a:solidFill>
                  <a:srgbClr val="FFFFFF"/>
                </a:solidFill>
                <a:latin typeface="Inter"/>
              </a:rPr>
              <a:t>02</a:t>
            </a:r>
          </a:p>
        </p:txBody>
      </p:sp>
      <p:sp>
        <p:nvSpPr>
          <p:cNvPr id="20" name="TextBox 19"/>
          <p:cNvSpPr txBox="1"/>
          <p:nvPr/>
        </p:nvSpPr>
        <p:spPr>
          <a:xfrm>
            <a:off x="1207007" y="4032503"/>
            <a:ext cx="4736592" cy="457200"/>
          </a:xfrm>
          <a:prstGeom prst="rect">
            <a:avLst/>
          </a:prstGeom>
          <a:noFill/>
        </p:spPr>
        <p:txBody>
          <a:bodyPr wrap="square" lIns="0" rIns="0" tIns="0" bIns="0">
            <a:spAutoFit/>
          </a:bodyPr>
          <a:lstStyle/>
          <a:p>
            <a:pPr algn="l"/>
            <a:r>
              <a:rPr sz="1600" b="1">
                <a:solidFill>
                  <a:srgbClr val="111827"/>
                </a:solidFill>
                <a:latin typeface="Inter"/>
              </a:rPr>
              <a:t>Ranked by coverage</a:t>
            </a:r>
          </a:p>
        </p:txBody>
      </p:sp>
      <p:sp>
        <p:nvSpPr>
          <p:cNvPr id="21" name="TextBox 20"/>
          <p:cNvSpPr txBox="1"/>
          <p:nvPr/>
        </p:nvSpPr>
        <p:spPr>
          <a:xfrm>
            <a:off x="1207007" y="4351528"/>
            <a:ext cx="4736592" cy="457200"/>
          </a:xfrm>
          <a:prstGeom prst="rect">
            <a:avLst/>
          </a:prstGeom>
          <a:noFill/>
        </p:spPr>
        <p:txBody>
          <a:bodyPr wrap="square" lIns="0" rIns="0" tIns="0" bIns="0">
            <a:spAutoFit/>
          </a:bodyPr>
          <a:lstStyle/>
          <a:p>
            <a:pPr algn="l"/>
            <a:r>
              <a:rPr sz="1400" b="0">
                <a:solidFill>
                  <a:srgbClr val="475467"/>
                </a:solidFill>
                <a:latin typeface="Inter"/>
              </a:rPr>
              <a:t>Observed coverage of the backlog; first-eligible is the baseline.</a:t>
            </a:r>
          </a:p>
        </p:txBody>
      </p:sp>
      <p:sp>
        <p:nvSpPr>
          <p:cNvPr id="22" name="Oval 21"/>
          <p:cNvSpPr/>
          <p:nvPr/>
        </p:nvSpPr>
        <p:spPr>
          <a:xfrm>
            <a:off x="548640" y="502920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157914"/>
            <a:ext cx="457200" cy="457200"/>
          </a:xfrm>
          <a:prstGeom prst="rect">
            <a:avLst/>
          </a:prstGeom>
          <a:noFill/>
        </p:spPr>
        <p:txBody>
          <a:bodyPr wrap="square" lIns="0" rIns="0" tIns="0" bIns="0">
            <a:spAutoFit/>
          </a:bodyPr>
          <a:lstStyle/>
          <a:p>
            <a:pPr algn="ctr"/>
            <a:r>
              <a:rPr sz="1300" b="1">
                <a:solidFill>
                  <a:srgbClr val="FFFFFF"/>
                </a:solidFill>
                <a:latin typeface="Inter"/>
              </a:rPr>
              <a:t>03</a:t>
            </a:r>
          </a:p>
        </p:txBody>
      </p:sp>
      <p:sp>
        <p:nvSpPr>
          <p:cNvPr id="24" name="TextBox 23"/>
          <p:cNvSpPr txBox="1"/>
          <p:nvPr/>
        </p:nvSpPr>
        <p:spPr>
          <a:xfrm>
            <a:off x="1207007" y="5084064"/>
            <a:ext cx="4736592" cy="457200"/>
          </a:xfrm>
          <a:prstGeom prst="rect">
            <a:avLst/>
          </a:prstGeom>
          <a:noFill/>
        </p:spPr>
        <p:txBody>
          <a:bodyPr wrap="square" lIns="0" rIns="0" tIns="0" bIns="0">
            <a:spAutoFit/>
          </a:bodyPr>
          <a:lstStyle/>
          <a:p>
            <a:pPr algn="l"/>
            <a:r>
              <a:rPr sz="1600" b="1">
                <a:solidFill>
                  <a:srgbClr val="111827"/>
                </a:solidFill>
                <a:latin typeface="Inter"/>
              </a:rPr>
              <a:t>Audited decisions</a:t>
            </a:r>
          </a:p>
        </p:txBody>
      </p:sp>
      <p:sp>
        <p:nvSpPr>
          <p:cNvPr id="25" name="TextBox 24"/>
          <p:cNvSpPr txBox="1"/>
          <p:nvPr/>
        </p:nvSpPr>
        <p:spPr>
          <a:xfrm>
            <a:off x="1207007" y="5403088"/>
            <a:ext cx="4736592" cy="457200"/>
          </a:xfrm>
          <a:prstGeom prst="rect">
            <a:avLst/>
          </a:prstGeom>
          <a:noFill/>
        </p:spPr>
        <p:txBody>
          <a:bodyPr wrap="square" lIns="0" rIns="0" tIns="0" bIns="0">
            <a:spAutoFit/>
          </a:bodyPr>
          <a:lstStyle/>
          <a:p>
            <a:pPr algn="l"/>
            <a:r>
              <a:rPr sz="1400" b="0">
                <a:solidFill>
                  <a:srgbClr val="475467"/>
                </a:solidFill>
                <a:latin typeface="Inter"/>
              </a:rPr>
              <a:t>Every approval or rejection, and who made it, is recorded.</a:t>
            </a:r>
          </a:p>
        </p:txBody>
      </p:sp>
      <p:pic>
        <p:nvPicPr>
          <p:cNvPr id="26" name="Picture 25" descr="staffing.png"/>
          <p:cNvPicPr>
            <a:picLocks noChangeAspect="1"/>
          </p:cNvPicPr>
          <p:nvPr/>
        </p:nvPicPr>
        <p:blipFill>
          <a:blip r:embed="rId3"/>
          <a:stretch>
            <a:fillRect/>
          </a:stretch>
        </p:blipFill>
        <p:spPr>
          <a:xfrm>
            <a:off x="6446520" y="2788920"/>
            <a:ext cx="5232293" cy="3291840"/>
          </a:xfrm>
          <a:prstGeom prst="roundRect">
            <a:avLst>
              <a:gd name="adj" fmla="val 2222"/>
            </a:avLst>
          </a:prstGeom>
          <a:ln w="9525">
            <a:solidFill>
              <a:srgbClr val="D0D5DD"/>
            </a:solidFill>
          </a:ln>
          <a:effectLst>
            <a:outerShdw blurRad="203200" dist="38100" dir="5400000" algn="t" rotWithShape="0">
              <a:srgbClr val="1E1B4B">
                <a:alpha val="13000"/>
              </a:srgbClr>
            </a:outerShdw>
          </a:effectLst>
        </p:spPr>
      </p:pic>
      <p:sp>
        <p:nvSpPr>
          <p:cNvPr id="27" name="TextBox 26"/>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ISSUE PARETO</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Where the downtime comes from</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Issue class → observed symptom → applied fix, or floor → station</a:t>
            </a:r>
          </a:p>
        </p:txBody>
      </p:sp>
      <p:pic>
        <p:nvPicPr>
          <p:cNvPr id="6" name="Picture 5" descr="screen-pareto.png"/>
          <p:cNvPicPr>
            <a:picLocks noChangeAspect="1"/>
          </p:cNvPicPr>
          <p:nvPr/>
        </p:nvPicPr>
        <p:blipFill>
          <a:blip r:embed="rId3"/>
          <a:stretch>
            <a:fillRect/>
          </a:stretch>
        </p:blipFill>
        <p:spPr>
          <a:xfrm>
            <a:off x="548640" y="1828800"/>
            <a:ext cx="7498079" cy="4217669"/>
          </a:xfrm>
          <a:prstGeom prst="roundRect">
            <a:avLst>
              <a:gd name="adj" fmla="val 1734"/>
            </a:avLst>
          </a:prstGeom>
          <a:ln w="9525">
            <a:solidFill>
              <a:srgbClr val="D0D5DD"/>
            </a:solidFill>
          </a:ln>
          <a:effectLst>
            <a:outerShdw blurRad="203200" dist="38100" dir="5400000" algn="t" rotWithShape="0">
              <a:srgbClr val="1E1B4B">
                <a:alpha val="13000"/>
              </a:srgbClr>
            </a:outerShdw>
          </a:effectLst>
        </p:spPr>
      </p:pic>
      <p:sp>
        <p:nvSpPr>
          <p:cNvPr id="7" name="Rounded Rectangle 6"/>
          <p:cNvSpPr/>
          <p:nvPr/>
        </p:nvSpPr>
        <p:spPr>
          <a:xfrm>
            <a:off x="8321040" y="1828800"/>
            <a:ext cx="3291840" cy="950976"/>
          </a:xfrm>
          <a:prstGeom prst="roundRect">
            <a:avLst>
              <a:gd name="adj" fmla="val 13461"/>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49640" y="1956816"/>
            <a:ext cx="2834640" cy="320040"/>
          </a:xfrm>
          <a:prstGeom prst="rect">
            <a:avLst/>
          </a:prstGeom>
          <a:noFill/>
        </p:spPr>
        <p:txBody>
          <a:bodyPr wrap="square" lIns="0" rIns="0" tIns="0" bIns="0">
            <a:spAutoFit/>
          </a:bodyPr>
          <a:lstStyle/>
          <a:p>
            <a:pPr algn="l"/>
            <a:r>
              <a:rPr sz="1500" b="1">
                <a:solidFill>
                  <a:srgbClr val="111827"/>
                </a:solidFill>
                <a:latin typeface="Inter"/>
              </a:rPr>
              <a:t>Three measures</a:t>
            </a:r>
          </a:p>
        </p:txBody>
      </p:sp>
      <p:sp>
        <p:nvSpPr>
          <p:cNvPr id="9" name="TextBox 8"/>
          <p:cNvSpPr txBox="1"/>
          <p:nvPr/>
        </p:nvSpPr>
        <p:spPr>
          <a:xfrm>
            <a:off x="8549640" y="2212848"/>
            <a:ext cx="2834640" cy="566928"/>
          </a:xfrm>
          <a:prstGeom prst="rect">
            <a:avLst/>
          </a:prstGeom>
          <a:noFill/>
        </p:spPr>
        <p:txBody>
          <a:bodyPr wrap="square" lIns="0" rIns="0" tIns="0" bIns="0">
            <a:spAutoFit/>
          </a:bodyPr>
          <a:lstStyle/>
          <a:p>
            <a:pPr algn="l"/>
            <a:r>
              <a:rPr sz="1300" b="0">
                <a:solidFill>
                  <a:srgbClr val="475467"/>
                </a:solidFill>
                <a:latin typeface="Inter"/>
              </a:rPr>
              <a:t>Issues, downtime or failed attempts, by day, week or month.</a:t>
            </a:r>
          </a:p>
        </p:txBody>
      </p:sp>
      <p:sp>
        <p:nvSpPr>
          <p:cNvPr id="10" name="Rounded Rectangle 9"/>
          <p:cNvSpPr/>
          <p:nvPr/>
        </p:nvSpPr>
        <p:spPr>
          <a:xfrm>
            <a:off x="8321040" y="2907791"/>
            <a:ext cx="3291840" cy="950976"/>
          </a:xfrm>
          <a:prstGeom prst="roundRect">
            <a:avLst>
              <a:gd name="adj" fmla="val 13461"/>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49640" y="3035808"/>
            <a:ext cx="2834640" cy="320040"/>
          </a:xfrm>
          <a:prstGeom prst="rect">
            <a:avLst/>
          </a:prstGeom>
          <a:noFill/>
        </p:spPr>
        <p:txBody>
          <a:bodyPr wrap="square" lIns="0" rIns="0" tIns="0" bIns="0">
            <a:spAutoFit/>
          </a:bodyPr>
          <a:lstStyle/>
          <a:p>
            <a:pPr algn="l"/>
            <a:r>
              <a:rPr sz="1500" b="1">
                <a:solidFill>
                  <a:srgbClr val="111827"/>
                </a:solidFill>
                <a:latin typeface="Inter"/>
              </a:rPr>
              <a:t>The vital few</a:t>
            </a:r>
          </a:p>
        </p:txBody>
      </p:sp>
      <p:sp>
        <p:nvSpPr>
          <p:cNvPr id="12" name="TextBox 11"/>
          <p:cNvSpPr txBox="1"/>
          <p:nvPr/>
        </p:nvSpPr>
        <p:spPr>
          <a:xfrm>
            <a:off x="8549640" y="3291839"/>
            <a:ext cx="2834640" cy="566928"/>
          </a:xfrm>
          <a:prstGeom prst="rect">
            <a:avLst/>
          </a:prstGeom>
          <a:noFill/>
        </p:spPr>
        <p:txBody>
          <a:bodyPr wrap="square" lIns="0" rIns="0" tIns="0" bIns="0">
            <a:spAutoFit/>
          </a:bodyPr>
          <a:lstStyle/>
          <a:p>
            <a:pPr algn="l"/>
            <a:r>
              <a:rPr sz="1300" b="0">
                <a:solidFill>
                  <a:srgbClr val="475467"/>
                </a:solidFill>
                <a:latin typeface="Inter"/>
              </a:rPr>
              <a:t>Sorted bars, cumulative line and an 80% marker.</a:t>
            </a:r>
          </a:p>
        </p:txBody>
      </p:sp>
      <p:sp>
        <p:nvSpPr>
          <p:cNvPr id="13" name="Rounded Rectangle 12"/>
          <p:cNvSpPr/>
          <p:nvPr/>
        </p:nvSpPr>
        <p:spPr>
          <a:xfrm>
            <a:off x="8321040" y="3986783"/>
            <a:ext cx="3291840" cy="950976"/>
          </a:xfrm>
          <a:prstGeom prst="roundRect">
            <a:avLst>
              <a:gd name="adj" fmla="val 13461"/>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4114799"/>
            <a:ext cx="2834640" cy="320040"/>
          </a:xfrm>
          <a:prstGeom prst="rect">
            <a:avLst/>
          </a:prstGeom>
          <a:noFill/>
        </p:spPr>
        <p:txBody>
          <a:bodyPr wrap="square" lIns="0" rIns="0" tIns="0" bIns="0">
            <a:spAutoFit/>
          </a:bodyPr>
          <a:lstStyle/>
          <a:p>
            <a:pPr algn="l"/>
            <a:r>
              <a:rPr sz="1500" b="1">
                <a:solidFill>
                  <a:srgbClr val="111827"/>
                </a:solidFill>
                <a:latin typeface="Inter"/>
              </a:rPr>
              <a:t>Drill down</a:t>
            </a:r>
          </a:p>
        </p:txBody>
      </p:sp>
      <p:sp>
        <p:nvSpPr>
          <p:cNvPr id="15" name="TextBox 14"/>
          <p:cNvSpPr txBox="1"/>
          <p:nvPr/>
        </p:nvSpPr>
        <p:spPr>
          <a:xfrm>
            <a:off x="8549640" y="4370831"/>
            <a:ext cx="2834640" cy="566928"/>
          </a:xfrm>
          <a:prstGeom prst="rect">
            <a:avLst/>
          </a:prstGeom>
          <a:noFill/>
        </p:spPr>
        <p:txBody>
          <a:bodyPr wrap="square" lIns="0" rIns="0" tIns="0" bIns="0">
            <a:spAutoFit/>
          </a:bodyPr>
          <a:lstStyle/>
          <a:p>
            <a:pPr algn="l"/>
            <a:r>
              <a:rPr sz="1300" b="0">
                <a:solidFill>
                  <a:srgbClr val="475467"/>
                </a:solidFill>
                <a:latin typeface="Inter"/>
              </a:rPr>
              <a:t>Class to symptom to the fix that was applied.</a:t>
            </a:r>
          </a:p>
        </p:txBody>
      </p:sp>
      <p:sp>
        <p:nvSpPr>
          <p:cNvPr id="16" name="Rounded Rectangle 15"/>
          <p:cNvSpPr/>
          <p:nvPr/>
        </p:nvSpPr>
        <p:spPr>
          <a:xfrm>
            <a:off x="8321040" y="5065776"/>
            <a:ext cx="3291840" cy="950976"/>
          </a:xfrm>
          <a:prstGeom prst="roundRect">
            <a:avLst>
              <a:gd name="adj" fmla="val 13461"/>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5193792"/>
            <a:ext cx="2834640" cy="320040"/>
          </a:xfrm>
          <a:prstGeom prst="rect">
            <a:avLst/>
          </a:prstGeom>
          <a:noFill/>
        </p:spPr>
        <p:txBody>
          <a:bodyPr wrap="square" lIns="0" rIns="0" tIns="0" bIns="0">
            <a:spAutoFit/>
          </a:bodyPr>
          <a:lstStyle/>
          <a:p>
            <a:pPr algn="l"/>
            <a:r>
              <a:rPr sz="1500" b="1">
                <a:solidFill>
                  <a:srgbClr val="111827"/>
                </a:solidFill>
                <a:latin typeface="Inter"/>
              </a:rPr>
              <a:t>Public records only</a:t>
            </a:r>
          </a:p>
        </p:txBody>
      </p:sp>
      <p:sp>
        <p:nvSpPr>
          <p:cNvPr id="18" name="TextBox 17"/>
          <p:cNvSpPr txBox="1"/>
          <p:nvPr/>
        </p:nvSpPr>
        <p:spPr>
          <a:xfrm>
            <a:off x="8549640" y="5449824"/>
            <a:ext cx="2834640" cy="566928"/>
          </a:xfrm>
          <a:prstGeom prst="rect">
            <a:avLst/>
          </a:prstGeom>
          <a:noFill/>
        </p:spPr>
        <p:txBody>
          <a:bodyPr wrap="square" lIns="0" rIns="0" tIns="0" bIns="0">
            <a:spAutoFit/>
          </a:bodyPr>
          <a:lstStyle/>
          <a:p>
            <a:pPr algn="l"/>
            <a:r>
              <a:rPr sz="1300" b="0">
                <a:solidFill>
                  <a:srgbClr val="475467"/>
                </a:solidFill>
                <a:latin typeface="Inter"/>
              </a:rPr>
              <a:t>Hidden causes are never used.</a:t>
            </a:r>
          </a:p>
        </p:txBody>
      </p:sp>
      <p:sp>
        <p:nvSpPr>
          <p:cNvPr id="19" name="TextBox 18"/>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RESULTS</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A month of operations</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e8-aura-p1, simulated 1 September to 6 October</a:t>
            </a:r>
          </a:p>
        </p:txBody>
      </p:sp>
      <p:sp>
        <p:nvSpPr>
          <p:cNvPr id="6" name="Rounded Rectangle 5"/>
          <p:cNvSpPr/>
          <p:nvPr/>
        </p:nvSpPr>
        <p:spPr>
          <a:xfrm>
            <a:off x="548640" y="1783080"/>
            <a:ext cx="3502152" cy="1463040"/>
          </a:xfrm>
          <a:prstGeom prst="roundRect">
            <a:avLst>
              <a:gd name="adj" fmla="val 8750"/>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984248"/>
            <a:ext cx="2953512" cy="635000"/>
          </a:xfrm>
          <a:prstGeom prst="rect">
            <a:avLst/>
          </a:prstGeom>
          <a:noFill/>
        </p:spPr>
        <p:txBody>
          <a:bodyPr wrap="square" lIns="0" rIns="0" tIns="0" bIns="0">
            <a:spAutoFit/>
          </a:bodyPr>
          <a:lstStyle/>
          <a:p>
            <a:pPr algn="l"/>
            <a:r>
              <a:rPr sz="4000" b="1">
                <a:solidFill>
                  <a:srgbClr val="4F46E5"/>
                </a:solidFill>
                <a:latin typeface="Inter"/>
              </a:rPr>
              <a:t>3,512</a:t>
            </a:r>
          </a:p>
        </p:txBody>
      </p:sp>
      <p:sp>
        <p:nvSpPr>
          <p:cNvPr id="8" name="TextBox 7"/>
          <p:cNvSpPr txBox="1"/>
          <p:nvPr/>
        </p:nvSpPr>
        <p:spPr>
          <a:xfrm>
            <a:off x="822959" y="2690368"/>
            <a:ext cx="2953512" cy="1463040"/>
          </a:xfrm>
          <a:prstGeom prst="rect">
            <a:avLst/>
          </a:prstGeom>
          <a:noFill/>
        </p:spPr>
        <p:txBody>
          <a:bodyPr wrap="square" lIns="0" rIns="0" tIns="0" bIns="0">
            <a:spAutoFit/>
          </a:bodyPr>
          <a:lstStyle/>
          <a:p>
            <a:pPr algn="l"/>
            <a:r>
              <a:rPr sz="1400" b="0">
                <a:solidFill>
                  <a:srgbClr val="475467"/>
                </a:solidFill>
                <a:latin typeface="Inter"/>
              </a:rPr>
              <a:t>issues in the month-long history</a:t>
            </a:r>
          </a:p>
        </p:txBody>
      </p:sp>
      <p:sp>
        <p:nvSpPr>
          <p:cNvPr id="9" name="Rounded Rectangle 8"/>
          <p:cNvSpPr/>
          <p:nvPr/>
        </p:nvSpPr>
        <p:spPr>
          <a:xfrm>
            <a:off x="4329684" y="1783080"/>
            <a:ext cx="3502152" cy="1463040"/>
          </a:xfrm>
          <a:prstGeom prst="roundRect">
            <a:avLst>
              <a:gd name="adj" fmla="val 8750"/>
            </a:avLst>
          </a:prstGeom>
          <a:solidFill>
            <a:srgbClr val="4F46E5"/>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4004" y="1984248"/>
            <a:ext cx="2953512" cy="635000"/>
          </a:xfrm>
          <a:prstGeom prst="rect">
            <a:avLst/>
          </a:prstGeom>
          <a:noFill/>
        </p:spPr>
        <p:txBody>
          <a:bodyPr wrap="square" lIns="0" rIns="0" tIns="0" bIns="0">
            <a:spAutoFit/>
          </a:bodyPr>
          <a:lstStyle/>
          <a:p>
            <a:pPr algn="l"/>
            <a:r>
              <a:rPr sz="4000" b="1">
                <a:solidFill>
                  <a:srgbClr val="FFFFFF"/>
                </a:solidFill>
                <a:latin typeface="Inter"/>
              </a:rPr>
              <a:t>73.5%</a:t>
            </a:r>
          </a:p>
        </p:txBody>
      </p:sp>
      <p:sp>
        <p:nvSpPr>
          <p:cNvPr id="11" name="TextBox 10"/>
          <p:cNvSpPr txBox="1"/>
          <p:nvPr/>
        </p:nvSpPr>
        <p:spPr>
          <a:xfrm>
            <a:off x="4604004" y="2690368"/>
            <a:ext cx="2953512" cy="1463040"/>
          </a:xfrm>
          <a:prstGeom prst="rect">
            <a:avLst/>
          </a:prstGeom>
          <a:noFill/>
        </p:spPr>
        <p:txBody>
          <a:bodyPr wrap="square" lIns="0" rIns="0" tIns="0" bIns="0">
            <a:spAutoFit/>
          </a:bodyPr>
          <a:lstStyle/>
          <a:p>
            <a:pPr algn="l"/>
            <a:r>
              <a:rPr sz="1400" b="0">
                <a:solidFill>
                  <a:srgbClr val="E0E7FF"/>
                </a:solidFill>
                <a:latin typeface="Inter"/>
              </a:rPr>
              <a:t>first-time fix in September (1,858 of 2,527)</a:t>
            </a:r>
          </a:p>
        </p:txBody>
      </p:sp>
      <p:sp>
        <p:nvSpPr>
          <p:cNvPr id="12" name="Rounded Rectangle 11"/>
          <p:cNvSpPr/>
          <p:nvPr/>
        </p:nvSpPr>
        <p:spPr>
          <a:xfrm>
            <a:off x="8110727" y="1783080"/>
            <a:ext cx="3502152" cy="1463040"/>
          </a:xfrm>
          <a:prstGeom prst="roundRect">
            <a:avLst>
              <a:gd name="adj" fmla="val 8750"/>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5048" y="1984248"/>
            <a:ext cx="2953512" cy="539750"/>
          </a:xfrm>
          <a:prstGeom prst="rect">
            <a:avLst/>
          </a:prstGeom>
          <a:noFill/>
        </p:spPr>
        <p:txBody>
          <a:bodyPr wrap="square" lIns="0" rIns="0" tIns="0" bIns="0">
            <a:spAutoFit/>
          </a:bodyPr>
          <a:lstStyle/>
          <a:p>
            <a:pPr algn="l"/>
            <a:r>
              <a:rPr sz="3400" b="1">
                <a:solidFill>
                  <a:srgbClr val="4F46E5"/>
                </a:solidFill>
                <a:latin typeface="Inter"/>
              </a:rPr>
              <a:t>2,966 / 2,985</a:t>
            </a:r>
          </a:p>
        </p:txBody>
      </p:sp>
      <p:sp>
        <p:nvSpPr>
          <p:cNvPr id="14" name="TextBox 13"/>
          <p:cNvSpPr txBox="1"/>
          <p:nvPr/>
        </p:nvSpPr>
        <p:spPr>
          <a:xfrm>
            <a:off x="8385048" y="2598166"/>
            <a:ext cx="2953512" cy="1463040"/>
          </a:xfrm>
          <a:prstGeom prst="rect">
            <a:avLst/>
          </a:prstGeom>
          <a:noFill/>
        </p:spPr>
        <p:txBody>
          <a:bodyPr wrap="square" lIns="0" rIns="0" tIns="0" bIns="0">
            <a:spAutoFit/>
          </a:bodyPr>
          <a:lstStyle/>
          <a:p>
            <a:pPr algn="l"/>
            <a:r>
              <a:rPr sz="1400" b="0">
                <a:solidFill>
                  <a:srgbClr val="475467"/>
                </a:solidFill>
                <a:latin typeface="Inter"/>
              </a:rPr>
              <a:t>issues raised / resolved in September</a:t>
            </a:r>
          </a:p>
        </p:txBody>
      </p:sp>
      <p:sp>
        <p:nvSpPr>
          <p:cNvPr id="15" name="Rounded Rectangle 14"/>
          <p:cNvSpPr/>
          <p:nvPr/>
        </p:nvSpPr>
        <p:spPr>
          <a:xfrm>
            <a:off x="548640" y="3474720"/>
            <a:ext cx="7178040" cy="2651760"/>
          </a:xfrm>
          <a:prstGeom prst="roundRect">
            <a:avLst>
              <a:gd name="adj" fmla="val 4827"/>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3675887"/>
            <a:ext cx="6629400" cy="274320"/>
          </a:xfrm>
          <a:prstGeom prst="rect">
            <a:avLst/>
          </a:prstGeom>
          <a:noFill/>
        </p:spPr>
        <p:txBody>
          <a:bodyPr wrap="square" lIns="0" rIns="0" tIns="0" bIns="0">
            <a:spAutoFit/>
          </a:bodyPr>
          <a:lstStyle/>
          <a:p>
            <a:pPr algn="l"/>
            <a:r>
              <a:rPr sz="1600" b="1">
                <a:solidFill>
                  <a:srgbClr val="111827"/>
                </a:solidFill>
                <a:latin typeface="Inter"/>
              </a:rPr>
              <a:t>First-time fix by week, September</a:t>
            </a:r>
          </a:p>
        </p:txBody>
      </p:sp>
      <p:sp>
        <p:nvSpPr>
          <p:cNvPr id="17" name="TextBox 16"/>
          <p:cNvSpPr txBox="1"/>
          <p:nvPr/>
        </p:nvSpPr>
        <p:spPr>
          <a:xfrm>
            <a:off x="822959" y="3986783"/>
            <a:ext cx="6629400" cy="274320"/>
          </a:xfrm>
          <a:prstGeom prst="rect">
            <a:avLst/>
          </a:prstGeom>
          <a:noFill/>
        </p:spPr>
        <p:txBody>
          <a:bodyPr wrap="square" lIns="0" rIns="0" tIns="0" bIns="0">
            <a:spAutoFit/>
          </a:bodyPr>
          <a:lstStyle/>
          <a:p>
            <a:pPr algn="l"/>
            <a:r>
              <a:rPr sz="1300" b="0">
                <a:solidFill>
                  <a:srgbClr val="475467"/>
                </a:solidFill>
                <a:latin typeface="Inter"/>
              </a:rPr>
              <a:t>Rose, then dipped: not a steady climb. Bars on a full 0–100% track.</a:t>
            </a:r>
          </a:p>
        </p:txBody>
      </p:sp>
      <p:sp>
        <p:nvSpPr>
          <p:cNvPr id="18" name="Rounded Rectangle 17"/>
          <p:cNvSpPr/>
          <p:nvPr/>
        </p:nvSpPr>
        <p:spPr>
          <a:xfrm>
            <a:off x="1217294" y="4389120"/>
            <a:ext cx="868680" cy="1280159"/>
          </a:xfrm>
          <a:prstGeom prst="roundRect">
            <a:avLst>
              <a:gd name="adj" fmla="val 6315"/>
            </a:avLst>
          </a:prstGeom>
          <a:solidFill>
            <a:srgbClr val="EE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217294" y="4810292"/>
            <a:ext cx="868680" cy="858987"/>
          </a:xfrm>
          <a:prstGeom prst="roundRect">
            <a:avLst>
              <a:gd name="adj" fmla="val 6387"/>
            </a:avLst>
          </a:prstGeom>
          <a:solidFill>
            <a:srgbClr val="A5B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4414" y="4901732"/>
            <a:ext cx="1234440" cy="274320"/>
          </a:xfrm>
          <a:prstGeom prst="rect">
            <a:avLst/>
          </a:prstGeom>
          <a:noFill/>
        </p:spPr>
        <p:txBody>
          <a:bodyPr wrap="square" lIns="0" rIns="0" tIns="0" bIns="0">
            <a:spAutoFit/>
          </a:bodyPr>
          <a:lstStyle/>
          <a:p>
            <a:pPr algn="ctr"/>
            <a:r>
              <a:rPr sz="1300" b="1">
                <a:solidFill>
                  <a:srgbClr val="FFFFFF"/>
                </a:solidFill>
                <a:latin typeface="Inter"/>
              </a:rPr>
              <a:t>67.1%</a:t>
            </a:r>
          </a:p>
        </p:txBody>
      </p:sp>
      <p:sp>
        <p:nvSpPr>
          <p:cNvPr id="21" name="TextBox 20"/>
          <p:cNvSpPr txBox="1"/>
          <p:nvPr/>
        </p:nvSpPr>
        <p:spPr>
          <a:xfrm>
            <a:off x="1034414" y="5760719"/>
            <a:ext cx="1234440" cy="274320"/>
          </a:xfrm>
          <a:prstGeom prst="rect">
            <a:avLst/>
          </a:prstGeom>
          <a:noFill/>
        </p:spPr>
        <p:txBody>
          <a:bodyPr wrap="square" lIns="0" rIns="0" tIns="0" bIns="0">
            <a:spAutoFit/>
          </a:bodyPr>
          <a:lstStyle/>
          <a:p>
            <a:pPr algn="ctr"/>
            <a:r>
              <a:rPr sz="1200" b="0">
                <a:solidFill>
                  <a:srgbClr val="475467"/>
                </a:solidFill>
                <a:latin typeface="Inter"/>
              </a:rPr>
              <a:t>Week 1</a:t>
            </a:r>
          </a:p>
        </p:txBody>
      </p:sp>
      <p:sp>
        <p:nvSpPr>
          <p:cNvPr id="22" name="Rounded Rectangle 21"/>
          <p:cNvSpPr/>
          <p:nvPr/>
        </p:nvSpPr>
        <p:spPr>
          <a:xfrm>
            <a:off x="2874645" y="4389120"/>
            <a:ext cx="868680" cy="1280159"/>
          </a:xfrm>
          <a:prstGeom prst="roundRect">
            <a:avLst>
              <a:gd name="adj" fmla="val 6315"/>
            </a:avLst>
          </a:prstGeom>
          <a:solidFill>
            <a:srgbClr val="EE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874645" y="4710440"/>
            <a:ext cx="868680" cy="958839"/>
          </a:xfrm>
          <a:prstGeom prst="roundRect">
            <a:avLst>
              <a:gd name="adj" fmla="val 6315"/>
            </a:avLst>
          </a:prstGeom>
          <a:solidFill>
            <a:srgbClr val="A5B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91764" y="4801880"/>
            <a:ext cx="1234440" cy="274320"/>
          </a:xfrm>
          <a:prstGeom prst="rect">
            <a:avLst/>
          </a:prstGeom>
          <a:noFill/>
        </p:spPr>
        <p:txBody>
          <a:bodyPr wrap="square" lIns="0" rIns="0" tIns="0" bIns="0">
            <a:spAutoFit/>
          </a:bodyPr>
          <a:lstStyle/>
          <a:p>
            <a:pPr algn="ctr"/>
            <a:r>
              <a:rPr sz="1300" b="1">
                <a:solidFill>
                  <a:srgbClr val="FFFFFF"/>
                </a:solidFill>
                <a:latin typeface="Inter"/>
              </a:rPr>
              <a:t>74.9%</a:t>
            </a:r>
          </a:p>
        </p:txBody>
      </p:sp>
      <p:sp>
        <p:nvSpPr>
          <p:cNvPr id="25" name="TextBox 24"/>
          <p:cNvSpPr txBox="1"/>
          <p:nvPr/>
        </p:nvSpPr>
        <p:spPr>
          <a:xfrm>
            <a:off x="2691764" y="5760719"/>
            <a:ext cx="1234440" cy="274320"/>
          </a:xfrm>
          <a:prstGeom prst="rect">
            <a:avLst/>
          </a:prstGeom>
          <a:noFill/>
        </p:spPr>
        <p:txBody>
          <a:bodyPr wrap="square" lIns="0" rIns="0" tIns="0" bIns="0">
            <a:spAutoFit/>
          </a:bodyPr>
          <a:lstStyle/>
          <a:p>
            <a:pPr algn="ctr"/>
            <a:r>
              <a:rPr sz="1200" b="0">
                <a:solidFill>
                  <a:srgbClr val="475467"/>
                </a:solidFill>
                <a:latin typeface="Inter"/>
              </a:rPr>
              <a:t>Week 2</a:t>
            </a:r>
          </a:p>
        </p:txBody>
      </p:sp>
      <p:sp>
        <p:nvSpPr>
          <p:cNvPr id="26" name="Rounded Rectangle 25"/>
          <p:cNvSpPr/>
          <p:nvPr/>
        </p:nvSpPr>
        <p:spPr>
          <a:xfrm>
            <a:off x="4531995" y="4389120"/>
            <a:ext cx="868680" cy="1280159"/>
          </a:xfrm>
          <a:prstGeom prst="roundRect">
            <a:avLst>
              <a:gd name="adj" fmla="val 6315"/>
            </a:avLst>
          </a:prstGeom>
          <a:solidFill>
            <a:srgbClr val="EE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531995" y="4689957"/>
            <a:ext cx="868680" cy="979322"/>
          </a:xfrm>
          <a:prstGeom prst="roundRect">
            <a:avLst>
              <a:gd name="adj" fmla="val 6315"/>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49115" y="4781397"/>
            <a:ext cx="1234440" cy="274320"/>
          </a:xfrm>
          <a:prstGeom prst="rect">
            <a:avLst/>
          </a:prstGeom>
          <a:noFill/>
        </p:spPr>
        <p:txBody>
          <a:bodyPr wrap="square" lIns="0" rIns="0" tIns="0" bIns="0">
            <a:spAutoFit/>
          </a:bodyPr>
          <a:lstStyle/>
          <a:p>
            <a:pPr algn="ctr"/>
            <a:r>
              <a:rPr sz="1300" b="1">
                <a:solidFill>
                  <a:srgbClr val="FFFFFF"/>
                </a:solidFill>
                <a:latin typeface="Inter"/>
              </a:rPr>
              <a:t>76.5%</a:t>
            </a:r>
          </a:p>
        </p:txBody>
      </p:sp>
      <p:sp>
        <p:nvSpPr>
          <p:cNvPr id="29" name="TextBox 28"/>
          <p:cNvSpPr txBox="1"/>
          <p:nvPr/>
        </p:nvSpPr>
        <p:spPr>
          <a:xfrm>
            <a:off x="4349115" y="5760719"/>
            <a:ext cx="1234440" cy="274320"/>
          </a:xfrm>
          <a:prstGeom prst="rect">
            <a:avLst/>
          </a:prstGeom>
          <a:noFill/>
        </p:spPr>
        <p:txBody>
          <a:bodyPr wrap="square" lIns="0" rIns="0" tIns="0" bIns="0">
            <a:spAutoFit/>
          </a:bodyPr>
          <a:lstStyle/>
          <a:p>
            <a:pPr algn="ctr"/>
            <a:r>
              <a:rPr sz="1200" b="0">
                <a:solidFill>
                  <a:srgbClr val="475467"/>
                </a:solidFill>
                <a:latin typeface="Inter"/>
              </a:rPr>
              <a:t>Week 3</a:t>
            </a:r>
          </a:p>
        </p:txBody>
      </p:sp>
      <p:sp>
        <p:nvSpPr>
          <p:cNvPr id="30" name="Rounded Rectangle 29"/>
          <p:cNvSpPr/>
          <p:nvPr/>
        </p:nvSpPr>
        <p:spPr>
          <a:xfrm>
            <a:off x="6189345" y="4389120"/>
            <a:ext cx="868680" cy="1280159"/>
          </a:xfrm>
          <a:prstGeom prst="roundRect">
            <a:avLst>
              <a:gd name="adj" fmla="val 6315"/>
            </a:avLst>
          </a:prstGeom>
          <a:solidFill>
            <a:srgbClr val="EE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89345" y="4701479"/>
            <a:ext cx="868680" cy="967800"/>
          </a:xfrm>
          <a:prstGeom prst="roundRect">
            <a:avLst>
              <a:gd name="adj" fmla="val 6315"/>
            </a:avLst>
          </a:prstGeom>
          <a:solidFill>
            <a:srgbClr val="A5B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06465" y="4792919"/>
            <a:ext cx="1234440" cy="274320"/>
          </a:xfrm>
          <a:prstGeom prst="rect">
            <a:avLst/>
          </a:prstGeom>
          <a:noFill/>
        </p:spPr>
        <p:txBody>
          <a:bodyPr wrap="square" lIns="0" rIns="0" tIns="0" bIns="0">
            <a:spAutoFit/>
          </a:bodyPr>
          <a:lstStyle/>
          <a:p>
            <a:pPr algn="ctr"/>
            <a:r>
              <a:rPr sz="1300" b="1">
                <a:solidFill>
                  <a:srgbClr val="FFFFFF"/>
                </a:solidFill>
                <a:latin typeface="Inter"/>
              </a:rPr>
              <a:t>75.6%</a:t>
            </a:r>
          </a:p>
        </p:txBody>
      </p:sp>
      <p:sp>
        <p:nvSpPr>
          <p:cNvPr id="33" name="TextBox 32"/>
          <p:cNvSpPr txBox="1"/>
          <p:nvPr/>
        </p:nvSpPr>
        <p:spPr>
          <a:xfrm>
            <a:off x="6006465" y="5760719"/>
            <a:ext cx="1234440" cy="274320"/>
          </a:xfrm>
          <a:prstGeom prst="rect">
            <a:avLst/>
          </a:prstGeom>
          <a:noFill/>
        </p:spPr>
        <p:txBody>
          <a:bodyPr wrap="square" lIns="0" rIns="0" tIns="0" bIns="0">
            <a:spAutoFit/>
          </a:bodyPr>
          <a:lstStyle/>
          <a:p>
            <a:pPr algn="ctr"/>
            <a:r>
              <a:rPr sz="1200" b="0">
                <a:solidFill>
                  <a:srgbClr val="475467"/>
                </a:solidFill>
                <a:latin typeface="Inter"/>
              </a:rPr>
              <a:t>Week 4</a:t>
            </a:r>
          </a:p>
        </p:txBody>
      </p:sp>
      <p:sp>
        <p:nvSpPr>
          <p:cNvPr id="34" name="Rounded Rectangle 33"/>
          <p:cNvSpPr/>
          <p:nvPr/>
        </p:nvSpPr>
        <p:spPr>
          <a:xfrm>
            <a:off x="8001000" y="3474720"/>
            <a:ext cx="3611880" cy="2651760"/>
          </a:xfrm>
          <a:prstGeom prst="roundRect">
            <a:avLst>
              <a:gd name="adj" fmla="val 4827"/>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3657600"/>
            <a:ext cx="3154680" cy="320040"/>
          </a:xfrm>
          <a:prstGeom prst="rect">
            <a:avLst/>
          </a:prstGeom>
          <a:noFill/>
        </p:spPr>
        <p:txBody>
          <a:bodyPr wrap="square" lIns="0" rIns="0" tIns="0" bIns="0">
            <a:spAutoFit/>
          </a:bodyPr>
          <a:lstStyle/>
          <a:p>
            <a:pPr algn="l"/>
            <a:r>
              <a:rPr sz="1600" b="1">
                <a:solidFill>
                  <a:srgbClr val="111827"/>
                </a:solidFill>
                <a:latin typeface="Inter"/>
              </a:rPr>
              <a:t>How it was made</a:t>
            </a:r>
          </a:p>
        </p:txBody>
      </p:sp>
      <p:sp>
        <p:nvSpPr>
          <p:cNvPr id="36" name="TextBox 35"/>
          <p:cNvSpPr txBox="1"/>
          <p:nvPr/>
        </p:nvSpPr>
        <p:spPr>
          <a:xfrm>
            <a:off x="8229600" y="4023359"/>
            <a:ext cx="3154680" cy="2103120"/>
          </a:xfrm>
          <a:prstGeom prst="rect">
            <a:avLst/>
          </a:prstGeom>
          <a:noFill/>
        </p:spPr>
        <p:txBody>
          <a:bodyPr wrap="square" lIns="0" rIns="0" tIns="0" bIns="0">
            <a:spAutoFit/>
          </a:bodyPr>
          <a:lstStyle/>
          <a:p>
            <a:pPr algn="l"/>
            <a:r>
              <a:rPr sz="1400" b="0">
                <a:solidFill>
                  <a:srgbClr val="475467"/>
                </a:solidFill>
                <a:latin typeface="Inter"/>
              </a:rPr>
              <a:t>Generated with the app's own engine, offline, with deterministic fallbacks. Every record is one the app would produce; it is not an AMD-only benchmark. Weeks start Monday 08:00 UTC.</a:t>
            </a:r>
          </a:p>
        </p:txBody>
      </p:sp>
      <p:sp>
        <p:nvSpPr>
          <p:cNvPr id="37" name="TextBox 36"/>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allpaper-sof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lIns="0" rIns="0" tIns="0" bIns="0">
            <a:spAutoFit/>
          </a:bodyPr>
          <a:lstStyle/>
          <a:p>
            <a:pPr algn="l"/>
            <a:r>
              <a:rPr sz="1200" b="1" spc="150">
                <a:solidFill>
                  <a:srgbClr val="4F46E5"/>
                </a:solidFill>
                <a:latin typeface="Inter"/>
              </a:rPr>
              <a:t>INFERENCE</a:t>
            </a:r>
          </a:p>
        </p:txBody>
      </p:sp>
      <p:sp>
        <p:nvSpPr>
          <p:cNvPr id="4" name="TextBox 3"/>
          <p:cNvSpPr txBox="1"/>
          <p:nvPr/>
        </p:nvSpPr>
        <p:spPr>
          <a:xfrm>
            <a:off x="548640" y="676656"/>
            <a:ext cx="11064240" cy="566928"/>
          </a:xfrm>
          <a:prstGeom prst="rect">
            <a:avLst/>
          </a:prstGeom>
          <a:noFill/>
        </p:spPr>
        <p:txBody>
          <a:bodyPr wrap="square" lIns="0" rIns="0" tIns="0" bIns="0">
            <a:spAutoFit/>
          </a:bodyPr>
          <a:lstStyle/>
          <a:p>
            <a:pPr algn="l"/>
            <a:r>
              <a:rPr sz="3200" b="1">
                <a:solidFill>
                  <a:srgbClr val="111827"/>
                </a:solidFill>
                <a:latin typeface="Inter"/>
              </a:rPr>
              <a:t>Built on AMD Token Factory</a:t>
            </a:r>
          </a:p>
        </p:txBody>
      </p:sp>
      <p:sp>
        <p:nvSpPr>
          <p:cNvPr id="5" name="TextBox 4"/>
          <p:cNvSpPr txBox="1"/>
          <p:nvPr/>
        </p:nvSpPr>
        <p:spPr>
          <a:xfrm>
            <a:off x="548640" y="1280160"/>
            <a:ext cx="11064240" cy="320040"/>
          </a:xfrm>
          <a:prstGeom prst="rect">
            <a:avLst/>
          </a:prstGeom>
          <a:noFill/>
        </p:spPr>
        <p:txBody>
          <a:bodyPr wrap="square" lIns="0" rIns="0" tIns="0" bIns="0">
            <a:spAutoFit/>
          </a:bodyPr>
          <a:lstStyle/>
          <a:p>
            <a:pPr algn="l"/>
            <a:r>
              <a:rPr sz="1500" b="0">
                <a:solidFill>
                  <a:srgbClr val="475467"/>
                </a:solidFill>
                <a:latin typeface="Inter"/>
              </a:rPr>
              <a:t>MiMo-V2.6-Flash ranks responders, fixes and overtime; the event planner can use another model.</a:t>
            </a:r>
          </a:p>
        </p:txBody>
      </p:sp>
      <p:sp>
        <p:nvSpPr>
          <p:cNvPr id="6" name="Rounded Rectangle 5"/>
          <p:cNvSpPr/>
          <p:nvPr/>
        </p:nvSpPr>
        <p:spPr>
          <a:xfrm>
            <a:off x="548640" y="1783080"/>
            <a:ext cx="3502152" cy="1463040"/>
          </a:xfrm>
          <a:prstGeom prst="roundRect">
            <a:avLst>
              <a:gd name="adj" fmla="val 8750"/>
            </a:avLst>
          </a:prstGeom>
          <a:solidFill>
            <a:srgbClr val="4F46E5"/>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984248"/>
            <a:ext cx="2953512" cy="635000"/>
          </a:xfrm>
          <a:prstGeom prst="rect">
            <a:avLst/>
          </a:prstGeom>
          <a:noFill/>
        </p:spPr>
        <p:txBody>
          <a:bodyPr wrap="square" lIns="0" rIns="0" tIns="0" bIns="0">
            <a:spAutoFit/>
          </a:bodyPr>
          <a:lstStyle/>
          <a:p>
            <a:pPr algn="l"/>
            <a:r>
              <a:rPr sz="4000" b="1">
                <a:solidFill>
                  <a:srgbClr val="FFFFFF"/>
                </a:solidFill>
                <a:latin typeface="Inter"/>
              </a:rPr>
              <a:t>9 / 10</a:t>
            </a:r>
          </a:p>
        </p:txBody>
      </p:sp>
      <p:sp>
        <p:nvSpPr>
          <p:cNvPr id="8" name="TextBox 7"/>
          <p:cNvSpPr txBox="1"/>
          <p:nvPr/>
        </p:nvSpPr>
        <p:spPr>
          <a:xfrm>
            <a:off x="822959" y="2690368"/>
            <a:ext cx="2953512" cy="1463040"/>
          </a:xfrm>
          <a:prstGeom prst="rect">
            <a:avLst/>
          </a:prstGeom>
          <a:noFill/>
        </p:spPr>
        <p:txBody>
          <a:bodyPr wrap="square" lIns="0" rIns="0" tIns="0" bIns="0">
            <a:spAutoFit/>
          </a:bodyPr>
          <a:lstStyle/>
          <a:p>
            <a:pPr algn="l"/>
            <a:r>
              <a:rPr sz="1400" b="0">
                <a:solidFill>
                  <a:srgbClr val="E0E7FF"/>
                </a:solidFill>
                <a:latin typeface="Inter"/>
              </a:rPr>
              <a:t>valid responder rankings in the recorded MiMo check</a:t>
            </a:r>
          </a:p>
        </p:txBody>
      </p:sp>
      <p:sp>
        <p:nvSpPr>
          <p:cNvPr id="9" name="Rounded Rectangle 8"/>
          <p:cNvSpPr/>
          <p:nvPr/>
        </p:nvSpPr>
        <p:spPr>
          <a:xfrm>
            <a:off x="4329684" y="1783080"/>
            <a:ext cx="3502152" cy="1463040"/>
          </a:xfrm>
          <a:prstGeom prst="roundRect">
            <a:avLst>
              <a:gd name="adj" fmla="val 8750"/>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4004" y="1984248"/>
            <a:ext cx="2953512" cy="635000"/>
          </a:xfrm>
          <a:prstGeom prst="rect">
            <a:avLst/>
          </a:prstGeom>
          <a:noFill/>
        </p:spPr>
        <p:txBody>
          <a:bodyPr wrap="square" lIns="0" rIns="0" tIns="0" bIns="0">
            <a:spAutoFit/>
          </a:bodyPr>
          <a:lstStyle/>
          <a:p>
            <a:pPr algn="l"/>
            <a:r>
              <a:rPr sz="4000" b="1">
                <a:solidFill>
                  <a:srgbClr val="4F46E5"/>
                </a:solidFill>
                <a:latin typeface="Inter"/>
              </a:rPr>
              <a:t>10 / 10</a:t>
            </a:r>
          </a:p>
        </p:txBody>
      </p:sp>
      <p:sp>
        <p:nvSpPr>
          <p:cNvPr id="11" name="TextBox 10"/>
          <p:cNvSpPr txBox="1"/>
          <p:nvPr/>
        </p:nvSpPr>
        <p:spPr>
          <a:xfrm>
            <a:off x="4604004" y="2690368"/>
            <a:ext cx="2953512" cy="1463040"/>
          </a:xfrm>
          <a:prstGeom prst="rect">
            <a:avLst/>
          </a:prstGeom>
          <a:noFill/>
        </p:spPr>
        <p:txBody>
          <a:bodyPr wrap="square" lIns="0" rIns="0" tIns="0" bIns="0">
            <a:spAutoFit/>
          </a:bodyPr>
          <a:lstStyle/>
          <a:p>
            <a:pPr algn="l"/>
            <a:r>
              <a:rPr sz="1400" b="0">
                <a:solidFill>
                  <a:srgbClr val="475467"/>
                </a:solidFill>
                <a:latin typeface="Inter"/>
              </a:rPr>
              <a:t>valid event plans in the same check</a:t>
            </a:r>
          </a:p>
        </p:txBody>
      </p:sp>
      <p:sp>
        <p:nvSpPr>
          <p:cNvPr id="12" name="Rounded Rectangle 11"/>
          <p:cNvSpPr/>
          <p:nvPr/>
        </p:nvSpPr>
        <p:spPr>
          <a:xfrm>
            <a:off x="8110727" y="1783080"/>
            <a:ext cx="3502152" cy="1463040"/>
          </a:xfrm>
          <a:prstGeom prst="roundRect">
            <a:avLst>
              <a:gd name="adj" fmla="val 8750"/>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5048" y="1984248"/>
            <a:ext cx="2953512" cy="635000"/>
          </a:xfrm>
          <a:prstGeom prst="rect">
            <a:avLst/>
          </a:prstGeom>
          <a:noFill/>
        </p:spPr>
        <p:txBody>
          <a:bodyPr wrap="square" lIns="0" rIns="0" tIns="0" bIns="0">
            <a:spAutoFit/>
          </a:bodyPr>
          <a:lstStyle/>
          <a:p>
            <a:pPr algn="l"/>
            <a:r>
              <a:rPr sz="4000" b="1">
                <a:solidFill>
                  <a:srgbClr val="4F46E5"/>
                </a:solidFill>
                <a:latin typeface="Inter"/>
              </a:rPr>
              <a:t>10 / min</a:t>
            </a:r>
          </a:p>
        </p:txBody>
      </p:sp>
      <p:sp>
        <p:nvSpPr>
          <p:cNvPr id="14" name="TextBox 13"/>
          <p:cNvSpPr txBox="1"/>
          <p:nvPr/>
        </p:nvSpPr>
        <p:spPr>
          <a:xfrm>
            <a:off x="8385048" y="2690368"/>
            <a:ext cx="2953512" cy="1463040"/>
          </a:xfrm>
          <a:prstGeom prst="rect">
            <a:avLst/>
          </a:prstGeom>
          <a:noFill/>
        </p:spPr>
        <p:txBody>
          <a:bodyPr wrap="square" lIns="0" rIns="0" tIns="0" bIns="0">
            <a:spAutoFit/>
          </a:bodyPr>
          <a:lstStyle/>
          <a:p>
            <a:pPr algn="l"/>
            <a:r>
              <a:rPr sz="1400" b="0">
                <a:solidFill>
                  <a:srgbClr val="475467"/>
                </a:solidFill>
                <a:latin typeface="Inter"/>
              </a:rPr>
              <a:t>local request budget, 2 concurrent</a:t>
            </a:r>
          </a:p>
        </p:txBody>
      </p:sp>
      <p:sp>
        <p:nvSpPr>
          <p:cNvPr id="15" name="Oval 14"/>
          <p:cNvSpPr/>
          <p:nvPr/>
        </p:nvSpPr>
        <p:spPr>
          <a:xfrm>
            <a:off x="548640" y="361188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40594"/>
            <a:ext cx="457200" cy="457200"/>
          </a:xfrm>
          <a:prstGeom prst="rect">
            <a:avLst/>
          </a:prstGeom>
          <a:noFill/>
        </p:spPr>
        <p:txBody>
          <a:bodyPr wrap="square" lIns="0" rIns="0" tIns="0" bIns="0">
            <a:spAutoFit/>
          </a:bodyPr>
          <a:lstStyle/>
          <a:p>
            <a:pPr algn="ctr"/>
            <a:r>
              <a:rPr sz="1300" b="1">
                <a:solidFill>
                  <a:srgbClr val="FFFFFF"/>
                </a:solidFill>
                <a:latin typeface="Inter"/>
              </a:rPr>
              <a:t>01</a:t>
            </a:r>
          </a:p>
        </p:txBody>
      </p:sp>
      <p:sp>
        <p:nvSpPr>
          <p:cNvPr id="17" name="TextBox 16"/>
          <p:cNvSpPr txBox="1"/>
          <p:nvPr/>
        </p:nvSpPr>
        <p:spPr>
          <a:xfrm>
            <a:off x="1207007" y="3666744"/>
            <a:ext cx="4462272" cy="457200"/>
          </a:xfrm>
          <a:prstGeom prst="rect">
            <a:avLst/>
          </a:prstGeom>
          <a:noFill/>
        </p:spPr>
        <p:txBody>
          <a:bodyPr wrap="square" lIns="0" rIns="0" tIns="0" bIns="0">
            <a:spAutoFit/>
          </a:bodyPr>
          <a:lstStyle/>
          <a:p>
            <a:pPr algn="l"/>
            <a:r>
              <a:rPr sz="1600" b="1">
                <a:solidFill>
                  <a:srgbClr val="111827"/>
                </a:solidFill>
                <a:latin typeface="Inter"/>
              </a:rPr>
              <a:t>Validators are the contract</a:t>
            </a:r>
          </a:p>
        </p:txBody>
      </p:sp>
      <p:sp>
        <p:nvSpPr>
          <p:cNvPr id="18" name="TextBox 17"/>
          <p:cNvSpPr txBox="1"/>
          <p:nvPr/>
        </p:nvSpPr>
        <p:spPr>
          <a:xfrm>
            <a:off x="1207007" y="3985768"/>
            <a:ext cx="4462272" cy="457200"/>
          </a:xfrm>
          <a:prstGeom prst="rect">
            <a:avLst/>
          </a:prstGeom>
          <a:noFill/>
        </p:spPr>
        <p:txBody>
          <a:bodyPr wrap="square" lIns="0" rIns="0" tIns="0" bIns="0">
            <a:spAutoFit/>
          </a:bodyPr>
          <a:lstStyle/>
          <a:p>
            <a:pPr algn="l"/>
            <a:r>
              <a:rPr sz="1400" b="0">
                <a:solidFill>
                  <a:srgbClr val="475467"/>
                </a:solidFill>
                <a:latin typeface="Inter"/>
              </a:rPr>
              <a:t>OpenAI-compatible JSON, checked by code.</a:t>
            </a:r>
          </a:p>
        </p:txBody>
      </p:sp>
      <p:sp>
        <p:nvSpPr>
          <p:cNvPr id="19" name="Oval 18"/>
          <p:cNvSpPr/>
          <p:nvPr/>
        </p:nvSpPr>
        <p:spPr>
          <a:xfrm>
            <a:off x="548640" y="448056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609274"/>
            <a:ext cx="457200" cy="457200"/>
          </a:xfrm>
          <a:prstGeom prst="rect">
            <a:avLst/>
          </a:prstGeom>
          <a:noFill/>
        </p:spPr>
        <p:txBody>
          <a:bodyPr wrap="square" lIns="0" rIns="0" tIns="0" bIns="0">
            <a:spAutoFit/>
          </a:bodyPr>
          <a:lstStyle/>
          <a:p>
            <a:pPr algn="ctr"/>
            <a:r>
              <a:rPr sz="1300" b="1">
                <a:solidFill>
                  <a:srgbClr val="FFFFFF"/>
                </a:solidFill>
                <a:latin typeface="Inter"/>
              </a:rPr>
              <a:t>02</a:t>
            </a:r>
          </a:p>
        </p:txBody>
      </p:sp>
      <p:sp>
        <p:nvSpPr>
          <p:cNvPr id="21" name="TextBox 20"/>
          <p:cNvSpPr txBox="1"/>
          <p:nvPr/>
        </p:nvSpPr>
        <p:spPr>
          <a:xfrm>
            <a:off x="1207007" y="4535424"/>
            <a:ext cx="4462272" cy="457200"/>
          </a:xfrm>
          <a:prstGeom prst="rect">
            <a:avLst/>
          </a:prstGeom>
          <a:noFill/>
        </p:spPr>
        <p:txBody>
          <a:bodyPr wrap="square" lIns="0" rIns="0" tIns="0" bIns="0">
            <a:spAutoFit/>
          </a:bodyPr>
          <a:lstStyle/>
          <a:p>
            <a:pPr algn="l"/>
            <a:r>
              <a:rPr sz="1600" b="1">
                <a:solidFill>
                  <a:srgbClr val="111827"/>
                </a:solidFill>
                <a:latin typeface="Inter"/>
              </a:rPr>
              <a:t>Bounded failure</a:t>
            </a:r>
          </a:p>
        </p:txBody>
      </p:sp>
      <p:sp>
        <p:nvSpPr>
          <p:cNvPr id="22" name="TextBox 21"/>
          <p:cNvSpPr txBox="1"/>
          <p:nvPr/>
        </p:nvSpPr>
        <p:spPr>
          <a:xfrm>
            <a:off x="1207007" y="4854448"/>
            <a:ext cx="4462272" cy="457200"/>
          </a:xfrm>
          <a:prstGeom prst="rect">
            <a:avLst/>
          </a:prstGeom>
          <a:noFill/>
        </p:spPr>
        <p:txBody>
          <a:bodyPr wrap="square" lIns="0" rIns="0" tIns="0" bIns="0">
            <a:spAutoFit/>
          </a:bodyPr>
          <a:lstStyle/>
          <a:p>
            <a:pPr algn="l"/>
            <a:r>
              <a:rPr sz="1400" b="0">
                <a:solidFill>
                  <a:srgbClr val="475467"/>
                </a:solidFill>
                <a:latin typeface="Inter"/>
              </a:rPr>
              <a:t>Two retries on 429 only, then a circuit breaker.</a:t>
            </a:r>
          </a:p>
        </p:txBody>
      </p:sp>
      <p:sp>
        <p:nvSpPr>
          <p:cNvPr id="23" name="Oval 22"/>
          <p:cNvSpPr/>
          <p:nvPr/>
        </p:nvSpPr>
        <p:spPr>
          <a:xfrm>
            <a:off x="548640" y="53492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477954"/>
            <a:ext cx="457200" cy="457200"/>
          </a:xfrm>
          <a:prstGeom prst="rect">
            <a:avLst/>
          </a:prstGeom>
          <a:noFill/>
        </p:spPr>
        <p:txBody>
          <a:bodyPr wrap="square" lIns="0" rIns="0" tIns="0" bIns="0">
            <a:spAutoFit/>
          </a:bodyPr>
          <a:lstStyle/>
          <a:p>
            <a:pPr algn="ctr"/>
            <a:r>
              <a:rPr sz="1300" b="1">
                <a:solidFill>
                  <a:srgbClr val="FFFFFF"/>
                </a:solidFill>
                <a:latin typeface="Inter"/>
              </a:rPr>
              <a:t>03</a:t>
            </a:r>
          </a:p>
        </p:txBody>
      </p:sp>
      <p:sp>
        <p:nvSpPr>
          <p:cNvPr id="25" name="TextBox 24"/>
          <p:cNvSpPr txBox="1"/>
          <p:nvPr/>
        </p:nvSpPr>
        <p:spPr>
          <a:xfrm>
            <a:off x="1207007" y="5404103"/>
            <a:ext cx="4462272" cy="457200"/>
          </a:xfrm>
          <a:prstGeom prst="rect">
            <a:avLst/>
          </a:prstGeom>
          <a:noFill/>
        </p:spPr>
        <p:txBody>
          <a:bodyPr wrap="square" lIns="0" rIns="0" tIns="0" bIns="0">
            <a:spAutoFit/>
          </a:bodyPr>
          <a:lstStyle/>
          <a:p>
            <a:pPr algn="l"/>
            <a:r>
              <a:rPr sz="1600" b="1">
                <a:solidFill>
                  <a:srgbClr val="111827"/>
                </a:solidFill>
                <a:latin typeface="Inter"/>
              </a:rPr>
              <a:t>Never holds the clock</a:t>
            </a:r>
          </a:p>
        </p:txBody>
      </p:sp>
      <p:sp>
        <p:nvSpPr>
          <p:cNvPr id="26" name="TextBox 25"/>
          <p:cNvSpPr txBox="1"/>
          <p:nvPr/>
        </p:nvSpPr>
        <p:spPr>
          <a:xfrm>
            <a:off x="1207007" y="5723128"/>
            <a:ext cx="4462272" cy="457200"/>
          </a:xfrm>
          <a:prstGeom prst="rect">
            <a:avLst/>
          </a:prstGeom>
          <a:noFill/>
        </p:spPr>
        <p:txBody>
          <a:bodyPr wrap="square" lIns="0" rIns="0" tIns="0" bIns="0">
            <a:spAutoFit/>
          </a:bodyPr>
          <a:lstStyle/>
          <a:p>
            <a:pPr algn="l"/>
            <a:r>
              <a:rPr sz="1400" b="0">
                <a:solidFill>
                  <a:srgbClr val="475467"/>
                </a:solidFill>
                <a:latin typeface="Inter"/>
              </a:rPr>
              <a:t>Model calls run in a background lane.</a:t>
            </a:r>
          </a:p>
        </p:txBody>
      </p:sp>
      <p:sp>
        <p:nvSpPr>
          <p:cNvPr id="27" name="Rounded Rectangle 26"/>
          <p:cNvSpPr/>
          <p:nvPr/>
        </p:nvSpPr>
        <p:spPr>
          <a:xfrm>
            <a:off x="5989320" y="3611880"/>
            <a:ext cx="5623560" cy="2240280"/>
          </a:xfrm>
          <a:prstGeom prst="roundRect">
            <a:avLst>
              <a:gd name="adj" fmla="val 5714"/>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0" y="3794760"/>
            <a:ext cx="5212080" cy="274320"/>
          </a:xfrm>
          <a:prstGeom prst="rect">
            <a:avLst/>
          </a:prstGeom>
          <a:noFill/>
        </p:spPr>
        <p:txBody>
          <a:bodyPr wrap="square" lIns="0" rIns="0" tIns="0" bIns="0">
            <a:spAutoFit/>
          </a:bodyPr>
          <a:lstStyle/>
          <a:p>
            <a:pPr algn="l"/>
            <a:r>
              <a:rPr sz="1600" b="1">
                <a:solidFill>
                  <a:srgbClr val="111827"/>
                </a:solidFill>
                <a:latin typeface="Inter"/>
              </a:rPr>
              <a:t>Each role picks its own model</a:t>
            </a:r>
          </a:p>
        </p:txBody>
      </p:sp>
      <p:pic>
        <p:nvPicPr>
          <p:cNvPr id="29" name="Picture 28" descr="settings-models.png"/>
          <p:cNvPicPr>
            <a:picLocks noChangeAspect="1"/>
          </p:cNvPicPr>
          <p:nvPr/>
        </p:nvPicPr>
        <p:blipFill>
          <a:blip r:embed="rId3"/>
          <a:stretch>
            <a:fillRect/>
          </a:stretch>
        </p:blipFill>
        <p:spPr>
          <a:xfrm>
            <a:off x="6217920" y="4206240"/>
            <a:ext cx="5166360" cy="1334014"/>
          </a:xfrm>
          <a:prstGeom prst="roundRect">
            <a:avLst>
              <a:gd name="adj" fmla="val 3427"/>
            </a:avLst>
          </a:prstGeom>
          <a:ln w="9525">
            <a:solidFill>
              <a:srgbClr val="D0D5DD"/>
            </a:solidFill>
          </a:ln>
          <a:effectLst>
            <a:outerShdw blurRad="203200" dist="38100" dir="5400000" algn="t" rotWithShape="0">
              <a:srgbClr val="1E1B4B">
                <a:alpha val="13000"/>
              </a:srgbClr>
            </a:outerShdw>
          </a:effectLst>
        </p:spPr>
      </p:pic>
      <p:sp>
        <p:nvSpPr>
          <p:cNvPr id="30" name="TextBox 29"/>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sponseCompassWall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5486400" cy="274320"/>
          </a:xfrm>
          <a:prstGeom prst="rect">
            <a:avLst/>
          </a:prstGeom>
          <a:noFill/>
        </p:spPr>
        <p:txBody>
          <a:bodyPr wrap="square" lIns="0" rIns="0" tIns="0" bIns="0">
            <a:spAutoFit/>
          </a:bodyPr>
          <a:lstStyle/>
          <a:p>
            <a:pPr algn="l"/>
            <a:r>
              <a:rPr sz="1200" b="1" spc="150">
                <a:solidFill>
                  <a:srgbClr val="4F46E5"/>
                </a:solidFill>
                <a:latin typeface="Inter"/>
              </a:rPr>
              <a:t>BUILT TO RUN</a:t>
            </a:r>
          </a:p>
        </p:txBody>
      </p:sp>
      <p:sp>
        <p:nvSpPr>
          <p:cNvPr id="4" name="TextBox 3"/>
          <p:cNvSpPr txBox="1"/>
          <p:nvPr/>
        </p:nvSpPr>
        <p:spPr>
          <a:xfrm>
            <a:off x="548640" y="676656"/>
            <a:ext cx="5486400" cy="566928"/>
          </a:xfrm>
          <a:prstGeom prst="rect">
            <a:avLst/>
          </a:prstGeom>
          <a:noFill/>
        </p:spPr>
        <p:txBody>
          <a:bodyPr wrap="square" lIns="0" rIns="0" tIns="0" bIns="0">
            <a:spAutoFit/>
          </a:bodyPr>
          <a:lstStyle/>
          <a:p>
            <a:pPr algn="l"/>
            <a:r>
              <a:rPr sz="3200" b="1">
                <a:solidFill>
                  <a:srgbClr val="111827"/>
                </a:solidFill>
                <a:latin typeface="Inter"/>
              </a:rPr>
              <a:t>Engineering quality</a:t>
            </a:r>
          </a:p>
        </p:txBody>
      </p:sp>
      <p:sp>
        <p:nvSpPr>
          <p:cNvPr id="5" name="Rounded Rectangle 4"/>
          <p:cNvSpPr/>
          <p:nvPr/>
        </p:nvSpPr>
        <p:spPr>
          <a:xfrm>
            <a:off x="548640" y="1600200"/>
            <a:ext cx="2606040" cy="1600200"/>
          </a:xfrm>
          <a:prstGeom prst="roundRect">
            <a:avLst>
              <a:gd name="adj" fmla="val 8000"/>
            </a:avLst>
          </a:prstGeom>
          <a:solidFill>
            <a:srgbClr val="FFFFFF"/>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801368"/>
            <a:ext cx="2057400" cy="698500"/>
          </a:xfrm>
          <a:prstGeom prst="rect">
            <a:avLst/>
          </a:prstGeom>
          <a:noFill/>
        </p:spPr>
        <p:txBody>
          <a:bodyPr wrap="square" lIns="0" rIns="0" tIns="0" bIns="0">
            <a:spAutoFit/>
          </a:bodyPr>
          <a:lstStyle/>
          <a:p>
            <a:pPr algn="l"/>
            <a:r>
              <a:rPr sz="4400" b="1">
                <a:solidFill>
                  <a:srgbClr val="4F46E5"/>
                </a:solidFill>
                <a:latin typeface="Inter"/>
              </a:rPr>
              <a:t>334</a:t>
            </a:r>
          </a:p>
        </p:txBody>
      </p:sp>
      <p:sp>
        <p:nvSpPr>
          <p:cNvPr id="7" name="TextBox 6"/>
          <p:cNvSpPr txBox="1"/>
          <p:nvPr/>
        </p:nvSpPr>
        <p:spPr>
          <a:xfrm>
            <a:off x="822959" y="2568956"/>
            <a:ext cx="2057400" cy="1600200"/>
          </a:xfrm>
          <a:prstGeom prst="rect">
            <a:avLst/>
          </a:prstGeom>
          <a:noFill/>
        </p:spPr>
        <p:txBody>
          <a:bodyPr wrap="square" lIns="0" rIns="0" tIns="0" bIns="0">
            <a:spAutoFit/>
          </a:bodyPr>
          <a:lstStyle/>
          <a:p>
            <a:pPr algn="l"/>
            <a:r>
              <a:rPr sz="1400" b="0">
                <a:solidFill>
                  <a:srgbClr val="475467"/>
                </a:solidFill>
                <a:latin typeface="Inter"/>
              </a:rPr>
              <a:t>hermetic unit and integration tests</a:t>
            </a:r>
          </a:p>
        </p:txBody>
      </p:sp>
      <p:sp>
        <p:nvSpPr>
          <p:cNvPr id="8" name="Rounded Rectangle 7"/>
          <p:cNvSpPr/>
          <p:nvPr/>
        </p:nvSpPr>
        <p:spPr>
          <a:xfrm>
            <a:off x="3383280" y="1600200"/>
            <a:ext cx="2606040" cy="1600200"/>
          </a:xfrm>
          <a:prstGeom prst="roundRect">
            <a:avLst>
              <a:gd name="adj" fmla="val 8000"/>
            </a:avLst>
          </a:prstGeom>
          <a:solidFill>
            <a:srgbClr val="4F46E5"/>
          </a:solidFill>
          <a:ln>
            <a:noFill/>
          </a:ln>
          <a:effectLst>
            <a:outerShdw blurRad="203200" dist="38100" dir="5400000" algn="t" rotWithShape="0">
              <a:srgbClr val="1E1B4B">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1801368"/>
            <a:ext cx="2057400" cy="698500"/>
          </a:xfrm>
          <a:prstGeom prst="rect">
            <a:avLst/>
          </a:prstGeom>
          <a:noFill/>
        </p:spPr>
        <p:txBody>
          <a:bodyPr wrap="square" lIns="0" rIns="0" tIns="0" bIns="0">
            <a:spAutoFit/>
          </a:bodyPr>
          <a:lstStyle/>
          <a:p>
            <a:pPr algn="l"/>
            <a:r>
              <a:rPr sz="4400" b="1">
                <a:solidFill>
                  <a:srgbClr val="FFFFFF"/>
                </a:solidFill>
                <a:latin typeface="Inter"/>
              </a:rPr>
              <a:t>72</a:t>
            </a:r>
          </a:p>
        </p:txBody>
      </p:sp>
      <p:sp>
        <p:nvSpPr>
          <p:cNvPr id="10" name="TextBox 9"/>
          <p:cNvSpPr txBox="1"/>
          <p:nvPr/>
        </p:nvSpPr>
        <p:spPr>
          <a:xfrm>
            <a:off x="3657600" y="2568956"/>
            <a:ext cx="2057400" cy="1600200"/>
          </a:xfrm>
          <a:prstGeom prst="rect">
            <a:avLst/>
          </a:prstGeom>
          <a:noFill/>
        </p:spPr>
        <p:txBody>
          <a:bodyPr wrap="square" lIns="0" rIns="0" tIns="0" bIns="0">
            <a:spAutoFit/>
          </a:bodyPr>
          <a:lstStyle/>
          <a:p>
            <a:pPr algn="l"/>
            <a:r>
              <a:rPr sz="1400" b="0">
                <a:solidFill>
                  <a:srgbClr val="E0E7FF"/>
                </a:solidFill>
                <a:latin typeface="Inter"/>
              </a:rPr>
              <a:t>Chromium end-to-end tests</a:t>
            </a:r>
          </a:p>
        </p:txBody>
      </p:sp>
      <p:sp>
        <p:nvSpPr>
          <p:cNvPr id="11" name="Oval 10"/>
          <p:cNvSpPr/>
          <p:nvPr/>
        </p:nvSpPr>
        <p:spPr>
          <a:xfrm>
            <a:off x="548640" y="35204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649154"/>
            <a:ext cx="457200" cy="457200"/>
          </a:xfrm>
          <a:prstGeom prst="rect">
            <a:avLst/>
          </a:prstGeom>
          <a:noFill/>
        </p:spPr>
        <p:txBody>
          <a:bodyPr wrap="square" lIns="0" rIns="0" tIns="0" bIns="0">
            <a:spAutoFit/>
          </a:bodyPr>
          <a:lstStyle/>
          <a:p>
            <a:pPr algn="ctr"/>
            <a:r>
              <a:rPr sz="1300" b="1">
                <a:solidFill>
                  <a:srgbClr val="FFFFFF"/>
                </a:solidFill>
                <a:latin typeface="Inter"/>
              </a:rPr>
              <a:t>01</a:t>
            </a:r>
          </a:p>
        </p:txBody>
      </p:sp>
      <p:sp>
        <p:nvSpPr>
          <p:cNvPr id="13" name="TextBox 12"/>
          <p:cNvSpPr txBox="1"/>
          <p:nvPr/>
        </p:nvSpPr>
        <p:spPr>
          <a:xfrm>
            <a:off x="1207007" y="3575304"/>
            <a:ext cx="4782312" cy="457200"/>
          </a:xfrm>
          <a:prstGeom prst="rect">
            <a:avLst/>
          </a:prstGeom>
          <a:noFill/>
        </p:spPr>
        <p:txBody>
          <a:bodyPr wrap="square" lIns="0" rIns="0" tIns="0" bIns="0">
            <a:spAutoFit/>
          </a:bodyPr>
          <a:lstStyle/>
          <a:p>
            <a:pPr algn="l"/>
            <a:r>
              <a:rPr sz="1600" b="1">
                <a:solidFill>
                  <a:srgbClr val="111827"/>
                </a:solidFill>
                <a:latin typeface="Inter"/>
              </a:rPr>
              <a:t>One app, two modes</a:t>
            </a:r>
          </a:p>
        </p:txBody>
      </p:sp>
      <p:sp>
        <p:nvSpPr>
          <p:cNvPr id="14" name="TextBox 13"/>
          <p:cNvSpPr txBox="1"/>
          <p:nvPr/>
        </p:nvSpPr>
        <p:spPr>
          <a:xfrm>
            <a:off x="1207007" y="3894327"/>
            <a:ext cx="4782312" cy="457200"/>
          </a:xfrm>
          <a:prstGeom prst="rect">
            <a:avLst/>
          </a:prstGeom>
          <a:noFill/>
        </p:spPr>
        <p:txBody>
          <a:bodyPr wrap="square" lIns="0" rIns="0" tIns="0" bIns="0">
            <a:spAutoFit/>
          </a:bodyPr>
          <a:lstStyle/>
          <a:p>
            <a:pPr algn="l"/>
            <a:r>
              <a:rPr sz="1400" b="0">
                <a:solidFill>
                  <a:srgbClr val="475467"/>
                </a:solidFill>
                <a:latin typeface="Inter"/>
              </a:rPr>
              <a:t>Offline makes no API calls and is fully reproducible.</a:t>
            </a:r>
          </a:p>
        </p:txBody>
      </p:sp>
      <p:sp>
        <p:nvSpPr>
          <p:cNvPr id="15" name="Oval 14"/>
          <p:cNvSpPr/>
          <p:nvPr/>
        </p:nvSpPr>
        <p:spPr>
          <a:xfrm>
            <a:off x="548640" y="438912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517834"/>
            <a:ext cx="457200" cy="457200"/>
          </a:xfrm>
          <a:prstGeom prst="rect">
            <a:avLst/>
          </a:prstGeom>
          <a:noFill/>
        </p:spPr>
        <p:txBody>
          <a:bodyPr wrap="square" lIns="0" rIns="0" tIns="0" bIns="0">
            <a:spAutoFit/>
          </a:bodyPr>
          <a:lstStyle/>
          <a:p>
            <a:pPr algn="ctr"/>
            <a:r>
              <a:rPr sz="1300" b="1">
                <a:solidFill>
                  <a:srgbClr val="FFFFFF"/>
                </a:solidFill>
                <a:latin typeface="Inter"/>
              </a:rPr>
              <a:t>02</a:t>
            </a:r>
          </a:p>
        </p:txBody>
      </p:sp>
      <p:sp>
        <p:nvSpPr>
          <p:cNvPr id="17" name="TextBox 16"/>
          <p:cNvSpPr txBox="1"/>
          <p:nvPr/>
        </p:nvSpPr>
        <p:spPr>
          <a:xfrm>
            <a:off x="1207007" y="4443983"/>
            <a:ext cx="4782312" cy="457200"/>
          </a:xfrm>
          <a:prstGeom prst="rect">
            <a:avLst/>
          </a:prstGeom>
          <a:noFill/>
        </p:spPr>
        <p:txBody>
          <a:bodyPr wrap="square" lIns="0" rIns="0" tIns="0" bIns="0">
            <a:spAutoFit/>
          </a:bodyPr>
          <a:lstStyle/>
          <a:p>
            <a:pPr algn="l"/>
            <a:r>
              <a:rPr sz="1600" b="1">
                <a:solidFill>
                  <a:srgbClr val="111827"/>
                </a:solidFill>
                <a:latin typeface="Inter"/>
              </a:rPr>
              <a:t>Crash-safe state</a:t>
            </a:r>
          </a:p>
        </p:txBody>
      </p:sp>
      <p:sp>
        <p:nvSpPr>
          <p:cNvPr id="18" name="TextBox 17"/>
          <p:cNvSpPr txBox="1"/>
          <p:nvPr/>
        </p:nvSpPr>
        <p:spPr>
          <a:xfrm>
            <a:off x="1207007" y="4763008"/>
            <a:ext cx="4782312" cy="457200"/>
          </a:xfrm>
          <a:prstGeom prst="rect">
            <a:avLst/>
          </a:prstGeom>
          <a:noFill/>
        </p:spPr>
        <p:txBody>
          <a:bodyPr wrap="square" lIns="0" rIns="0" tIns="0" bIns="0">
            <a:spAutoFit/>
          </a:bodyPr>
          <a:lstStyle/>
          <a:p>
            <a:pPr algn="l"/>
            <a:r>
              <a:rPr sz="1400" b="0">
                <a:solidFill>
                  <a:srgbClr val="475467"/>
                </a:solidFill>
                <a:latin typeface="Inter"/>
              </a:rPr>
              <a:t>Checksummed journal and a restart-safe scheduler.</a:t>
            </a:r>
          </a:p>
        </p:txBody>
      </p:sp>
      <p:sp>
        <p:nvSpPr>
          <p:cNvPr id="19" name="Oval 18"/>
          <p:cNvSpPr/>
          <p:nvPr/>
        </p:nvSpPr>
        <p:spPr>
          <a:xfrm>
            <a:off x="548640" y="525780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386514"/>
            <a:ext cx="457200" cy="457200"/>
          </a:xfrm>
          <a:prstGeom prst="rect">
            <a:avLst/>
          </a:prstGeom>
          <a:noFill/>
        </p:spPr>
        <p:txBody>
          <a:bodyPr wrap="square" lIns="0" rIns="0" tIns="0" bIns="0">
            <a:spAutoFit/>
          </a:bodyPr>
          <a:lstStyle/>
          <a:p>
            <a:pPr algn="ctr"/>
            <a:r>
              <a:rPr sz="1300" b="1">
                <a:solidFill>
                  <a:srgbClr val="FFFFFF"/>
                </a:solidFill>
                <a:latin typeface="Inter"/>
              </a:rPr>
              <a:t>03</a:t>
            </a:r>
          </a:p>
        </p:txBody>
      </p:sp>
      <p:sp>
        <p:nvSpPr>
          <p:cNvPr id="21" name="TextBox 20"/>
          <p:cNvSpPr txBox="1"/>
          <p:nvPr/>
        </p:nvSpPr>
        <p:spPr>
          <a:xfrm>
            <a:off x="1207007" y="5312664"/>
            <a:ext cx="4782312" cy="457200"/>
          </a:xfrm>
          <a:prstGeom prst="rect">
            <a:avLst/>
          </a:prstGeom>
          <a:noFill/>
        </p:spPr>
        <p:txBody>
          <a:bodyPr wrap="square" lIns="0" rIns="0" tIns="0" bIns="0">
            <a:spAutoFit/>
          </a:bodyPr>
          <a:lstStyle/>
          <a:p>
            <a:pPr algn="l"/>
            <a:r>
              <a:rPr sz="1600" b="1">
                <a:solidFill>
                  <a:srgbClr val="111827"/>
                </a:solidFill>
                <a:latin typeface="Inter"/>
              </a:rPr>
              <a:t>Spend only when watched</a:t>
            </a:r>
          </a:p>
        </p:txBody>
      </p:sp>
      <p:sp>
        <p:nvSpPr>
          <p:cNvPr id="22" name="TextBox 21"/>
          <p:cNvSpPr txBox="1"/>
          <p:nvPr/>
        </p:nvSpPr>
        <p:spPr>
          <a:xfrm>
            <a:off x="1207007" y="5631688"/>
            <a:ext cx="4782312" cy="457200"/>
          </a:xfrm>
          <a:prstGeom prst="rect">
            <a:avLst/>
          </a:prstGeom>
          <a:noFill/>
        </p:spPr>
        <p:txBody>
          <a:bodyPr wrap="square" lIns="0" rIns="0" tIns="0" bIns="0">
            <a:spAutoFit/>
          </a:bodyPr>
          <a:lstStyle/>
          <a:p>
            <a:pPr algn="l"/>
            <a:r>
              <a:rPr sz="1400" b="0">
                <a:solidFill>
                  <a:srgbClr val="475467"/>
                </a:solidFill>
                <a:latin typeface="Inter"/>
              </a:rPr>
              <a:t>An unattended room pauses itself after 10 idle minutes.</a:t>
            </a:r>
          </a:p>
        </p:txBody>
      </p:sp>
      <p:sp>
        <p:nvSpPr>
          <p:cNvPr id="23" name="TextBox 22"/>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sponseCompassWall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5486400" cy="274320"/>
          </a:xfrm>
          <a:prstGeom prst="rect">
            <a:avLst/>
          </a:prstGeom>
          <a:noFill/>
        </p:spPr>
        <p:txBody>
          <a:bodyPr wrap="square" lIns="0" rIns="0" tIns="0" bIns="0">
            <a:spAutoFit/>
          </a:bodyPr>
          <a:lstStyle/>
          <a:p>
            <a:pPr algn="l"/>
            <a:r>
              <a:rPr sz="1200" b="1" spc="150">
                <a:solidFill>
                  <a:srgbClr val="4F46E5"/>
                </a:solidFill>
                <a:latin typeface="Inter"/>
              </a:rPr>
              <a:t>ROADMAP</a:t>
            </a:r>
          </a:p>
        </p:txBody>
      </p:sp>
      <p:sp>
        <p:nvSpPr>
          <p:cNvPr id="4" name="TextBox 3"/>
          <p:cNvSpPr txBox="1"/>
          <p:nvPr/>
        </p:nvSpPr>
        <p:spPr>
          <a:xfrm>
            <a:off x="548640" y="676656"/>
            <a:ext cx="5486400" cy="566928"/>
          </a:xfrm>
          <a:prstGeom prst="rect">
            <a:avLst/>
          </a:prstGeom>
          <a:noFill/>
        </p:spPr>
        <p:txBody>
          <a:bodyPr wrap="square" lIns="0" rIns="0" tIns="0" bIns="0">
            <a:spAutoFit/>
          </a:bodyPr>
          <a:lstStyle/>
          <a:p>
            <a:pPr algn="l"/>
            <a:r>
              <a:rPr sz="3200" b="1">
                <a:solidFill>
                  <a:srgbClr val="111827"/>
                </a:solidFill>
                <a:latin typeface="Inter"/>
              </a:rPr>
              <a:t>What's next</a:t>
            </a:r>
          </a:p>
        </p:txBody>
      </p:sp>
      <p:sp>
        <p:nvSpPr>
          <p:cNvPr id="5" name="Oval 4"/>
          <p:cNvSpPr/>
          <p:nvPr/>
        </p:nvSpPr>
        <p:spPr>
          <a:xfrm>
            <a:off x="548640" y="164592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74634"/>
            <a:ext cx="457200" cy="457200"/>
          </a:xfrm>
          <a:prstGeom prst="rect">
            <a:avLst/>
          </a:prstGeom>
          <a:noFill/>
        </p:spPr>
        <p:txBody>
          <a:bodyPr wrap="square" lIns="0" rIns="0" tIns="0" bIns="0">
            <a:spAutoFit/>
          </a:bodyPr>
          <a:lstStyle/>
          <a:p>
            <a:pPr algn="ctr"/>
            <a:r>
              <a:rPr sz="1300" b="1">
                <a:solidFill>
                  <a:srgbClr val="FFFFFF"/>
                </a:solidFill>
                <a:latin typeface="Inter"/>
              </a:rPr>
              <a:t>01</a:t>
            </a:r>
          </a:p>
        </p:txBody>
      </p:sp>
      <p:sp>
        <p:nvSpPr>
          <p:cNvPr id="7" name="TextBox 6"/>
          <p:cNvSpPr txBox="1"/>
          <p:nvPr/>
        </p:nvSpPr>
        <p:spPr>
          <a:xfrm>
            <a:off x="1207007" y="1700784"/>
            <a:ext cx="4736592" cy="457200"/>
          </a:xfrm>
          <a:prstGeom prst="rect">
            <a:avLst/>
          </a:prstGeom>
          <a:noFill/>
        </p:spPr>
        <p:txBody>
          <a:bodyPr wrap="square" lIns="0" rIns="0" tIns="0" bIns="0">
            <a:spAutoFit/>
          </a:bodyPr>
          <a:lstStyle/>
          <a:p>
            <a:pPr algn="l"/>
            <a:r>
              <a:rPr sz="1600" b="1">
                <a:solidFill>
                  <a:srgbClr val="111827"/>
                </a:solidFill>
                <a:latin typeface="Inter"/>
              </a:rPr>
              <a:t>Real systems</a:t>
            </a:r>
          </a:p>
        </p:txBody>
      </p:sp>
      <p:sp>
        <p:nvSpPr>
          <p:cNvPr id="8" name="TextBox 7"/>
          <p:cNvSpPr txBox="1"/>
          <p:nvPr/>
        </p:nvSpPr>
        <p:spPr>
          <a:xfrm>
            <a:off x="1207007" y="2019808"/>
            <a:ext cx="4736592" cy="457200"/>
          </a:xfrm>
          <a:prstGeom prst="rect">
            <a:avLst/>
          </a:prstGeom>
          <a:noFill/>
        </p:spPr>
        <p:txBody>
          <a:bodyPr wrap="square" lIns="0" rIns="0" tIns="0" bIns="0">
            <a:spAutoFit/>
          </a:bodyPr>
          <a:lstStyle/>
          <a:p>
            <a:pPr algn="l"/>
            <a:r>
              <a:rPr sz="1400" b="0">
                <a:solidFill>
                  <a:srgbClr val="475467"/>
                </a:solidFill>
                <a:latin typeface="Inter"/>
              </a:rPr>
              <a:t>Maintenance, ticketing and rostering in place of the simulated floor.</a:t>
            </a:r>
          </a:p>
        </p:txBody>
      </p:sp>
      <p:sp>
        <p:nvSpPr>
          <p:cNvPr id="9" name="Oval 8"/>
          <p:cNvSpPr/>
          <p:nvPr/>
        </p:nvSpPr>
        <p:spPr>
          <a:xfrm>
            <a:off x="54864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734754"/>
            <a:ext cx="457200" cy="457200"/>
          </a:xfrm>
          <a:prstGeom prst="rect">
            <a:avLst/>
          </a:prstGeom>
          <a:noFill/>
        </p:spPr>
        <p:txBody>
          <a:bodyPr wrap="square" lIns="0" rIns="0" tIns="0" bIns="0">
            <a:spAutoFit/>
          </a:bodyPr>
          <a:lstStyle/>
          <a:p>
            <a:pPr algn="ctr"/>
            <a:r>
              <a:rPr sz="1300" b="1">
                <a:solidFill>
                  <a:srgbClr val="FFFFFF"/>
                </a:solidFill>
                <a:latin typeface="Inter"/>
              </a:rPr>
              <a:t>02</a:t>
            </a:r>
          </a:p>
        </p:txBody>
      </p:sp>
      <p:sp>
        <p:nvSpPr>
          <p:cNvPr id="11" name="TextBox 10"/>
          <p:cNvSpPr txBox="1"/>
          <p:nvPr/>
        </p:nvSpPr>
        <p:spPr>
          <a:xfrm>
            <a:off x="1207007" y="2660904"/>
            <a:ext cx="4736592" cy="457200"/>
          </a:xfrm>
          <a:prstGeom prst="rect">
            <a:avLst/>
          </a:prstGeom>
          <a:noFill/>
        </p:spPr>
        <p:txBody>
          <a:bodyPr wrap="square" lIns="0" rIns="0" tIns="0" bIns="0">
            <a:spAutoFit/>
          </a:bodyPr>
          <a:lstStyle/>
          <a:p>
            <a:pPr algn="l"/>
            <a:r>
              <a:rPr sz="1600" b="1">
                <a:solidFill>
                  <a:srgbClr val="111827"/>
                </a:solidFill>
                <a:latin typeface="Inter"/>
              </a:rPr>
              <a:t>Learn from approvals</a:t>
            </a:r>
          </a:p>
        </p:txBody>
      </p:sp>
      <p:sp>
        <p:nvSpPr>
          <p:cNvPr id="12" name="TextBox 11"/>
          <p:cNvSpPr txBox="1"/>
          <p:nvPr/>
        </p:nvSpPr>
        <p:spPr>
          <a:xfrm>
            <a:off x="1207007" y="2979928"/>
            <a:ext cx="4736592" cy="457200"/>
          </a:xfrm>
          <a:prstGeom prst="rect">
            <a:avLst/>
          </a:prstGeom>
          <a:noFill/>
        </p:spPr>
        <p:txBody>
          <a:bodyPr wrap="square" lIns="0" rIns="0" tIns="0" bIns="0">
            <a:spAutoFit/>
          </a:bodyPr>
          <a:lstStyle/>
          <a:p>
            <a:pPr algn="l"/>
            <a:r>
              <a:rPr sz="1400" b="0">
                <a:solidFill>
                  <a:srgbClr val="475467"/>
                </a:solidFill>
                <a:latin typeface="Inter"/>
              </a:rPr>
              <a:t>Feed operator decisions and outcomes back into the evidence.</a:t>
            </a:r>
          </a:p>
        </p:txBody>
      </p:sp>
      <p:sp>
        <p:nvSpPr>
          <p:cNvPr id="13" name="Oval 12"/>
          <p:cNvSpPr/>
          <p:nvPr/>
        </p:nvSpPr>
        <p:spPr>
          <a:xfrm>
            <a:off x="548640" y="356616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94874"/>
            <a:ext cx="457200" cy="457200"/>
          </a:xfrm>
          <a:prstGeom prst="rect">
            <a:avLst/>
          </a:prstGeom>
          <a:noFill/>
        </p:spPr>
        <p:txBody>
          <a:bodyPr wrap="square" lIns="0" rIns="0" tIns="0" bIns="0">
            <a:spAutoFit/>
          </a:bodyPr>
          <a:lstStyle/>
          <a:p>
            <a:pPr algn="ctr"/>
            <a:r>
              <a:rPr sz="1300" b="1">
                <a:solidFill>
                  <a:srgbClr val="FFFFFF"/>
                </a:solidFill>
                <a:latin typeface="Inter"/>
              </a:rPr>
              <a:t>03</a:t>
            </a:r>
          </a:p>
        </p:txBody>
      </p:sp>
      <p:sp>
        <p:nvSpPr>
          <p:cNvPr id="15" name="TextBox 14"/>
          <p:cNvSpPr txBox="1"/>
          <p:nvPr/>
        </p:nvSpPr>
        <p:spPr>
          <a:xfrm>
            <a:off x="1207007" y="3621024"/>
            <a:ext cx="4736592" cy="457200"/>
          </a:xfrm>
          <a:prstGeom prst="rect">
            <a:avLst/>
          </a:prstGeom>
          <a:noFill/>
        </p:spPr>
        <p:txBody>
          <a:bodyPr wrap="square" lIns="0" rIns="0" tIns="0" bIns="0">
            <a:spAutoFit/>
          </a:bodyPr>
          <a:lstStyle/>
          <a:p>
            <a:pPr algn="l"/>
            <a:r>
              <a:rPr sz="1600" b="1">
                <a:solidFill>
                  <a:srgbClr val="111827"/>
                </a:solidFill>
                <a:latin typeface="Inter"/>
              </a:rPr>
              <a:t>Longer live measurement</a:t>
            </a:r>
          </a:p>
        </p:txBody>
      </p:sp>
      <p:sp>
        <p:nvSpPr>
          <p:cNvPr id="16" name="TextBox 15"/>
          <p:cNvSpPr txBox="1"/>
          <p:nvPr/>
        </p:nvSpPr>
        <p:spPr>
          <a:xfrm>
            <a:off x="1207007" y="3940048"/>
            <a:ext cx="4736592" cy="457200"/>
          </a:xfrm>
          <a:prstGeom prst="rect">
            <a:avLst/>
          </a:prstGeom>
          <a:noFill/>
        </p:spPr>
        <p:txBody>
          <a:bodyPr wrap="square" lIns="0" rIns="0" tIns="0" bIns="0">
            <a:spAutoFit/>
          </a:bodyPr>
          <a:lstStyle/>
          <a:p>
            <a:pPr algn="l"/>
            <a:r>
              <a:rPr sz="1400" b="0">
                <a:solidFill>
                  <a:srgbClr val="475467"/>
                </a:solidFill>
                <a:latin typeface="Inter"/>
              </a:rPr>
              <a:t>Compass against its baselines on live AMD rankings.</a:t>
            </a:r>
          </a:p>
        </p:txBody>
      </p:sp>
      <p:sp>
        <p:nvSpPr>
          <p:cNvPr id="17" name="TextBox 16"/>
          <p:cNvSpPr txBox="1"/>
          <p:nvPr/>
        </p:nvSpPr>
        <p:spPr>
          <a:xfrm>
            <a:off x="548640" y="4709160"/>
            <a:ext cx="5486400" cy="457200"/>
          </a:xfrm>
          <a:prstGeom prst="rect">
            <a:avLst/>
          </a:prstGeom>
          <a:noFill/>
        </p:spPr>
        <p:txBody>
          <a:bodyPr wrap="square" lIns="0" rIns="0" tIns="0" bIns="0">
            <a:spAutoFit/>
          </a:bodyPr>
          <a:lstStyle/>
          <a:p>
            <a:pPr algn="l"/>
            <a:r>
              <a:rPr sz="2600" b="1">
                <a:solidFill>
                  <a:srgbClr val="4F46E5"/>
                </a:solidFill>
                <a:latin typeface="Inter"/>
              </a:rPr>
              <a:t>The right responder. The right fix.</a:t>
            </a:r>
          </a:p>
        </p:txBody>
      </p:sp>
      <p:sp>
        <p:nvSpPr>
          <p:cNvPr id="18" name="TextBox 17"/>
          <p:cNvSpPr txBox="1"/>
          <p:nvPr/>
        </p:nvSpPr>
        <p:spPr>
          <a:xfrm>
            <a:off x="548640" y="5230368"/>
            <a:ext cx="5486400" cy="365760"/>
          </a:xfrm>
          <a:prstGeom prst="rect">
            <a:avLst/>
          </a:prstGeom>
          <a:noFill/>
        </p:spPr>
        <p:txBody>
          <a:bodyPr wrap="square" lIns="0" rIns="0" tIns="0" bIns="0">
            <a:spAutoFit/>
          </a:bodyPr>
          <a:lstStyle/>
          <a:p>
            <a:pPr algn="l"/>
            <a:r>
              <a:rPr sz="1600" b="1">
                <a:solidFill>
                  <a:srgbClr val="111827"/>
                </a:solidFill>
                <a:latin typeface="Inter"/>
              </a:rPr>
              <a:t>Runs autonomously. Supervised by your control room.</a:t>
            </a:r>
          </a:p>
        </p:txBody>
      </p:sp>
      <p:sp>
        <p:nvSpPr>
          <p:cNvPr id="19" name="TextBox 18"/>
          <p:cNvSpPr txBox="1"/>
          <p:nvPr/>
        </p:nvSpPr>
        <p:spPr>
          <a:xfrm>
            <a:off x="548640" y="5577840"/>
            <a:ext cx="5486400" cy="365760"/>
          </a:xfrm>
          <a:prstGeom prst="rect">
            <a:avLst/>
          </a:prstGeom>
          <a:noFill/>
        </p:spPr>
        <p:txBody>
          <a:bodyPr wrap="square" lIns="0" rIns="0" tIns="0" bIns="0">
            <a:spAutoFit/>
          </a:bodyPr>
          <a:lstStyle/>
          <a:p>
            <a:pPr algn="l"/>
            <a:r>
              <a:rPr sz="1600" b="0">
                <a:solidFill>
                  <a:srgbClr val="475467"/>
                </a:solidFill>
                <a:latin typeface="Inter"/>
              </a:rPr>
              <a:t>Built on AMD Token Factory.</a:t>
            </a:r>
          </a:p>
        </p:txBody>
      </p:sp>
      <p:sp>
        <p:nvSpPr>
          <p:cNvPr id="20" name="TextBox 19"/>
          <p:cNvSpPr txBox="1"/>
          <p:nvPr/>
        </p:nvSpPr>
        <p:spPr>
          <a:xfrm>
            <a:off x="11155680" y="6400800"/>
            <a:ext cx="457200" cy="274320"/>
          </a:xfrm>
          <a:prstGeom prst="rect">
            <a:avLst/>
          </a:prstGeom>
          <a:noFill/>
        </p:spPr>
        <p:txBody>
          <a:bodyPr wrap="square" lIns="0" rIns="0" tIns="0" bIns="0">
            <a:spAutoFit/>
          </a:bodyPr>
          <a:lstStyle/>
          <a:p>
            <a:pPr algn="ctr"/>
            <a:r>
              <a:rPr sz="1100" b="0">
                <a:solidFill>
                  <a:srgbClr val="667085"/>
                </a:solidFill>
                <a:latin typeface="Inter"/>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