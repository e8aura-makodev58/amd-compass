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ResponseCompass is a dispatch agent for operations control rooms, built on AMD Token Factory. The tagline is the product vision: responder ranking is built today; recommending the fix from past repairs is the next step (last slide). Say so when presenting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Proximity is easy to compute and easy to defend, but it ignores fit. What matters is who is likely to resolve this class of issue on the first attempt, given where everyone is and what they are already doing.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Compass does not replace the operator. It proposes a ranked shortlist with reasons, and the system dispatches automatically with a human able to step 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ranker receives application-owned evidence and ranks only the eligible candidates it is given. The planner proposes synthetic incidents; code validates every proposal and owns all mutations. If a model is slow, rate-limited or returns invalid output, the deterministic fallback takes over, so dispatch continues.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wanted the demo to be able to show Compass being wrong as well as right. Hidden truth plus baselines make its choices inspectable. Disagreement alone does not prove better outcomes.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measured several Token Factory models on the same scenario and chose the default per role from the data. These are small-sample validity results (10 samples, 60 s ranking / 30 s planner timeouts), not outcome accuracy or uptime guarantees; the ranking deadline was later raised to 90 s including one repair. Retries: at most two, only on HTTP 429. Five consecutive service failures open the breaker; one probe after 60 s. Rankings run in a background lane, so the clock keeps moving.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disagreement marker in the event feed means Compass chose differently from either baseline. Open the recommendation record to see which baseline and to read the rationale.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history was generated with the app's own engine, offline and deterministically, so every record is one the app itself would produce. Retention archives older detail without changing any analytics number. The month extension used deterministic fallbacks; it is not an AMD-only benchmark or a controlled comparison of model and baseline outcomes. Latency is one local measurement, not a guarantee.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that matters is tested without spending API credits; the browser tests force provider failures to prove the fallbacks.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dispatch half is built and measured. The next step uses the same boundary for actions: code retrieves comparable past resolutions, and the model ranks and explains the fix.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48640" y="1828800"/>
            <a:ext cx="109728" cy="237744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83080"/>
            <a:ext cx="6766560" cy="1005840"/>
          </a:xfrm>
          <a:prstGeom prst="rect">
            <a:avLst/>
          </a:prstGeom>
          <a:noFill/>
        </p:spPr>
        <p:txBody>
          <a:bodyPr wrap="square" lIns="0" rIns="0" tIns="0" bIns="0">
            <a:spAutoFit/>
          </a:bodyPr>
          <a:lstStyle/>
          <a:p>
            <a:pPr algn="l"/>
            <a:r>
              <a:rPr sz="5000" b="1">
                <a:solidFill>
                  <a:srgbClr val="16213E"/>
                </a:solidFill>
                <a:latin typeface="Inter"/>
              </a:rPr>
              <a:t>ResponseCompass</a:t>
            </a:r>
          </a:p>
        </p:txBody>
      </p:sp>
      <p:sp>
        <p:nvSpPr>
          <p:cNvPr id="5" name="TextBox 4"/>
          <p:cNvSpPr txBox="1"/>
          <p:nvPr/>
        </p:nvSpPr>
        <p:spPr>
          <a:xfrm>
            <a:off x="914400" y="2926080"/>
            <a:ext cx="6766560" cy="457200"/>
          </a:xfrm>
          <a:prstGeom prst="rect">
            <a:avLst/>
          </a:prstGeom>
          <a:noFill/>
        </p:spPr>
        <p:txBody>
          <a:bodyPr wrap="square" lIns="0" rIns="0" tIns="0" bIns="0">
            <a:spAutoFit/>
          </a:bodyPr>
          <a:lstStyle/>
          <a:p>
            <a:pPr algn="l"/>
            <a:r>
              <a:rPr sz="2400" b="1">
                <a:solidFill>
                  <a:srgbClr val="0F8B8D"/>
                </a:solidFill>
                <a:latin typeface="Inter"/>
              </a:rPr>
              <a:t>The right responder. The right fix.</a:t>
            </a:r>
          </a:p>
        </p:txBody>
      </p:sp>
      <p:sp>
        <p:nvSpPr>
          <p:cNvPr id="6" name="TextBox 5"/>
          <p:cNvSpPr txBox="1"/>
          <p:nvPr/>
        </p:nvSpPr>
        <p:spPr>
          <a:xfrm>
            <a:off x="914400" y="3429000"/>
            <a:ext cx="6766560" cy="457200"/>
          </a:xfrm>
          <a:prstGeom prst="rect">
            <a:avLst/>
          </a:prstGeom>
          <a:noFill/>
        </p:spPr>
        <p:txBody>
          <a:bodyPr wrap="square" lIns="0" rIns="0" tIns="0" bIns="0">
            <a:spAutoFit/>
          </a:bodyPr>
          <a:lstStyle/>
          <a:p>
            <a:pPr algn="l"/>
            <a:r>
              <a:rPr sz="2400" b="0">
                <a:solidFill>
                  <a:srgbClr val="5B6474"/>
                </a:solidFill>
                <a:latin typeface="Inter"/>
              </a:rPr>
              <a:t>Learned from every past repair.</a:t>
            </a:r>
          </a:p>
        </p:txBody>
      </p:sp>
      <p:sp>
        <p:nvSpPr>
          <p:cNvPr id="7" name="TextBox 6"/>
          <p:cNvSpPr txBox="1"/>
          <p:nvPr/>
        </p:nvSpPr>
        <p:spPr>
          <a:xfrm>
            <a:off x="914400" y="4846320"/>
            <a:ext cx="6766560" cy="731520"/>
          </a:xfrm>
          <a:prstGeom prst="rect">
            <a:avLst/>
          </a:prstGeom>
          <a:noFill/>
        </p:spPr>
        <p:txBody>
          <a:bodyPr wrap="square" lIns="0" rIns="0" tIns="0" bIns="0">
            <a:spAutoFit/>
          </a:bodyPr>
          <a:lstStyle/>
          <a:p>
            <a:pPr algn="l"/>
            <a:r>
              <a:rPr sz="1600" b="0">
                <a:solidFill>
                  <a:srgbClr val="1F2937"/>
                </a:solidFill>
                <a:latin typeface="Inter"/>
              </a:rPr>
              <a:t>An AI dispatch agent for operations control rooms, built on AMD Token Factory.</a:t>
            </a:r>
          </a:p>
        </p:txBody>
      </p:sp>
      <p:pic>
        <p:nvPicPr>
          <p:cNvPr id="8" name="Picture 7" descr="live-floor.png"/>
          <p:cNvPicPr>
            <a:picLocks noChangeAspect="1"/>
          </p:cNvPicPr>
          <p:nvPr/>
        </p:nvPicPr>
        <p:blipFill>
          <a:blip r:embed="rId2"/>
          <a:stretch>
            <a:fillRect/>
          </a:stretch>
        </p:blipFill>
        <p:spPr>
          <a:xfrm>
            <a:off x="8001000" y="1508760"/>
            <a:ext cx="3840480" cy="2160270"/>
          </a:xfrm>
          <a:prstGeom prst="rect">
            <a:avLst/>
          </a:prstGeom>
          <a:ln w="9525">
            <a:solidFill>
              <a:srgbClr val="C9CED8"/>
            </a:solidFill>
          </a:ln>
        </p:spPr>
      </p:pic>
      <p:sp>
        <p:nvSpPr>
          <p:cNvPr id="9" name="TextBox 8"/>
          <p:cNvSpPr txBox="1"/>
          <p:nvPr/>
        </p:nvSpPr>
        <p:spPr>
          <a:xfrm>
            <a:off x="8001000" y="3794760"/>
            <a:ext cx="3840480" cy="365760"/>
          </a:xfrm>
          <a:prstGeom prst="rect">
            <a:avLst/>
          </a:prstGeom>
          <a:noFill/>
        </p:spPr>
        <p:txBody>
          <a:bodyPr wrap="square" lIns="0" rIns="0" tIns="0" bIns="0">
            <a:spAutoFit/>
          </a:bodyPr>
          <a:lstStyle/>
          <a:p>
            <a:pPr algn="l"/>
            <a:r>
              <a:rPr sz="1100" b="0">
                <a:solidFill>
                  <a:srgbClr val="5B6474"/>
                </a:solidFill>
                <a:latin typeface="Inter"/>
              </a:rPr>
              <a:t>Live Floor, simulated plant e8-aura-p1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spAutoFit/>
          </a:bodyPr>
          <a:lstStyle/>
          <a:p>
            <a:pPr algn="l"/>
            <a:r>
              <a:rPr sz="3200" b="1">
                <a:solidFill>
                  <a:srgbClr val="16213E"/>
                </a:solidFill>
                <a:latin typeface="Inter"/>
              </a:rPr>
              <a:t>The problem</a:t>
            </a:r>
          </a:p>
        </p:txBody>
      </p:sp>
      <p:sp>
        <p:nvSpPr>
          <p:cNvPr id="3" name="TextBox 2"/>
          <p:cNvSpPr txBox="1"/>
          <p:nvPr/>
        </p:nvSpPr>
        <p:spPr>
          <a:xfrm>
            <a:off x="548640" y="1463040"/>
            <a:ext cx="11064240" cy="4389120"/>
          </a:xfrm>
          <a:prstGeom prst="rect">
            <a:avLst/>
          </a:prstGeom>
          <a:noFill/>
        </p:spPr>
        <p:txBody>
          <a:bodyPr wrap="square">
            <a:spAutoFit/>
          </a:bodyPr>
          <a:lstStyle/>
          <a:p>
            <a:pPr>
              <a:spcAft>
                <a:spcPts val="1920"/>
              </a:spcAft>
            </a:pPr>
            <a:r>
              <a:rPr sz="2400" b="1">
                <a:solidFill>
                  <a:srgbClr val="0F8B8D"/>
                </a:solidFill>
                <a:latin typeface="Inter"/>
              </a:rPr>
              <a:t>▸  </a:t>
            </a:r>
            <a:r>
              <a:rPr sz="2400" b="0">
                <a:solidFill>
                  <a:srgbClr val="1F2937"/>
                </a:solidFill>
                <a:latin typeface="Inter"/>
              </a:rPr>
              <a:t>When equipment fails, </a:t>
            </a:r>
            <a:r>
              <a:rPr sz="2400" b="1">
                <a:solidFill>
                  <a:srgbClr val="16213E"/>
                </a:solidFill>
                <a:latin typeface="Inter"/>
              </a:rPr>
              <a:t>closest</a:t>
            </a:r>
            <a:r>
              <a:rPr sz="2400" b="0">
                <a:solidFill>
                  <a:srgbClr val="1F2937"/>
                </a:solidFill>
                <a:latin typeface="Inter"/>
              </a:rPr>
              <a:t> or </a:t>
            </a:r>
            <a:r>
              <a:rPr sz="2400" b="1">
                <a:solidFill>
                  <a:srgbClr val="16213E"/>
                </a:solidFill>
                <a:latin typeface="Inter"/>
              </a:rPr>
              <a:t>free</a:t>
            </a:r>
            <a:r>
              <a:rPr sz="2400" b="0">
                <a:solidFill>
                  <a:srgbClr val="1F2937"/>
                </a:solidFill>
                <a:latin typeface="Inter"/>
              </a:rPr>
              <a:t> may be an incomplete answer.</a:t>
            </a:r>
          </a:p>
          <a:p>
            <a:pPr>
              <a:spcAft>
                <a:spcPts val="1920"/>
              </a:spcAft>
            </a:pPr>
            <a:r>
              <a:rPr sz="2400" b="1">
                <a:solidFill>
                  <a:srgbClr val="0F8B8D"/>
                </a:solidFill>
                <a:latin typeface="Inter"/>
              </a:rPr>
              <a:t>▸  </a:t>
            </a:r>
            <a:r>
              <a:rPr sz="2400" b="0">
                <a:solidFill>
                  <a:srgbClr val="1F2937"/>
                </a:solidFill>
                <a:latin typeface="Inter"/>
              </a:rPr>
              <a:t>The nearest technician may never have fixed this kind of fault.</a:t>
            </a:r>
          </a:p>
          <a:p>
            <a:pPr>
              <a:spcAft>
                <a:spcPts val="1920"/>
              </a:spcAft>
            </a:pPr>
            <a:r>
              <a:rPr sz="2400" b="1">
                <a:solidFill>
                  <a:srgbClr val="0F8B8D"/>
                </a:solidFill>
                <a:latin typeface="Inter"/>
              </a:rPr>
              <a:t>▸  </a:t>
            </a:r>
            <a:r>
              <a:rPr sz="2400" b="0">
                <a:solidFill>
                  <a:srgbClr val="1F2937"/>
                </a:solidFill>
                <a:latin typeface="Inter"/>
              </a:rPr>
              <a:t>A poor match can mean downtime, a reopened issue or another trip.</a:t>
            </a:r>
          </a:p>
          <a:p>
            <a:pPr>
              <a:spcAft>
                <a:spcPts val="1920"/>
              </a:spcAft>
            </a:pPr>
            <a:r>
              <a:rPr sz="2400" b="1">
                <a:solidFill>
                  <a:srgbClr val="0F8B8D"/>
                </a:solidFill>
                <a:latin typeface="Inter"/>
              </a:rPr>
              <a:t>▸  </a:t>
            </a:r>
            <a:r>
              <a:rPr sz="2400" b="0">
                <a:solidFill>
                  <a:srgbClr val="1F2937"/>
                </a:solidFill>
                <a:latin typeface="Inter"/>
              </a:rPr>
              <a:t>Who fixes what, and how, lives in people's heads and old tickets.</a:t>
            </a:r>
          </a:p>
        </p:txBody>
      </p:sp>
      <p:sp>
        <p:nvSpPr>
          <p:cNvPr id="4" name="TextBox 3"/>
          <p:cNvSpPr txBox="1"/>
          <p:nvPr/>
        </p:nvSpPr>
        <p:spPr>
          <a:xfrm>
            <a:off x="10607040" y="6400800"/>
            <a:ext cx="1097280" cy="274320"/>
          </a:xfrm>
          <a:prstGeom prst="rect">
            <a:avLst/>
          </a:prstGeom>
          <a:noFill/>
        </p:spPr>
        <p:txBody>
          <a:bodyPr wrap="square" lIns="0" rIns="0" tIns="0" bIns="0">
            <a:spAutoFit/>
          </a:bodyPr>
          <a:lstStyle/>
          <a:p>
            <a:pPr algn="ctr"/>
            <a:r>
              <a:rPr sz="1100" b="0">
                <a:solidFill>
                  <a:srgbClr val="5B6474"/>
                </a:solidFill>
                <a:latin typeface="Inter"/>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spAutoFit/>
          </a:bodyPr>
          <a:lstStyle/>
          <a:p>
            <a:pPr algn="l"/>
            <a:r>
              <a:rPr sz="3200" b="1">
                <a:solidFill>
                  <a:srgbClr val="16213E"/>
                </a:solidFill>
                <a:latin typeface="Inter"/>
              </a:rPr>
              <a:t>What ResponseCompass does</a:t>
            </a:r>
          </a:p>
        </p:txBody>
      </p:sp>
      <p:sp>
        <p:nvSpPr>
          <p:cNvPr id="3" name="TextBox 2"/>
          <p:cNvSpPr txBox="1"/>
          <p:nvPr/>
        </p:nvSpPr>
        <p:spPr>
          <a:xfrm>
            <a:off x="548640" y="1417320"/>
            <a:ext cx="5120640" cy="4937760"/>
          </a:xfrm>
          <a:prstGeom prst="rect">
            <a:avLst/>
          </a:prstGeom>
          <a:noFill/>
        </p:spPr>
        <p:txBody>
          <a:bodyPr wrap="square">
            <a:spAutoFit/>
          </a:bodyPr>
          <a:lstStyle/>
          <a:p>
            <a:pPr>
              <a:spcAft>
                <a:spcPts val="1440"/>
              </a:spcAft>
            </a:pPr>
            <a:r>
              <a:rPr sz="1800" b="1">
                <a:solidFill>
                  <a:srgbClr val="0F8B8D"/>
                </a:solidFill>
                <a:latin typeface="Inter"/>
              </a:rPr>
              <a:t>▸  </a:t>
            </a:r>
            <a:r>
              <a:rPr sz="1800" b="0">
                <a:solidFill>
                  <a:srgbClr val="1F2937"/>
                </a:solidFill>
                <a:latin typeface="Inter"/>
              </a:rPr>
              <a:t>For every new issue, Compass </a:t>
            </a:r>
            <a:r>
              <a:rPr sz="1800" b="1">
                <a:solidFill>
                  <a:srgbClr val="16213E"/>
                </a:solidFill>
                <a:latin typeface="Inter"/>
              </a:rPr>
              <a:t>ranks the eligible responders</a:t>
            </a:r>
            <a:r>
              <a:rPr sz="1800" b="0">
                <a:solidFill>
                  <a:srgbClr val="1F2937"/>
                </a:solidFill>
                <a:latin typeface="Inter"/>
              </a:rPr>
              <a:t> and explains the tradeoffs.</a:t>
            </a:r>
          </a:p>
          <a:p>
            <a:pPr>
              <a:spcAft>
                <a:spcPts val="1440"/>
              </a:spcAft>
            </a:pPr>
            <a:r>
              <a:rPr sz="1800" b="1">
                <a:solidFill>
                  <a:srgbClr val="0F8B8D"/>
                </a:solidFill>
                <a:latin typeface="Inter"/>
              </a:rPr>
              <a:t>▸  </a:t>
            </a:r>
            <a:r>
              <a:rPr sz="1800" b="0">
                <a:solidFill>
                  <a:srgbClr val="1F2937"/>
                </a:solidFill>
                <a:latin typeface="Inter"/>
              </a:rPr>
              <a:t>Offers go out automatically; responders accept or reject; complex work can get a second responder.</a:t>
            </a:r>
          </a:p>
          <a:p>
            <a:pPr>
              <a:spcAft>
                <a:spcPts val="1440"/>
              </a:spcAft>
            </a:pPr>
            <a:r>
              <a:rPr sz="1800" b="1">
                <a:solidFill>
                  <a:srgbClr val="0F8B8D"/>
                </a:solidFill>
                <a:latin typeface="Inter"/>
              </a:rPr>
              <a:t>▸  </a:t>
            </a:r>
            <a:r>
              <a:rPr sz="1800" b="0">
                <a:solidFill>
                  <a:srgbClr val="1F2937"/>
                </a:solidFill>
                <a:latin typeface="Inter"/>
              </a:rPr>
              <a:t>Central command can override a pending dispatch; every step is audited.</a:t>
            </a:r>
          </a:p>
          <a:p>
            <a:pPr>
              <a:spcAft>
                <a:spcPts val="1440"/>
              </a:spcAft>
            </a:pPr>
            <a:r>
              <a:rPr sz="1800" b="1">
                <a:solidFill>
                  <a:srgbClr val="0F8B8D"/>
                </a:solidFill>
                <a:latin typeface="Inter"/>
              </a:rPr>
              <a:t>▸  </a:t>
            </a:r>
            <a:r>
              <a:rPr sz="1800" b="0">
                <a:solidFill>
                  <a:srgbClr val="1F2937"/>
                </a:solidFill>
                <a:latin typeface="Inter"/>
              </a:rPr>
              <a:t>Each issue carries a </a:t>
            </a:r>
            <a:r>
              <a:rPr sz="1800" b="1">
                <a:solidFill>
                  <a:srgbClr val="16213E"/>
                </a:solidFill>
                <a:latin typeface="Inter"/>
              </a:rPr>
              <a:t>response action</a:t>
            </a:r>
            <a:r>
              <a:rPr sz="1800" b="0">
                <a:solidFill>
                  <a:srgbClr val="1F2937"/>
                </a:solidFill>
                <a:latin typeface="Inter"/>
              </a:rPr>
              <a:t>; recommending fixes from past repairs is </a:t>
            </a:r>
            <a:r>
              <a:rPr sz="1800" b="1">
                <a:solidFill>
                  <a:srgbClr val="16213E"/>
                </a:solidFill>
                <a:latin typeface="Inter"/>
              </a:rPr>
              <a:t>planned</a:t>
            </a:r>
            <a:r>
              <a:rPr sz="1800" b="0">
                <a:solidFill>
                  <a:srgbClr val="1F2937"/>
                </a:solidFill>
                <a:latin typeface="Inter"/>
              </a:rPr>
              <a:t>.</a:t>
            </a:r>
          </a:p>
        </p:txBody>
      </p:sp>
      <p:pic>
        <p:nvPicPr>
          <p:cNvPr id="4" name="Picture 3" descr="live-floor.png"/>
          <p:cNvPicPr>
            <a:picLocks noChangeAspect="1"/>
          </p:cNvPicPr>
          <p:nvPr/>
        </p:nvPicPr>
        <p:blipFill>
          <a:blip r:embed="rId2"/>
          <a:stretch>
            <a:fillRect/>
          </a:stretch>
        </p:blipFill>
        <p:spPr>
          <a:xfrm>
            <a:off x="5943600" y="1463040"/>
            <a:ext cx="5806440" cy="3266122"/>
          </a:xfrm>
          <a:prstGeom prst="rect">
            <a:avLst/>
          </a:prstGeom>
          <a:ln w="9525">
            <a:solidFill>
              <a:srgbClr val="C9CED8"/>
            </a:solidFill>
          </a:ln>
        </p:spPr>
      </p:pic>
      <p:sp>
        <p:nvSpPr>
          <p:cNvPr id="5" name="TextBox 4"/>
          <p:cNvSpPr txBox="1"/>
          <p:nvPr/>
        </p:nvSpPr>
        <p:spPr>
          <a:xfrm>
            <a:off x="10607040" y="6400800"/>
            <a:ext cx="1097280" cy="274320"/>
          </a:xfrm>
          <a:prstGeom prst="rect">
            <a:avLst/>
          </a:prstGeom>
          <a:noFill/>
        </p:spPr>
        <p:txBody>
          <a:bodyPr wrap="square" lIns="0" rIns="0" tIns="0" bIns="0">
            <a:spAutoFit/>
          </a:bodyPr>
          <a:lstStyle/>
          <a:p>
            <a:pPr algn="ctr"/>
            <a:r>
              <a:rPr sz="1100" b="0">
                <a:solidFill>
                  <a:srgbClr val="5B6474"/>
                </a:solidFill>
                <a:latin typeface="Inter"/>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spAutoFit/>
          </a:bodyPr>
          <a:lstStyle/>
          <a:p>
            <a:pPr algn="l"/>
            <a:r>
              <a:rPr sz="3200" b="1">
                <a:solidFill>
                  <a:srgbClr val="16213E"/>
                </a:solidFill>
                <a:latin typeface="Inter"/>
              </a:rPr>
              <a:t>Code owns the facts. Models only rank.</a:t>
            </a:r>
          </a:p>
        </p:txBody>
      </p:sp>
      <p:sp>
        <p:nvSpPr>
          <p:cNvPr id="3" name="TextBox 2"/>
          <p:cNvSpPr txBox="1"/>
          <p:nvPr/>
        </p:nvSpPr>
        <p:spPr>
          <a:xfrm>
            <a:off x="548640" y="1051560"/>
            <a:ext cx="11064240" cy="457200"/>
          </a:xfrm>
          <a:prstGeom prst="rect">
            <a:avLst/>
          </a:prstGeom>
          <a:noFill/>
        </p:spPr>
        <p:txBody>
          <a:bodyPr wrap="square" lIns="0" rIns="0" tIns="0" bIns="0">
            <a:spAutoFit/>
          </a:bodyPr>
          <a:lstStyle/>
          <a:p>
            <a:pPr algn="l"/>
            <a:r>
              <a:rPr sz="1600" b="0">
                <a:solidFill>
                  <a:srgbClr val="5B6474"/>
                </a:solidFill>
                <a:latin typeface="Inter"/>
              </a:rPr>
              <a:t>Application code owns time, facts, eligibility, baselines and every mutation; models only propose.</a:t>
            </a:r>
          </a:p>
        </p:txBody>
      </p:sp>
      <p:sp>
        <p:nvSpPr>
          <p:cNvPr id="4" name="Node: Simulation clock"/>
          <p:cNvSpPr/>
          <p:nvPr/>
        </p:nvSpPr>
        <p:spPr>
          <a:xfrm>
            <a:off x="411480" y="1600200"/>
            <a:ext cx="1874519" cy="658368"/>
          </a:xfrm>
          <a:prstGeom prst="roundRect">
            <a:avLst>
              <a:gd name="adj" fmla="val 18000"/>
            </a:avLst>
          </a:prstGeom>
          <a:solidFill>
            <a:srgbClr val="FFFFFF"/>
          </a:solidFill>
          <a:ln w="19050">
            <a:solidFill>
              <a:srgbClr val="16213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16213E"/>
                </a:solidFill>
                <a:latin typeface="Inter"/>
              </a:rPr>
              <a:t>Simulation clock</a:t>
            </a:r>
          </a:p>
          <a:p>
            <a:pPr algn="ctr"/>
            <a:r>
              <a:rPr sz="950" b="0">
                <a:solidFill>
                  <a:srgbClr val="5B6474"/>
                </a:solidFill>
                <a:latin typeface="Inter"/>
              </a:rPr>
              <a:t>persistent, pausable</a:t>
            </a:r>
          </a:p>
        </p:txBody>
      </p:sp>
      <p:sp>
        <p:nvSpPr>
          <p:cNvPr id="5" name="Node: Scheduler"/>
          <p:cNvSpPr/>
          <p:nvPr/>
        </p:nvSpPr>
        <p:spPr>
          <a:xfrm>
            <a:off x="411480" y="2697480"/>
            <a:ext cx="1874519" cy="658368"/>
          </a:xfrm>
          <a:prstGeom prst="roundRect">
            <a:avLst>
              <a:gd name="adj" fmla="val 18000"/>
            </a:avLst>
          </a:prstGeom>
          <a:solidFill>
            <a:srgbClr val="FFFFFF"/>
          </a:solidFill>
          <a:ln w="19050">
            <a:solidFill>
              <a:srgbClr val="16213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16213E"/>
                </a:solidFill>
                <a:latin typeface="Inter"/>
              </a:rPr>
              <a:t>Scheduler</a:t>
            </a:r>
          </a:p>
          <a:p>
            <a:pPr algn="ctr"/>
            <a:r>
              <a:rPr sz="950" b="0">
                <a:solidFill>
                  <a:srgbClr val="5B6474"/>
                </a:solidFill>
                <a:latin typeface="Inter"/>
              </a:rPr>
              <a:t>one-shot, restart-safe</a:t>
            </a:r>
          </a:p>
        </p:txBody>
      </p:sp>
      <p:sp>
        <p:nvSpPr>
          <p:cNvPr id="6" name="Node: Event planner"/>
          <p:cNvSpPr/>
          <p:nvPr/>
        </p:nvSpPr>
        <p:spPr>
          <a:xfrm>
            <a:off x="2834640" y="1600200"/>
            <a:ext cx="1874519" cy="658368"/>
          </a:xfrm>
          <a:prstGeom prst="roundRect">
            <a:avLst>
              <a:gd name="adj" fmla="val 18000"/>
            </a:avLst>
          </a:prstGeom>
          <a:solidFill>
            <a:srgbClr val="0F8B8D"/>
          </a:solidFill>
          <a:ln w="19050">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FFFFFF"/>
                </a:solidFill>
                <a:latin typeface="Inter"/>
              </a:rPr>
              <a:t>Event planner</a:t>
            </a:r>
          </a:p>
          <a:p>
            <a:pPr algn="ctr"/>
            <a:r>
              <a:rPr sz="950" b="0">
                <a:solidFill>
                  <a:srgbClr val="E6FFFF"/>
                </a:solidFill>
                <a:latin typeface="Inter"/>
              </a:rPr>
              <a:t>AMD Token Factory</a:t>
            </a:r>
          </a:p>
        </p:txBody>
      </p:sp>
      <p:sp>
        <p:nvSpPr>
          <p:cNvPr id="7" name="Node: Fallback planner"/>
          <p:cNvSpPr/>
          <p:nvPr/>
        </p:nvSpPr>
        <p:spPr>
          <a:xfrm>
            <a:off x="2834640" y="2697480"/>
            <a:ext cx="1874519" cy="658368"/>
          </a:xfrm>
          <a:prstGeom prst="roundRect">
            <a:avLst>
              <a:gd name="adj" fmla="val 18000"/>
            </a:avLst>
          </a:prstGeom>
          <a:solidFill>
            <a:srgbClr val="FFFFFF"/>
          </a:solidFill>
          <a:ln w="19050">
            <a:solidFill>
              <a:srgbClr val="16213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16213E"/>
                </a:solidFill>
                <a:latin typeface="Inter"/>
              </a:rPr>
              <a:t>Fallback planner</a:t>
            </a:r>
          </a:p>
          <a:p>
            <a:pPr algn="ctr"/>
            <a:r>
              <a:rPr sz="950" b="0">
                <a:solidFill>
                  <a:srgbClr val="5B6474"/>
                </a:solidFill>
                <a:latin typeface="Inter"/>
              </a:rPr>
              <a:t>deterministic, API-free</a:t>
            </a:r>
          </a:p>
        </p:txBody>
      </p:sp>
      <p:sp>
        <p:nvSpPr>
          <p:cNvPr id="8" name="Node: Validator"/>
          <p:cNvSpPr/>
          <p:nvPr/>
        </p:nvSpPr>
        <p:spPr>
          <a:xfrm>
            <a:off x="5257800" y="2148840"/>
            <a:ext cx="1874519" cy="658368"/>
          </a:xfrm>
          <a:prstGeom prst="roundRect">
            <a:avLst>
              <a:gd name="adj" fmla="val 18000"/>
            </a:avLst>
          </a:prstGeom>
          <a:solidFill>
            <a:srgbClr val="FFFFFF"/>
          </a:solidFill>
          <a:ln w="19050">
            <a:solidFill>
              <a:srgbClr val="16213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16213E"/>
                </a:solidFill>
                <a:latin typeface="Inter"/>
              </a:rPr>
              <a:t>Validator</a:t>
            </a:r>
          </a:p>
          <a:p>
            <a:pPr algn="ctr"/>
            <a:r>
              <a:rPr sz="950" b="0">
                <a:solidFill>
                  <a:srgbClr val="5B6474"/>
                </a:solidFill>
                <a:latin typeface="Inter"/>
              </a:rPr>
              <a:t>schema + facts</a:t>
            </a:r>
          </a:p>
        </p:txBody>
      </p:sp>
      <p:sp>
        <p:nvSpPr>
          <p:cNvPr id="9" name="Node: Canonical state"/>
          <p:cNvSpPr/>
          <p:nvPr/>
        </p:nvSpPr>
        <p:spPr>
          <a:xfrm>
            <a:off x="5029200" y="3337560"/>
            <a:ext cx="2331720" cy="868680"/>
          </a:xfrm>
          <a:prstGeom prst="roundRect">
            <a:avLst>
              <a:gd name="adj" fmla="val 18000"/>
            </a:avLst>
          </a:prstGeom>
          <a:solidFill>
            <a:srgbClr val="16213E"/>
          </a:solidFill>
          <a:ln w="19050">
            <a:solidFill>
              <a:srgbClr val="16213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FFFFFF"/>
                </a:solidFill>
                <a:latin typeface="Inter"/>
              </a:rPr>
              <a:t>Canonical state</a:t>
            </a:r>
          </a:p>
          <a:p>
            <a:pPr algn="ctr"/>
            <a:r>
              <a:rPr sz="950" b="0">
                <a:solidFill>
                  <a:srgbClr val="C9D3EA"/>
                </a:solidFill>
                <a:latin typeface="Inter"/>
              </a:rPr>
              <a:t>persistent store, audit trail</a:t>
            </a:r>
          </a:p>
        </p:txBody>
      </p:sp>
      <p:sp>
        <p:nvSpPr>
          <p:cNvPr id="10" name="Node: Central command"/>
          <p:cNvSpPr/>
          <p:nvPr/>
        </p:nvSpPr>
        <p:spPr>
          <a:xfrm>
            <a:off x="8229600" y="2148840"/>
            <a:ext cx="2331720" cy="658368"/>
          </a:xfrm>
          <a:prstGeom prst="roundRect">
            <a:avLst>
              <a:gd name="adj" fmla="val 18000"/>
            </a:avLst>
          </a:prstGeom>
          <a:solidFill>
            <a:srgbClr val="FFFFFF"/>
          </a:solidFill>
          <a:ln w="19050">
            <a:solidFill>
              <a:srgbClr val="D98A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1F2937"/>
                </a:solidFill>
                <a:latin typeface="Inter"/>
              </a:rPr>
              <a:t>Central command</a:t>
            </a:r>
          </a:p>
          <a:p>
            <a:pPr algn="ctr"/>
            <a:r>
              <a:rPr sz="950" b="0">
                <a:solidFill>
                  <a:srgbClr val="5B6474"/>
                </a:solidFill>
                <a:latin typeface="Inter"/>
              </a:rPr>
              <a:t>override pending dispatch</a:t>
            </a:r>
          </a:p>
        </p:txBody>
      </p:sp>
      <p:sp>
        <p:nvSpPr>
          <p:cNvPr id="11" name="Node: Live Floor &amp; Analytics"/>
          <p:cNvSpPr/>
          <p:nvPr/>
        </p:nvSpPr>
        <p:spPr>
          <a:xfrm>
            <a:off x="8229600" y="3465576"/>
            <a:ext cx="2331720" cy="658368"/>
          </a:xfrm>
          <a:prstGeom prst="roundRect">
            <a:avLst>
              <a:gd name="adj" fmla="val 18000"/>
            </a:avLst>
          </a:prstGeom>
          <a:solidFill>
            <a:srgbClr val="FFFFFF"/>
          </a:solidFill>
          <a:ln w="19050">
            <a:solidFill>
              <a:srgbClr val="16213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16213E"/>
                </a:solidFill>
                <a:latin typeface="Inter"/>
              </a:rPr>
              <a:t>Live Floor &amp; Analytics</a:t>
            </a:r>
          </a:p>
          <a:p>
            <a:pPr algn="ctr"/>
            <a:r>
              <a:rPr sz="950" b="0">
                <a:solidFill>
                  <a:srgbClr val="5B6474"/>
                </a:solidFill>
                <a:latin typeface="Inter"/>
              </a:rPr>
              <a:t>UI, fixed snapshots</a:t>
            </a:r>
          </a:p>
        </p:txBody>
      </p:sp>
      <p:sp>
        <p:nvSpPr>
          <p:cNvPr id="12" name="Node: Resolution engine"/>
          <p:cNvSpPr/>
          <p:nvPr/>
        </p:nvSpPr>
        <p:spPr>
          <a:xfrm>
            <a:off x="8229600" y="4754880"/>
            <a:ext cx="2331720" cy="658368"/>
          </a:xfrm>
          <a:prstGeom prst="roundRect">
            <a:avLst>
              <a:gd name="adj" fmla="val 18000"/>
            </a:avLst>
          </a:prstGeom>
          <a:solidFill>
            <a:srgbClr val="FFFFFF"/>
          </a:solidFill>
          <a:ln w="19050">
            <a:solidFill>
              <a:srgbClr val="16213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16213E"/>
                </a:solidFill>
                <a:latin typeface="Inter"/>
              </a:rPr>
              <a:t>Resolution engine</a:t>
            </a:r>
          </a:p>
          <a:p>
            <a:pPr algn="ctr"/>
            <a:r>
              <a:rPr sz="950" b="0">
                <a:solidFill>
                  <a:srgbClr val="5B6474"/>
                </a:solidFill>
                <a:latin typeface="Inter"/>
              </a:rPr>
              <a:t>hidden skill → outcome</a:t>
            </a:r>
          </a:p>
        </p:txBody>
      </p:sp>
      <p:sp>
        <p:nvSpPr>
          <p:cNvPr id="13" name="Node: Context engine"/>
          <p:cNvSpPr/>
          <p:nvPr/>
        </p:nvSpPr>
        <p:spPr>
          <a:xfrm>
            <a:off x="5257800" y="4754880"/>
            <a:ext cx="1874519" cy="658368"/>
          </a:xfrm>
          <a:prstGeom prst="roundRect">
            <a:avLst>
              <a:gd name="adj" fmla="val 18000"/>
            </a:avLst>
          </a:prstGeom>
          <a:solidFill>
            <a:srgbClr val="FFFFFF"/>
          </a:solidFill>
          <a:ln w="19050">
            <a:solidFill>
              <a:srgbClr val="16213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16213E"/>
                </a:solidFill>
                <a:latin typeface="Inter"/>
              </a:rPr>
              <a:t>Context engine</a:t>
            </a:r>
          </a:p>
          <a:p>
            <a:pPr algn="ctr"/>
            <a:r>
              <a:rPr sz="950" b="0">
                <a:solidFill>
                  <a:srgbClr val="5B6474"/>
                </a:solidFill>
                <a:latin typeface="Inter"/>
              </a:rPr>
              <a:t>eligibility, travel, history</a:t>
            </a:r>
          </a:p>
        </p:txBody>
      </p:sp>
      <p:sp>
        <p:nvSpPr>
          <p:cNvPr id="14" name="Node: Compass"/>
          <p:cNvSpPr/>
          <p:nvPr/>
        </p:nvSpPr>
        <p:spPr>
          <a:xfrm>
            <a:off x="2834640" y="4434840"/>
            <a:ext cx="1874519" cy="658368"/>
          </a:xfrm>
          <a:prstGeom prst="roundRect">
            <a:avLst>
              <a:gd name="adj" fmla="val 18000"/>
            </a:avLst>
          </a:prstGeom>
          <a:solidFill>
            <a:srgbClr val="0F8B8D"/>
          </a:solidFill>
          <a:ln w="19050">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FFFFFF"/>
                </a:solidFill>
                <a:latin typeface="Inter"/>
              </a:rPr>
              <a:t>Compass</a:t>
            </a:r>
          </a:p>
          <a:p>
            <a:pPr algn="ctr"/>
            <a:r>
              <a:rPr sz="950" b="0">
                <a:solidFill>
                  <a:srgbClr val="E6FFFF"/>
                </a:solidFill>
                <a:latin typeface="Inter"/>
              </a:rPr>
              <a:t>AMD Token Factory: ranks</a:t>
            </a:r>
          </a:p>
        </p:txBody>
      </p:sp>
      <p:sp>
        <p:nvSpPr>
          <p:cNvPr id="15" name="Node: Baselines"/>
          <p:cNvSpPr/>
          <p:nvPr/>
        </p:nvSpPr>
        <p:spPr>
          <a:xfrm>
            <a:off x="2834640" y="5486400"/>
            <a:ext cx="1874519" cy="658368"/>
          </a:xfrm>
          <a:prstGeom prst="roundRect">
            <a:avLst>
              <a:gd name="adj" fmla="val 18000"/>
            </a:avLst>
          </a:prstGeom>
          <a:solidFill>
            <a:srgbClr val="FFFFFF"/>
          </a:solidFill>
          <a:ln w="19050">
            <a:solidFill>
              <a:srgbClr val="16213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16213E"/>
                </a:solidFill>
                <a:latin typeface="Inter"/>
              </a:rPr>
              <a:t>Baselines</a:t>
            </a:r>
          </a:p>
          <a:p>
            <a:pPr algn="ctr"/>
            <a:r>
              <a:rPr sz="950" b="0">
                <a:solidFill>
                  <a:srgbClr val="5B6474"/>
                </a:solidFill>
                <a:latin typeface="Inter"/>
              </a:rPr>
              <a:t>nearest + naive score</a:t>
            </a:r>
          </a:p>
        </p:txBody>
      </p:sp>
      <p:sp>
        <p:nvSpPr>
          <p:cNvPr id="16" name="Node: Dispatch"/>
          <p:cNvSpPr/>
          <p:nvPr/>
        </p:nvSpPr>
        <p:spPr>
          <a:xfrm>
            <a:off x="411480" y="4937760"/>
            <a:ext cx="1874519" cy="658368"/>
          </a:xfrm>
          <a:prstGeom prst="roundRect">
            <a:avLst>
              <a:gd name="adj" fmla="val 18000"/>
            </a:avLst>
          </a:prstGeom>
          <a:solidFill>
            <a:srgbClr val="FFFFFF"/>
          </a:solidFill>
          <a:ln w="19050">
            <a:solidFill>
              <a:srgbClr val="16213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16213E"/>
                </a:solidFill>
                <a:latin typeface="Inter"/>
              </a:rPr>
              <a:t>Dispatch</a:t>
            </a:r>
          </a:p>
          <a:p>
            <a:pPr algn="ctr"/>
            <a:r>
              <a:rPr sz="950" b="0">
                <a:solidFill>
                  <a:srgbClr val="5B6474"/>
                </a:solidFill>
                <a:latin typeface="Inter"/>
              </a:rPr>
              <a:t>ranked offer queue</a:t>
            </a:r>
          </a:p>
        </p:txBody>
      </p:sp>
      <p:sp>
        <p:nvSpPr>
          <p:cNvPr id="17" name="Node: Responders"/>
          <p:cNvSpPr/>
          <p:nvPr/>
        </p:nvSpPr>
        <p:spPr>
          <a:xfrm>
            <a:off x="411480" y="3840480"/>
            <a:ext cx="1874519" cy="658368"/>
          </a:xfrm>
          <a:prstGeom prst="roundRect">
            <a:avLst>
              <a:gd name="adj" fmla="val 18000"/>
            </a:avLst>
          </a:prstGeom>
          <a:solidFill>
            <a:srgbClr val="FFFFFF"/>
          </a:solidFill>
          <a:ln w="19050">
            <a:solidFill>
              <a:srgbClr val="D98A1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00" b="1">
                <a:solidFill>
                  <a:srgbClr val="1F2937"/>
                </a:solidFill>
                <a:latin typeface="Inter"/>
              </a:rPr>
              <a:t>Responders</a:t>
            </a:r>
          </a:p>
          <a:p>
            <a:pPr algn="ctr"/>
            <a:r>
              <a:rPr sz="950" b="0">
                <a:solidFill>
                  <a:srgbClr val="5B6474"/>
                </a:solidFill>
                <a:latin typeface="Inter"/>
              </a:rPr>
              <a:t>accept or reject</a:t>
            </a:r>
          </a:p>
        </p:txBody>
      </p:sp>
      <p:cxnSp>
        <p:nvCxnSpPr>
          <p:cNvPr id="18" name="Arrow: Simulation clock to Scheduler"/>
          <p:cNvCxnSpPr>
            <a:stCxn id="4" idx="2"/>
            <a:endCxn id="5" idx="0"/>
          </p:cNvCxnSpPr>
          <p:nvPr/>
        </p:nvCxnSpPr>
        <p:spPr>
          <a:xfrm flipH="1">
            <a:off x="1348739" y="2258568"/>
            <a:ext cx="0" cy="438912"/>
          </a:xfrm>
          <a:prstGeom prst="line">
            <a:avLst/>
          </a:prstGeom>
          <a:ln w="19050">
            <a:solidFill>
              <a:srgbClr val="5B64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Arrow: Scheduler to Event planner"/>
          <p:cNvCxnSpPr>
            <a:stCxn id="5" idx="3"/>
            <a:endCxn id="6" idx="1"/>
          </p:cNvCxnSpPr>
          <p:nvPr/>
        </p:nvCxnSpPr>
        <p:spPr>
          <a:xfrm flipV="1">
            <a:off x="2285999" y="1929384"/>
            <a:ext cx="548641" cy="1097280"/>
          </a:xfrm>
          <a:prstGeom prst="line">
            <a:avLst/>
          </a:prstGeom>
          <a:ln w="19050">
            <a:solidFill>
              <a:srgbClr val="5B64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Arrow: Scheduler to Fallback planner"/>
          <p:cNvCxnSpPr>
            <a:stCxn id="5" idx="3"/>
            <a:endCxn id="7" idx="1"/>
          </p:cNvCxnSpPr>
          <p:nvPr/>
        </p:nvCxnSpPr>
        <p:spPr>
          <a:xfrm flipV="1">
            <a:off x="2285999" y="3026664"/>
            <a:ext cx="548641" cy="0"/>
          </a:xfrm>
          <a:prstGeom prst="line">
            <a:avLst/>
          </a:prstGeom>
          <a:ln w="19050">
            <a:solidFill>
              <a:srgbClr val="5B64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Arrow: Event planner to Validator"/>
          <p:cNvCxnSpPr>
            <a:stCxn id="6" idx="3"/>
            <a:endCxn id="8" idx="1"/>
          </p:cNvCxnSpPr>
          <p:nvPr/>
        </p:nvCxnSpPr>
        <p:spPr>
          <a:xfrm>
            <a:off x="4709159" y="1929384"/>
            <a:ext cx="548641" cy="548640"/>
          </a:xfrm>
          <a:prstGeom prst="line">
            <a:avLst/>
          </a:prstGeom>
          <a:ln w="19050">
            <a:solidFill>
              <a:srgbClr val="5B64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2" name="Arrow: Fallback planner to Validator"/>
          <p:cNvCxnSpPr>
            <a:stCxn id="7" idx="3"/>
            <a:endCxn id="8" idx="1"/>
          </p:cNvCxnSpPr>
          <p:nvPr/>
        </p:nvCxnSpPr>
        <p:spPr>
          <a:xfrm flipV="1">
            <a:off x="4709159" y="2478024"/>
            <a:ext cx="548641" cy="548640"/>
          </a:xfrm>
          <a:prstGeom prst="line">
            <a:avLst/>
          </a:prstGeom>
          <a:ln w="19050">
            <a:solidFill>
              <a:srgbClr val="5B64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Arrow: Validator to Canonical state"/>
          <p:cNvCxnSpPr>
            <a:stCxn id="8" idx="2"/>
            <a:endCxn id="9" idx="0"/>
          </p:cNvCxnSpPr>
          <p:nvPr/>
        </p:nvCxnSpPr>
        <p:spPr>
          <a:xfrm>
            <a:off x="6195059" y="2807208"/>
            <a:ext cx="1" cy="530352"/>
          </a:xfrm>
          <a:prstGeom prst="line">
            <a:avLst/>
          </a:prstGeom>
          <a:ln w="19050">
            <a:solidFill>
              <a:srgbClr val="5B64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Arrow: Central command to Canonical state"/>
          <p:cNvCxnSpPr>
            <a:stCxn id="10" idx="1"/>
            <a:endCxn id="9" idx="3"/>
          </p:cNvCxnSpPr>
          <p:nvPr/>
        </p:nvCxnSpPr>
        <p:spPr>
          <a:xfrm flipH="1">
            <a:off x="7360920" y="2478024"/>
            <a:ext cx="868680" cy="1293876"/>
          </a:xfrm>
          <a:prstGeom prst="line">
            <a:avLst/>
          </a:prstGeom>
          <a:ln w="19050">
            <a:solidFill>
              <a:srgbClr val="5B64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Arrow: Canonical state to Live Floor &amp; Analytics"/>
          <p:cNvCxnSpPr>
            <a:stCxn id="9" idx="3"/>
            <a:endCxn id="11" idx="1"/>
          </p:cNvCxnSpPr>
          <p:nvPr/>
        </p:nvCxnSpPr>
        <p:spPr>
          <a:xfrm>
            <a:off x="7360920" y="3771900"/>
            <a:ext cx="868680" cy="22860"/>
          </a:xfrm>
          <a:prstGeom prst="line">
            <a:avLst/>
          </a:prstGeom>
          <a:ln w="19050">
            <a:solidFill>
              <a:srgbClr val="5B64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Arrow: Resolution engine to Canonical state"/>
          <p:cNvCxnSpPr>
            <a:stCxn id="12" idx="1"/>
            <a:endCxn id="9" idx="3"/>
          </p:cNvCxnSpPr>
          <p:nvPr/>
        </p:nvCxnSpPr>
        <p:spPr>
          <a:xfrm flipH="1" flipV="1">
            <a:off x="7360920" y="3771900"/>
            <a:ext cx="868680" cy="1312164"/>
          </a:xfrm>
          <a:prstGeom prst="line">
            <a:avLst/>
          </a:prstGeom>
          <a:ln w="19050">
            <a:solidFill>
              <a:srgbClr val="5B64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Arrow: Canonical state to Context engine"/>
          <p:cNvCxnSpPr>
            <a:stCxn id="9" idx="2"/>
            <a:endCxn id="13" idx="0"/>
          </p:cNvCxnSpPr>
          <p:nvPr/>
        </p:nvCxnSpPr>
        <p:spPr>
          <a:xfrm flipH="1">
            <a:off x="6195059" y="4206240"/>
            <a:ext cx="1" cy="548640"/>
          </a:xfrm>
          <a:prstGeom prst="line">
            <a:avLst/>
          </a:prstGeom>
          <a:ln w="19050">
            <a:solidFill>
              <a:srgbClr val="5B64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Arrow: Context engine to Compass"/>
          <p:cNvCxnSpPr>
            <a:stCxn id="13" idx="1"/>
            <a:endCxn id="14" idx="3"/>
          </p:cNvCxnSpPr>
          <p:nvPr/>
        </p:nvCxnSpPr>
        <p:spPr>
          <a:xfrm flipH="1" flipV="1">
            <a:off x="4709159" y="4764024"/>
            <a:ext cx="548641" cy="320040"/>
          </a:xfrm>
          <a:prstGeom prst="line">
            <a:avLst/>
          </a:prstGeom>
          <a:ln w="19050">
            <a:solidFill>
              <a:srgbClr val="5B64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Arrow: Context engine to Baselines"/>
          <p:cNvCxnSpPr>
            <a:stCxn id="13" idx="1"/>
            <a:endCxn id="15" idx="3"/>
          </p:cNvCxnSpPr>
          <p:nvPr/>
        </p:nvCxnSpPr>
        <p:spPr>
          <a:xfrm flipH="1">
            <a:off x="4709159" y="5084064"/>
            <a:ext cx="548641" cy="731520"/>
          </a:xfrm>
          <a:prstGeom prst="line">
            <a:avLst/>
          </a:prstGeom>
          <a:ln w="19050">
            <a:solidFill>
              <a:srgbClr val="5B64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Arrow: Compass to Dispatch"/>
          <p:cNvCxnSpPr>
            <a:stCxn id="14" idx="1"/>
            <a:endCxn id="16" idx="3"/>
          </p:cNvCxnSpPr>
          <p:nvPr/>
        </p:nvCxnSpPr>
        <p:spPr>
          <a:xfrm flipH="1">
            <a:off x="2285999" y="4764024"/>
            <a:ext cx="548641" cy="502920"/>
          </a:xfrm>
          <a:prstGeom prst="line">
            <a:avLst/>
          </a:prstGeom>
          <a:ln w="19050">
            <a:solidFill>
              <a:srgbClr val="5B64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Arrow: Baselines to Dispatch"/>
          <p:cNvCxnSpPr>
            <a:stCxn id="15" idx="1"/>
            <a:endCxn id="16" idx="3"/>
          </p:cNvCxnSpPr>
          <p:nvPr/>
        </p:nvCxnSpPr>
        <p:spPr>
          <a:xfrm flipH="1" flipV="1">
            <a:off x="2285999" y="5266944"/>
            <a:ext cx="548641" cy="548640"/>
          </a:xfrm>
          <a:prstGeom prst="line">
            <a:avLst/>
          </a:prstGeom>
          <a:ln w="19050">
            <a:solidFill>
              <a:srgbClr val="5B64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Arrow: Dispatch to Responders"/>
          <p:cNvCxnSpPr>
            <a:stCxn id="16" idx="0"/>
            <a:endCxn id="17" idx="2"/>
          </p:cNvCxnSpPr>
          <p:nvPr/>
        </p:nvCxnSpPr>
        <p:spPr>
          <a:xfrm flipH="1" flipV="1">
            <a:off x="1348739" y="4498848"/>
            <a:ext cx="0" cy="438912"/>
          </a:xfrm>
          <a:prstGeom prst="line">
            <a:avLst/>
          </a:prstGeom>
          <a:ln w="19050">
            <a:solidFill>
              <a:srgbClr val="5B64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Arrow: Responders to Canonical state"/>
          <p:cNvCxnSpPr>
            <a:stCxn id="17" idx="3"/>
            <a:endCxn id="9" idx="1"/>
          </p:cNvCxnSpPr>
          <p:nvPr/>
        </p:nvCxnSpPr>
        <p:spPr>
          <a:xfrm flipV="1">
            <a:off x="2285999" y="3771900"/>
            <a:ext cx="2743201" cy="397764"/>
          </a:xfrm>
          <a:prstGeom prst="line">
            <a:avLst/>
          </a:prstGeom>
          <a:ln w="19050">
            <a:solidFill>
              <a:srgbClr val="5B64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8229600" y="5760720"/>
            <a:ext cx="292608" cy="182880"/>
          </a:xfrm>
          <a:prstGeom prst="roundRect">
            <a:avLst/>
          </a:prstGeom>
          <a:solidFill>
            <a:srgbClr val="FFFFFF"/>
          </a:solidFill>
          <a:ln>
            <a:solidFill>
              <a:srgbClr val="1621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13648" y="5733288"/>
            <a:ext cx="2286000" cy="256032"/>
          </a:xfrm>
          <a:prstGeom prst="rect">
            <a:avLst/>
          </a:prstGeom>
          <a:noFill/>
        </p:spPr>
        <p:txBody>
          <a:bodyPr wrap="square" lIns="0" rIns="0" tIns="0" bIns="0">
            <a:spAutoFit/>
          </a:bodyPr>
          <a:lstStyle/>
          <a:p>
            <a:pPr algn="l"/>
            <a:r>
              <a:rPr sz="1100" b="0">
                <a:solidFill>
                  <a:srgbClr val="5B6474"/>
                </a:solidFill>
                <a:latin typeface="Inter"/>
              </a:rPr>
              <a:t>Application code</a:t>
            </a:r>
          </a:p>
        </p:txBody>
      </p:sp>
      <p:sp>
        <p:nvSpPr>
          <p:cNvPr id="36" name="Rounded Rectangle 35"/>
          <p:cNvSpPr/>
          <p:nvPr/>
        </p:nvSpPr>
        <p:spPr>
          <a:xfrm>
            <a:off x="8229600" y="6035040"/>
            <a:ext cx="292608" cy="182880"/>
          </a:xfrm>
          <a:prstGeom prst="roundRect">
            <a:avLst/>
          </a:prstGeom>
          <a:solidFill>
            <a:srgbClr val="0F8B8D"/>
          </a:solidFill>
          <a:ln>
            <a:solidFill>
              <a:srgbClr val="0F8B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13648" y="6007607"/>
            <a:ext cx="2286000" cy="256032"/>
          </a:xfrm>
          <a:prstGeom prst="rect">
            <a:avLst/>
          </a:prstGeom>
          <a:noFill/>
        </p:spPr>
        <p:txBody>
          <a:bodyPr wrap="square" lIns="0" rIns="0" tIns="0" bIns="0">
            <a:spAutoFit/>
          </a:bodyPr>
          <a:lstStyle/>
          <a:p>
            <a:pPr algn="l"/>
            <a:r>
              <a:rPr sz="1100" b="0">
                <a:solidFill>
                  <a:srgbClr val="5B6474"/>
                </a:solidFill>
                <a:latin typeface="Inter"/>
              </a:rPr>
              <a:t>AMD model</a:t>
            </a:r>
          </a:p>
        </p:txBody>
      </p:sp>
      <p:sp>
        <p:nvSpPr>
          <p:cNvPr id="38" name="Rounded Rectangle 37"/>
          <p:cNvSpPr/>
          <p:nvPr/>
        </p:nvSpPr>
        <p:spPr>
          <a:xfrm>
            <a:off x="8229600" y="6309359"/>
            <a:ext cx="292608" cy="182880"/>
          </a:xfrm>
          <a:prstGeom prst="roundRect">
            <a:avLst/>
          </a:prstGeom>
          <a:solidFill>
            <a:srgbClr val="FFFFFF"/>
          </a:solidFill>
          <a:ln>
            <a:solidFill>
              <a:srgbClr val="D98A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13648" y="6281927"/>
            <a:ext cx="2286000" cy="256032"/>
          </a:xfrm>
          <a:prstGeom prst="rect">
            <a:avLst/>
          </a:prstGeom>
          <a:noFill/>
        </p:spPr>
        <p:txBody>
          <a:bodyPr wrap="square" lIns="0" rIns="0" tIns="0" bIns="0">
            <a:spAutoFit/>
          </a:bodyPr>
          <a:lstStyle/>
          <a:p>
            <a:pPr algn="l"/>
            <a:r>
              <a:rPr sz="1100" b="0">
                <a:solidFill>
                  <a:srgbClr val="5B6474"/>
                </a:solidFill>
                <a:latin typeface="Inter"/>
              </a:rPr>
              <a:t>People</a:t>
            </a:r>
          </a:p>
        </p:txBody>
      </p:sp>
      <p:sp>
        <p:nvSpPr>
          <p:cNvPr id="40" name="TextBox 39"/>
          <p:cNvSpPr txBox="1"/>
          <p:nvPr/>
        </p:nvSpPr>
        <p:spPr>
          <a:xfrm>
            <a:off x="10607040" y="6400800"/>
            <a:ext cx="1097280" cy="274320"/>
          </a:xfrm>
          <a:prstGeom prst="rect">
            <a:avLst/>
          </a:prstGeom>
          <a:noFill/>
        </p:spPr>
        <p:txBody>
          <a:bodyPr wrap="square" lIns="0" rIns="0" tIns="0" bIns="0">
            <a:spAutoFit/>
          </a:bodyPr>
          <a:lstStyle/>
          <a:p>
            <a:pPr algn="ctr"/>
            <a:r>
              <a:rPr sz="1100" b="0">
                <a:solidFill>
                  <a:srgbClr val="5B6474"/>
                </a:solidFill>
                <a:latin typeface="Inter"/>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spAutoFit/>
          </a:bodyPr>
          <a:lstStyle/>
          <a:p>
            <a:pPr algn="l"/>
            <a:r>
              <a:rPr sz="3200" b="1">
                <a:solidFill>
                  <a:srgbClr val="16213E"/>
                </a:solidFill>
                <a:latin typeface="Inter"/>
              </a:rPr>
              <a:t>Honest by design</a:t>
            </a:r>
          </a:p>
        </p:txBody>
      </p:sp>
      <p:sp>
        <p:nvSpPr>
          <p:cNvPr id="3" name="TextBox 2"/>
          <p:cNvSpPr txBox="1"/>
          <p:nvPr/>
        </p:nvSpPr>
        <p:spPr>
          <a:xfrm>
            <a:off x="548640" y="1463040"/>
            <a:ext cx="11064240" cy="4754880"/>
          </a:xfrm>
          <a:prstGeom prst="rect">
            <a:avLst/>
          </a:prstGeom>
          <a:noFill/>
        </p:spPr>
        <p:txBody>
          <a:bodyPr wrap="square">
            <a:spAutoFit/>
          </a:bodyPr>
          <a:lstStyle/>
          <a:p>
            <a:pPr>
              <a:spcAft>
                <a:spcPts val="1680"/>
              </a:spcAft>
            </a:pPr>
            <a:r>
              <a:rPr sz="2100" b="1">
                <a:solidFill>
                  <a:srgbClr val="0F8B8D"/>
                </a:solidFill>
                <a:latin typeface="Inter"/>
              </a:rPr>
              <a:t>▸  </a:t>
            </a:r>
            <a:r>
              <a:rPr sz="2100" b="0">
                <a:solidFill>
                  <a:srgbClr val="1F2937"/>
                </a:solidFill>
                <a:latin typeface="Inter"/>
              </a:rPr>
              <a:t>Each responder's </a:t>
            </a:r>
            <a:r>
              <a:rPr sz="2100" b="1">
                <a:solidFill>
                  <a:srgbClr val="16213E"/>
                </a:solidFill>
                <a:latin typeface="Inter"/>
              </a:rPr>
              <a:t>true skill is hidden</a:t>
            </a:r>
            <a:r>
              <a:rPr sz="2100" b="0">
                <a:solidFill>
                  <a:srgbClr val="1F2937"/>
                </a:solidFill>
                <a:latin typeface="Inter"/>
              </a:rPr>
              <a:t> simulation truth: no model, UI or analytics sees it.</a:t>
            </a:r>
          </a:p>
          <a:p>
            <a:pPr>
              <a:spcAft>
                <a:spcPts val="1680"/>
              </a:spcAft>
            </a:pPr>
            <a:r>
              <a:rPr sz="2100" b="1">
                <a:solidFill>
                  <a:srgbClr val="0F8B8D"/>
                </a:solidFill>
                <a:latin typeface="Inter"/>
              </a:rPr>
              <a:t>▸  </a:t>
            </a:r>
            <a:r>
              <a:rPr sz="2100" b="0">
                <a:solidFill>
                  <a:srgbClr val="1F2937"/>
                </a:solidFill>
                <a:latin typeface="Inter"/>
              </a:rPr>
              <a:t>Outcomes are simulated from that hidden skill, independently of what the model claims.</a:t>
            </a:r>
          </a:p>
          <a:p>
            <a:pPr>
              <a:spcAft>
                <a:spcPts val="1680"/>
              </a:spcAft>
            </a:pPr>
            <a:r>
              <a:rPr sz="2100" b="1">
                <a:solidFill>
                  <a:srgbClr val="0F8B8D"/>
                </a:solidFill>
                <a:latin typeface="Inter"/>
              </a:rPr>
              <a:t>▸  </a:t>
            </a:r>
            <a:r>
              <a:rPr sz="2100" b="0">
                <a:solidFill>
                  <a:srgbClr val="1F2937"/>
                </a:solidFill>
                <a:latin typeface="Inter"/>
              </a:rPr>
              <a:t>Two transparent baselines (nearest, naive score) run alongside; disagreements are flagged.</a:t>
            </a:r>
          </a:p>
          <a:p>
            <a:pPr>
              <a:spcAft>
                <a:spcPts val="1680"/>
              </a:spcAft>
            </a:pPr>
            <a:r>
              <a:rPr sz="2100" b="1">
                <a:solidFill>
                  <a:srgbClr val="0F8B8D"/>
                </a:solidFill>
                <a:latin typeface="Inter"/>
              </a:rPr>
              <a:t>▸  </a:t>
            </a:r>
            <a:r>
              <a:rPr sz="2100" b="0">
                <a:solidFill>
                  <a:srgbClr val="1F2937"/>
                </a:solidFill>
                <a:latin typeface="Inter"/>
              </a:rPr>
              <a:t>Analytics show denominators, suppress thin samples and are not an employee leaderboard.</a:t>
            </a:r>
          </a:p>
          <a:p>
            <a:pPr>
              <a:spcAft>
                <a:spcPts val="1680"/>
              </a:spcAft>
            </a:pPr>
            <a:r>
              <a:rPr sz="2100" b="1">
                <a:solidFill>
                  <a:srgbClr val="0F8B8D"/>
                </a:solidFill>
                <a:latin typeface="Inter"/>
              </a:rPr>
              <a:t>▸  </a:t>
            </a:r>
            <a:r>
              <a:rPr sz="2100" b="0">
                <a:solidFill>
                  <a:srgbClr val="1F2937"/>
                </a:solidFill>
                <a:latin typeface="Inter"/>
              </a:rPr>
              <a:t>Excluded from ranking: pay, seniority, demographics, fatigue, HR data.</a:t>
            </a:r>
          </a:p>
        </p:txBody>
      </p:sp>
      <p:sp>
        <p:nvSpPr>
          <p:cNvPr id="4" name="TextBox 3"/>
          <p:cNvSpPr txBox="1"/>
          <p:nvPr/>
        </p:nvSpPr>
        <p:spPr>
          <a:xfrm>
            <a:off x="10607040" y="6400800"/>
            <a:ext cx="1097280" cy="274320"/>
          </a:xfrm>
          <a:prstGeom prst="rect">
            <a:avLst/>
          </a:prstGeom>
          <a:noFill/>
        </p:spPr>
        <p:txBody>
          <a:bodyPr wrap="square" lIns="0" rIns="0" tIns="0" bIns="0">
            <a:spAutoFit/>
          </a:bodyPr>
          <a:lstStyle/>
          <a:p>
            <a:pPr algn="ctr"/>
            <a:r>
              <a:rPr sz="1100" b="0">
                <a:solidFill>
                  <a:srgbClr val="5B6474"/>
                </a:solidFill>
                <a:latin typeface="Inter"/>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spAutoFit/>
          </a:bodyPr>
          <a:lstStyle/>
          <a:p>
            <a:pPr algn="l"/>
            <a:r>
              <a:rPr sz="3200" b="1">
                <a:solidFill>
                  <a:srgbClr val="16213E"/>
                </a:solidFill>
                <a:latin typeface="Inter"/>
              </a:rPr>
              <a:t>Built on AMD Token Factory</a:t>
            </a:r>
          </a:p>
        </p:txBody>
      </p:sp>
      <p:sp>
        <p:nvSpPr>
          <p:cNvPr id="3" name="TextBox 2"/>
          <p:cNvSpPr txBox="1"/>
          <p:nvPr/>
        </p:nvSpPr>
        <p:spPr>
          <a:xfrm>
            <a:off x="548640" y="1463040"/>
            <a:ext cx="6766560" cy="4754880"/>
          </a:xfrm>
          <a:prstGeom prst="rect">
            <a:avLst/>
          </a:prstGeom>
          <a:noFill/>
        </p:spPr>
        <p:txBody>
          <a:bodyPr wrap="square">
            <a:spAutoFit/>
          </a:bodyPr>
          <a:lstStyle/>
          <a:p>
            <a:pPr>
              <a:spcAft>
                <a:spcPts val="1440"/>
              </a:spcAft>
            </a:pPr>
            <a:r>
              <a:rPr sz="1800" b="1">
                <a:solidFill>
                  <a:srgbClr val="0F8B8D"/>
                </a:solidFill>
                <a:latin typeface="Inter"/>
              </a:rPr>
              <a:t>▸  </a:t>
            </a:r>
            <a:r>
              <a:rPr sz="1800" b="0">
                <a:solidFill>
                  <a:srgbClr val="1F2937"/>
                </a:solidFill>
                <a:latin typeface="Inter"/>
              </a:rPr>
              <a:t>OpenAI-compatible API, JSON output; our validators are the contract.</a:t>
            </a:r>
          </a:p>
          <a:p>
            <a:pPr>
              <a:spcAft>
                <a:spcPts val="1440"/>
              </a:spcAft>
            </a:pPr>
            <a:r>
              <a:rPr sz="1800" b="1">
                <a:solidFill>
                  <a:srgbClr val="0F8B8D"/>
                </a:solidFill>
                <a:latin typeface="Inter"/>
              </a:rPr>
              <a:t>▸  </a:t>
            </a:r>
            <a:r>
              <a:rPr sz="1800" b="0">
                <a:solidFill>
                  <a:srgbClr val="1F2937"/>
                </a:solidFill>
                <a:latin typeface="Inter"/>
              </a:rPr>
              <a:t>Default model </a:t>
            </a:r>
            <a:r>
              <a:rPr sz="1800" b="1">
                <a:solidFill>
                  <a:srgbClr val="16213E"/>
                </a:solidFill>
                <a:latin typeface="Inter"/>
              </a:rPr>
              <a:t>MiMo-V2.6-Flash</a:t>
            </a:r>
            <a:r>
              <a:rPr sz="1800" b="0">
                <a:solidFill>
                  <a:srgbClr val="1F2937"/>
                </a:solidFill>
                <a:latin typeface="Inter"/>
              </a:rPr>
              <a:t>; ranking and event planner can use different models.</a:t>
            </a:r>
          </a:p>
          <a:p>
            <a:pPr>
              <a:spcAft>
                <a:spcPts val="1440"/>
              </a:spcAft>
            </a:pPr>
            <a:r>
              <a:rPr sz="1800" b="1">
                <a:solidFill>
                  <a:srgbClr val="0F8B8D"/>
                </a:solidFill>
                <a:latin typeface="Inter"/>
              </a:rPr>
              <a:t>▸  </a:t>
            </a:r>
            <a:r>
              <a:rPr sz="1800" b="0">
                <a:solidFill>
                  <a:srgbClr val="1F2937"/>
                </a:solidFill>
                <a:latin typeface="Inter"/>
              </a:rPr>
              <a:t>Local budget: 10 requests/min, 2 concurrent; bounded 429 retries; circuit breaker.</a:t>
            </a:r>
          </a:p>
          <a:p>
            <a:pPr>
              <a:spcAft>
                <a:spcPts val="1440"/>
              </a:spcAft>
            </a:pPr>
            <a:r>
              <a:rPr sz="1800" b="1">
                <a:solidFill>
                  <a:srgbClr val="0F8B8D"/>
                </a:solidFill>
                <a:latin typeface="Inter"/>
              </a:rPr>
              <a:t>▸  </a:t>
            </a:r>
            <a:r>
              <a:rPr sz="1800" b="0">
                <a:solidFill>
                  <a:srgbClr val="1F2937"/>
                </a:solidFill>
                <a:latin typeface="Inter"/>
              </a:rPr>
              <a:t>Recorded MiMo check: </a:t>
            </a:r>
            <a:r>
              <a:rPr sz="1800" b="1">
                <a:solidFill>
                  <a:srgbClr val="16213E"/>
                </a:solidFill>
                <a:latin typeface="Inter"/>
              </a:rPr>
              <a:t>9/10</a:t>
            </a:r>
            <a:r>
              <a:rPr sz="1800" b="0">
                <a:solidFill>
                  <a:srgbClr val="1F2937"/>
                </a:solidFill>
                <a:latin typeface="Inter"/>
              </a:rPr>
              <a:t> valid rankings, </a:t>
            </a:r>
            <a:r>
              <a:rPr sz="1800" b="1">
                <a:solidFill>
                  <a:srgbClr val="16213E"/>
                </a:solidFill>
                <a:latin typeface="Inter"/>
              </a:rPr>
              <a:t>10/10</a:t>
            </a:r>
            <a:r>
              <a:rPr sz="1800" b="0">
                <a:solidFill>
                  <a:srgbClr val="1F2937"/>
                </a:solidFill>
                <a:latin typeface="Inter"/>
              </a:rPr>
              <a:t> valid event plans.</a:t>
            </a:r>
          </a:p>
          <a:p>
            <a:pPr>
              <a:spcAft>
                <a:spcPts val="1440"/>
              </a:spcAft>
            </a:pPr>
            <a:r>
              <a:rPr sz="1800" b="1">
                <a:solidFill>
                  <a:srgbClr val="0F8B8D"/>
                </a:solidFill>
                <a:latin typeface="Inter"/>
              </a:rPr>
              <a:t>▸  </a:t>
            </a:r>
            <a:r>
              <a:rPr sz="1800" b="0">
                <a:solidFill>
                  <a:srgbClr val="1F2937"/>
                </a:solidFill>
                <a:latin typeface="Inter"/>
              </a:rPr>
              <a:t>Ranking deadline 90 s; model calls never hold the simulation clock.</a:t>
            </a:r>
          </a:p>
        </p:txBody>
      </p:sp>
      <p:pic>
        <p:nvPicPr>
          <p:cNvPr id="4" name="Picture 3" descr="settings-models.png"/>
          <p:cNvPicPr>
            <a:picLocks noChangeAspect="1"/>
          </p:cNvPicPr>
          <p:nvPr/>
        </p:nvPicPr>
        <p:blipFill>
          <a:blip r:embed="rId2"/>
          <a:stretch>
            <a:fillRect/>
          </a:stretch>
        </p:blipFill>
        <p:spPr>
          <a:xfrm>
            <a:off x="7818120" y="1371600"/>
            <a:ext cx="4248336" cy="4937760"/>
          </a:xfrm>
          <a:prstGeom prst="rect">
            <a:avLst/>
          </a:prstGeom>
          <a:ln w="9525">
            <a:solidFill>
              <a:srgbClr val="C9CED8"/>
            </a:solidFill>
          </a:ln>
        </p:spPr>
      </p:pic>
      <p:sp>
        <p:nvSpPr>
          <p:cNvPr id="5" name="TextBox 4"/>
          <p:cNvSpPr txBox="1"/>
          <p:nvPr/>
        </p:nvSpPr>
        <p:spPr>
          <a:xfrm>
            <a:off x="10607040" y="6400800"/>
            <a:ext cx="1097280" cy="274320"/>
          </a:xfrm>
          <a:prstGeom prst="rect">
            <a:avLst/>
          </a:prstGeom>
          <a:noFill/>
        </p:spPr>
        <p:txBody>
          <a:bodyPr wrap="square" lIns="0" rIns="0" tIns="0" bIns="0">
            <a:spAutoFit/>
          </a:bodyPr>
          <a:lstStyle/>
          <a:p>
            <a:pPr algn="ctr"/>
            <a:r>
              <a:rPr sz="1100" b="0">
                <a:solidFill>
                  <a:srgbClr val="5B6474"/>
                </a:solidFill>
                <a:latin typeface="Inter"/>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spAutoFit/>
          </a:bodyPr>
          <a:lstStyle/>
          <a:p>
            <a:pPr algn="l"/>
            <a:r>
              <a:rPr sz="3200" b="1">
                <a:solidFill>
                  <a:srgbClr val="16213E"/>
                </a:solidFill>
                <a:latin typeface="Inter"/>
              </a:rPr>
              <a:t>Live demo highlights</a:t>
            </a:r>
          </a:p>
        </p:txBody>
      </p:sp>
      <p:sp>
        <p:nvSpPr>
          <p:cNvPr id="3" name="TextBox 2"/>
          <p:cNvSpPr txBox="1"/>
          <p:nvPr/>
        </p:nvSpPr>
        <p:spPr>
          <a:xfrm>
            <a:off x="548640" y="1463040"/>
            <a:ext cx="5120640" cy="4754880"/>
          </a:xfrm>
          <a:prstGeom prst="rect">
            <a:avLst/>
          </a:prstGeom>
          <a:noFill/>
        </p:spPr>
        <p:txBody>
          <a:bodyPr wrap="square">
            <a:spAutoFit/>
          </a:bodyPr>
          <a:lstStyle/>
          <a:p>
            <a:pPr>
              <a:spcAft>
                <a:spcPts val="1440"/>
              </a:spcAft>
            </a:pPr>
            <a:r>
              <a:rPr sz="1800" b="1">
                <a:solidFill>
                  <a:srgbClr val="0F8B8D"/>
                </a:solidFill>
                <a:latin typeface="Inter"/>
              </a:rPr>
              <a:t>▸  </a:t>
            </a:r>
            <a:r>
              <a:rPr sz="1800" b="0">
                <a:solidFill>
                  <a:srgbClr val="1F2937"/>
                </a:solidFill>
                <a:latin typeface="Inter"/>
              </a:rPr>
              <a:t>Live Floor: three floors, 2D map and 2.5D overview, issues and responders in real time.</a:t>
            </a:r>
          </a:p>
          <a:p>
            <a:pPr>
              <a:spcAft>
                <a:spcPts val="1440"/>
              </a:spcAft>
            </a:pPr>
            <a:r>
              <a:rPr sz="1800" b="1">
                <a:solidFill>
                  <a:srgbClr val="0F8B8D"/>
                </a:solidFill>
                <a:latin typeface="Inter"/>
              </a:rPr>
              <a:t>▸  </a:t>
            </a:r>
            <a:r>
              <a:rPr sz="1800" b="0">
                <a:solidFill>
                  <a:srgbClr val="1F2937"/>
                </a:solidFill>
                <a:latin typeface="Inter"/>
              </a:rPr>
              <a:t>Compass ranking with rationale; offer, accept, reject; help for complex work.</a:t>
            </a:r>
          </a:p>
          <a:p>
            <a:pPr>
              <a:spcAft>
                <a:spcPts val="1440"/>
              </a:spcAft>
            </a:pPr>
            <a:r>
              <a:rPr sz="1800" b="1">
                <a:solidFill>
                  <a:srgbClr val="0F8B8D"/>
                </a:solidFill>
                <a:latin typeface="Inter"/>
              </a:rPr>
              <a:t>▸  </a:t>
            </a:r>
            <a:r>
              <a:rPr sz="1800" b="0">
                <a:solidFill>
                  <a:srgbClr val="1F2937"/>
                </a:solidFill>
                <a:latin typeface="Inter"/>
              </a:rPr>
              <a:t>Override and force-resolve; one-click audit trail per issue.</a:t>
            </a:r>
          </a:p>
          <a:p>
            <a:pPr>
              <a:spcAft>
                <a:spcPts val="1440"/>
              </a:spcAft>
            </a:pPr>
            <a:r>
              <a:rPr sz="1800" b="1">
                <a:solidFill>
                  <a:srgbClr val="0F8B8D"/>
                </a:solidFill>
                <a:latin typeface="Inter"/>
              </a:rPr>
              <a:t>▸  </a:t>
            </a:r>
            <a:r>
              <a:rPr sz="1800" b="0">
                <a:solidFill>
                  <a:srgbClr val="1F2937"/>
                </a:solidFill>
                <a:latin typeface="Inter"/>
              </a:rPr>
              <a:t>Two independent control rooms (e8-aura-p1, e8-aura-p2).</a:t>
            </a:r>
          </a:p>
        </p:txBody>
      </p:sp>
      <p:pic>
        <p:nvPicPr>
          <p:cNvPr id="4" name="Picture 3" descr="live-floor.png"/>
          <p:cNvPicPr>
            <a:picLocks noChangeAspect="1"/>
          </p:cNvPicPr>
          <p:nvPr/>
        </p:nvPicPr>
        <p:blipFill>
          <a:blip r:embed="rId2"/>
          <a:stretch>
            <a:fillRect/>
          </a:stretch>
        </p:blipFill>
        <p:spPr>
          <a:xfrm>
            <a:off x="5943600" y="1463040"/>
            <a:ext cx="5806440" cy="3266122"/>
          </a:xfrm>
          <a:prstGeom prst="rect">
            <a:avLst/>
          </a:prstGeom>
          <a:ln w="9525">
            <a:solidFill>
              <a:srgbClr val="C9CED8"/>
            </a:solidFill>
          </a:ln>
        </p:spPr>
      </p:pic>
      <p:sp>
        <p:nvSpPr>
          <p:cNvPr id="5" name="TextBox 4"/>
          <p:cNvSpPr txBox="1"/>
          <p:nvPr/>
        </p:nvSpPr>
        <p:spPr>
          <a:xfrm>
            <a:off x="10607040" y="6400800"/>
            <a:ext cx="1097280" cy="274320"/>
          </a:xfrm>
          <a:prstGeom prst="rect">
            <a:avLst/>
          </a:prstGeom>
          <a:noFill/>
        </p:spPr>
        <p:txBody>
          <a:bodyPr wrap="square" lIns="0" rIns="0" tIns="0" bIns="0">
            <a:spAutoFit/>
          </a:bodyPr>
          <a:lstStyle/>
          <a:p>
            <a:pPr algn="ctr"/>
            <a:r>
              <a:rPr sz="1100" b="0">
                <a:solidFill>
                  <a:srgbClr val="5B6474"/>
                </a:solidFill>
                <a:latin typeface="Inter"/>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spAutoFit/>
          </a:bodyPr>
          <a:lstStyle/>
          <a:p>
            <a:pPr algn="l"/>
            <a:r>
              <a:rPr sz="3200" b="1">
                <a:solidFill>
                  <a:srgbClr val="16213E"/>
                </a:solidFill>
                <a:latin typeface="Inter"/>
              </a:rPr>
              <a:t>A month of operations</a:t>
            </a:r>
          </a:p>
        </p:txBody>
      </p:sp>
      <p:sp>
        <p:nvSpPr>
          <p:cNvPr id="3" name="TextBox 2"/>
          <p:cNvSpPr txBox="1"/>
          <p:nvPr/>
        </p:nvSpPr>
        <p:spPr>
          <a:xfrm>
            <a:off x="548640" y="1463040"/>
            <a:ext cx="4846320" cy="4754880"/>
          </a:xfrm>
          <a:prstGeom prst="rect">
            <a:avLst/>
          </a:prstGeom>
          <a:noFill/>
        </p:spPr>
        <p:txBody>
          <a:bodyPr wrap="square">
            <a:spAutoFit/>
          </a:bodyPr>
          <a:lstStyle/>
          <a:p>
            <a:pPr>
              <a:spcAft>
                <a:spcPts val="1440"/>
              </a:spcAft>
            </a:pPr>
            <a:r>
              <a:rPr sz="1800" b="1">
                <a:solidFill>
                  <a:srgbClr val="0F8B8D"/>
                </a:solidFill>
                <a:latin typeface="Inter"/>
              </a:rPr>
              <a:t>▸  </a:t>
            </a:r>
            <a:r>
              <a:rPr sz="1800" b="0">
                <a:solidFill>
                  <a:srgbClr val="1F2937"/>
                </a:solidFill>
                <a:latin typeface="Inter"/>
              </a:rPr>
              <a:t>e8-aura-p1: </a:t>
            </a:r>
            <a:r>
              <a:rPr sz="1800" b="1">
                <a:solidFill>
                  <a:srgbClr val="16213E"/>
                </a:solidFill>
                <a:latin typeface="Inter"/>
              </a:rPr>
              <a:t>3,531 issues</a:t>
            </a:r>
            <a:r>
              <a:rPr sz="1800" b="0">
                <a:solidFill>
                  <a:srgbClr val="1F2937"/>
                </a:solidFill>
                <a:latin typeface="Inter"/>
              </a:rPr>
              <a:t>, 1 September to 6 October (simulated).</a:t>
            </a:r>
          </a:p>
          <a:p>
            <a:pPr>
              <a:spcAft>
                <a:spcPts val="1440"/>
              </a:spcAft>
            </a:pPr>
            <a:r>
              <a:rPr sz="1800" b="1">
                <a:solidFill>
                  <a:srgbClr val="0F8B8D"/>
                </a:solidFill>
                <a:latin typeface="Inter"/>
              </a:rPr>
              <a:t>▸  </a:t>
            </a:r>
            <a:r>
              <a:rPr sz="1800" b="0">
                <a:solidFill>
                  <a:srgbClr val="1F2937"/>
                </a:solidFill>
                <a:latin typeface="Inter"/>
              </a:rPr>
              <a:t>September: </a:t>
            </a:r>
            <a:r>
              <a:rPr sz="1800" b="1">
                <a:solidFill>
                  <a:srgbClr val="16213E"/>
                </a:solidFill>
                <a:latin typeface="Inter"/>
              </a:rPr>
              <a:t>2,978 raised / 2,998 resolved</a:t>
            </a:r>
            <a:r>
              <a:rPr sz="1800" b="0">
                <a:solidFill>
                  <a:srgbClr val="1F2937"/>
                </a:solidFill>
                <a:latin typeface="Inter"/>
              </a:rPr>
              <a:t> events.</a:t>
            </a:r>
          </a:p>
          <a:p>
            <a:pPr>
              <a:spcAft>
                <a:spcPts val="1440"/>
              </a:spcAft>
            </a:pPr>
            <a:r>
              <a:rPr sz="1800" b="1">
                <a:solidFill>
                  <a:srgbClr val="0F8B8D"/>
                </a:solidFill>
                <a:latin typeface="Inter"/>
              </a:rPr>
              <a:t>▸  </a:t>
            </a:r>
            <a:r>
              <a:rPr sz="1800" b="0">
                <a:solidFill>
                  <a:srgbClr val="1F2937"/>
                </a:solidFill>
                <a:latin typeface="Inter"/>
              </a:rPr>
              <a:t>Day, week and month views; Compass-vs-baseline records.</a:t>
            </a:r>
          </a:p>
          <a:p>
            <a:pPr>
              <a:spcAft>
                <a:spcPts val="1440"/>
              </a:spcAft>
            </a:pPr>
            <a:r>
              <a:rPr sz="1800" b="1">
                <a:solidFill>
                  <a:srgbClr val="0F8B8D"/>
                </a:solidFill>
                <a:latin typeface="Inter"/>
              </a:rPr>
              <a:t>▸  </a:t>
            </a:r>
            <a:r>
              <a:rPr sz="1800" b="0">
                <a:solidFill>
                  <a:srgbClr val="1F2937"/>
                </a:solidFill>
                <a:latin typeface="Inter"/>
              </a:rPr>
              <a:t>Seven-day detail retention: live state served in </a:t>
            </a:r>
            <a:r>
              <a:rPr sz="1800" b="1">
                <a:solidFill>
                  <a:srgbClr val="16213E"/>
                </a:solidFill>
                <a:latin typeface="Inter"/>
              </a:rPr>
              <a:t>56 ms</a:t>
            </a:r>
            <a:r>
              <a:rPr sz="1800" b="0">
                <a:solidFill>
                  <a:srgbClr val="1F2937"/>
                </a:solidFill>
                <a:latin typeface="Inter"/>
              </a:rPr>
              <a:t> in a local check.</a:t>
            </a:r>
          </a:p>
        </p:txBody>
      </p:sp>
      <p:pic>
        <p:nvPicPr>
          <p:cNvPr id="4" name="Picture 3" descr="analytics-month.png"/>
          <p:cNvPicPr>
            <a:picLocks noChangeAspect="1"/>
          </p:cNvPicPr>
          <p:nvPr/>
        </p:nvPicPr>
        <p:blipFill>
          <a:blip r:embed="rId2"/>
          <a:stretch>
            <a:fillRect/>
          </a:stretch>
        </p:blipFill>
        <p:spPr>
          <a:xfrm>
            <a:off x="5669280" y="1463040"/>
            <a:ext cx="6080760" cy="3527001"/>
          </a:xfrm>
          <a:prstGeom prst="rect">
            <a:avLst/>
          </a:prstGeom>
          <a:ln w="9525">
            <a:solidFill>
              <a:srgbClr val="C9CED8"/>
            </a:solidFill>
          </a:ln>
        </p:spPr>
      </p:pic>
      <p:sp>
        <p:nvSpPr>
          <p:cNvPr id="5" name="TextBox 4"/>
          <p:cNvSpPr txBox="1"/>
          <p:nvPr/>
        </p:nvSpPr>
        <p:spPr>
          <a:xfrm>
            <a:off x="10607040" y="6400800"/>
            <a:ext cx="1097280" cy="274320"/>
          </a:xfrm>
          <a:prstGeom prst="rect">
            <a:avLst/>
          </a:prstGeom>
          <a:noFill/>
        </p:spPr>
        <p:txBody>
          <a:bodyPr wrap="square" lIns="0" rIns="0" tIns="0" bIns="0">
            <a:spAutoFit/>
          </a:bodyPr>
          <a:lstStyle/>
          <a:p>
            <a:pPr algn="ctr"/>
            <a:r>
              <a:rPr sz="1100" b="0">
                <a:solidFill>
                  <a:srgbClr val="5B6474"/>
                </a:solidFill>
                <a:latin typeface="Inter"/>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spAutoFit/>
          </a:bodyPr>
          <a:lstStyle/>
          <a:p>
            <a:pPr algn="l"/>
            <a:r>
              <a:rPr sz="3200" b="1">
                <a:solidFill>
                  <a:srgbClr val="16213E"/>
                </a:solidFill>
                <a:latin typeface="Inter"/>
              </a:rPr>
              <a:t>Engineering quality</a:t>
            </a:r>
          </a:p>
        </p:txBody>
      </p:sp>
      <p:sp>
        <p:nvSpPr>
          <p:cNvPr id="3" name="TextBox 2"/>
          <p:cNvSpPr txBox="1"/>
          <p:nvPr/>
        </p:nvSpPr>
        <p:spPr>
          <a:xfrm>
            <a:off x="548640" y="1463040"/>
            <a:ext cx="11064240" cy="4754880"/>
          </a:xfrm>
          <a:prstGeom prst="rect">
            <a:avLst/>
          </a:prstGeom>
          <a:noFill/>
        </p:spPr>
        <p:txBody>
          <a:bodyPr wrap="square">
            <a:spAutoFit/>
          </a:bodyPr>
          <a:lstStyle/>
          <a:p>
            <a:pPr>
              <a:spcAft>
                <a:spcPts val="1680"/>
              </a:spcAft>
            </a:pPr>
            <a:r>
              <a:rPr sz="2100" b="1">
                <a:solidFill>
                  <a:srgbClr val="0F8B8D"/>
                </a:solidFill>
                <a:latin typeface="Inter"/>
              </a:rPr>
              <a:t>▸  </a:t>
            </a:r>
            <a:r>
              <a:rPr sz="2100" b="0">
                <a:solidFill>
                  <a:srgbClr val="1F2937"/>
                </a:solidFill>
                <a:latin typeface="Inter"/>
              </a:rPr>
              <a:t>Live and Offline are one app; Offline makes no API calls and is fully reproducible.</a:t>
            </a:r>
          </a:p>
          <a:p>
            <a:pPr>
              <a:spcAft>
                <a:spcPts val="1680"/>
              </a:spcAft>
            </a:pPr>
            <a:r>
              <a:rPr sz="2100" b="1">
                <a:solidFill>
                  <a:srgbClr val="0F8B8D"/>
                </a:solidFill>
                <a:latin typeface="Inter"/>
              </a:rPr>
              <a:t>▸  </a:t>
            </a:r>
            <a:r>
              <a:rPr sz="2100" b="1">
                <a:solidFill>
                  <a:srgbClr val="16213E"/>
                </a:solidFill>
                <a:latin typeface="Inter"/>
              </a:rPr>
              <a:t>277</a:t>
            </a:r>
            <a:r>
              <a:rPr sz="2100" b="0">
                <a:solidFill>
                  <a:srgbClr val="1F2937"/>
                </a:solidFill>
                <a:latin typeface="Inter"/>
              </a:rPr>
              <a:t> hermetic unit and integration tests and </a:t>
            </a:r>
            <a:r>
              <a:rPr sz="2100" b="1">
                <a:solidFill>
                  <a:srgbClr val="16213E"/>
                </a:solidFill>
                <a:latin typeface="Inter"/>
              </a:rPr>
              <a:t>51</a:t>
            </a:r>
            <a:r>
              <a:rPr sz="2100" b="0">
                <a:solidFill>
                  <a:srgbClr val="1F2937"/>
                </a:solidFill>
                <a:latin typeface="Inter"/>
              </a:rPr>
              <a:t> Chromium end-to-end tests.</a:t>
            </a:r>
          </a:p>
          <a:p>
            <a:pPr>
              <a:spcAft>
                <a:spcPts val="1680"/>
              </a:spcAft>
            </a:pPr>
            <a:r>
              <a:rPr sz="2100" b="1">
                <a:solidFill>
                  <a:srgbClr val="0F8B8D"/>
                </a:solidFill>
                <a:latin typeface="Inter"/>
              </a:rPr>
              <a:t>▸  </a:t>
            </a:r>
            <a:r>
              <a:rPr sz="2100" b="0">
                <a:solidFill>
                  <a:srgbClr val="1F2937"/>
                </a:solidFill>
                <a:latin typeface="Inter"/>
              </a:rPr>
              <a:t>Deterministic seeded simulation; restart-safe scheduler; atomic, crash-safe persistence.</a:t>
            </a:r>
          </a:p>
          <a:p>
            <a:pPr>
              <a:spcAft>
                <a:spcPts val="1680"/>
              </a:spcAft>
            </a:pPr>
            <a:r>
              <a:rPr sz="2100" b="1">
                <a:solidFill>
                  <a:srgbClr val="0F8B8D"/>
                </a:solidFill>
                <a:latin typeface="Inter"/>
              </a:rPr>
              <a:t>▸  </a:t>
            </a:r>
            <a:r>
              <a:rPr sz="2100" b="0">
                <a:solidFill>
                  <a:srgbClr val="1F2937"/>
                </a:solidFill>
                <a:latin typeface="Inter"/>
              </a:rPr>
              <a:t>Runs on Node.js 22 or Docker; no external services besides the model API.</a:t>
            </a:r>
          </a:p>
        </p:txBody>
      </p:sp>
      <p:sp>
        <p:nvSpPr>
          <p:cNvPr id="4" name="TextBox 3"/>
          <p:cNvSpPr txBox="1"/>
          <p:nvPr/>
        </p:nvSpPr>
        <p:spPr>
          <a:xfrm>
            <a:off x="10607040" y="6400800"/>
            <a:ext cx="1097280" cy="274320"/>
          </a:xfrm>
          <a:prstGeom prst="rect">
            <a:avLst/>
          </a:prstGeom>
          <a:noFill/>
        </p:spPr>
        <p:txBody>
          <a:bodyPr wrap="square" lIns="0" rIns="0" tIns="0" bIns="0">
            <a:spAutoFit/>
          </a:bodyPr>
          <a:lstStyle/>
          <a:p>
            <a:pPr algn="ctr"/>
            <a:r>
              <a:rPr sz="1100" b="0">
                <a:solidFill>
                  <a:srgbClr val="5B6474"/>
                </a:solidFill>
                <a:latin typeface="Inter"/>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64240" cy="731520"/>
          </a:xfrm>
          <a:prstGeom prst="rect">
            <a:avLst/>
          </a:prstGeom>
          <a:noFill/>
        </p:spPr>
        <p:txBody>
          <a:bodyPr wrap="square" lIns="0" rIns="0" tIns="0" bIns="0">
            <a:spAutoFit/>
          </a:bodyPr>
          <a:lstStyle/>
          <a:p>
            <a:pPr algn="l"/>
            <a:r>
              <a:rPr sz="3200" b="1">
                <a:solidFill>
                  <a:srgbClr val="16213E"/>
                </a:solidFill>
                <a:latin typeface="Inter"/>
              </a:rPr>
              <a:t>What's next</a:t>
            </a:r>
          </a:p>
        </p:txBody>
      </p:sp>
      <p:sp>
        <p:nvSpPr>
          <p:cNvPr id="3" name="TextBox 2"/>
          <p:cNvSpPr txBox="1"/>
          <p:nvPr/>
        </p:nvSpPr>
        <p:spPr>
          <a:xfrm>
            <a:off x="548640" y="1463040"/>
            <a:ext cx="11064240" cy="3291840"/>
          </a:xfrm>
          <a:prstGeom prst="rect">
            <a:avLst/>
          </a:prstGeom>
          <a:noFill/>
        </p:spPr>
        <p:txBody>
          <a:bodyPr wrap="square">
            <a:spAutoFit/>
          </a:bodyPr>
          <a:lstStyle/>
          <a:p>
            <a:pPr>
              <a:spcAft>
                <a:spcPts val="1680"/>
              </a:spcAft>
            </a:pPr>
            <a:r>
              <a:rPr sz="2100" b="1">
                <a:solidFill>
                  <a:srgbClr val="0F8B8D"/>
                </a:solidFill>
                <a:latin typeface="Inter"/>
              </a:rPr>
              <a:t>▸  </a:t>
            </a:r>
            <a:r>
              <a:rPr sz="2100" b="1">
                <a:solidFill>
                  <a:srgbClr val="16213E"/>
                </a:solidFill>
                <a:latin typeface="Inter"/>
              </a:rPr>
              <a:t>Recommended fixes:</a:t>
            </a:r>
            <a:r>
              <a:rPr sz="2100" b="0">
                <a:solidFill>
                  <a:srgbClr val="1F2937"/>
                </a:solidFill>
                <a:latin typeface="Inter"/>
              </a:rPr>
              <a:t> rank response actions retrieved from comparable past resolutions.</a:t>
            </a:r>
          </a:p>
          <a:p>
            <a:pPr>
              <a:spcAft>
                <a:spcPts val="1680"/>
              </a:spcAft>
            </a:pPr>
            <a:r>
              <a:rPr sz="2100" b="1">
                <a:solidFill>
                  <a:srgbClr val="0F8B8D"/>
                </a:solidFill>
                <a:latin typeface="Inter"/>
              </a:rPr>
              <a:t>▸  </a:t>
            </a:r>
            <a:r>
              <a:rPr sz="2100" b="0">
                <a:solidFill>
                  <a:srgbClr val="1F2937"/>
                </a:solidFill>
                <a:latin typeface="Inter"/>
              </a:rPr>
              <a:t>Learn from outcomes: feed accepted and successful fixes back into the evidence.</a:t>
            </a:r>
          </a:p>
          <a:p>
            <a:pPr>
              <a:spcAft>
                <a:spcPts val="1680"/>
              </a:spcAft>
            </a:pPr>
            <a:r>
              <a:rPr sz="2100" b="1">
                <a:solidFill>
                  <a:srgbClr val="0F8B8D"/>
                </a:solidFill>
                <a:latin typeface="Inter"/>
              </a:rPr>
              <a:t>▸  </a:t>
            </a:r>
            <a:r>
              <a:rPr sz="2100" b="0">
                <a:solidFill>
                  <a:srgbClr val="1F2937"/>
                </a:solidFill>
                <a:latin typeface="Inter"/>
              </a:rPr>
              <a:t>Connect to real maintenance and ticketing systems in place of the simulated floor.</a:t>
            </a:r>
          </a:p>
          <a:p>
            <a:pPr>
              <a:spcAft>
                <a:spcPts val="1680"/>
              </a:spcAft>
            </a:pPr>
            <a:r>
              <a:rPr sz="2100" b="1">
                <a:solidFill>
                  <a:srgbClr val="0F8B8D"/>
                </a:solidFill>
                <a:latin typeface="Inter"/>
              </a:rPr>
              <a:t>▸  </a:t>
            </a:r>
            <a:r>
              <a:rPr sz="2100" b="0">
                <a:solidFill>
                  <a:srgbClr val="1F2937"/>
                </a:solidFill>
                <a:latin typeface="Inter"/>
              </a:rPr>
              <a:t>Long-run storage: compact the remaining growing history for year-long runs.</a:t>
            </a:r>
          </a:p>
        </p:txBody>
      </p:sp>
      <p:sp>
        <p:nvSpPr>
          <p:cNvPr id="4" name="Rectangle 3"/>
          <p:cNvSpPr/>
          <p:nvPr/>
        </p:nvSpPr>
        <p:spPr>
          <a:xfrm>
            <a:off x="548640" y="5074920"/>
            <a:ext cx="11064240" cy="1005840"/>
          </a:xfrm>
          <a:prstGeom prst="rect">
            <a:avLst/>
          </a:prstGeom>
          <a:solidFill>
            <a:srgbClr val="1621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230368"/>
            <a:ext cx="10515600" cy="731520"/>
          </a:xfrm>
          <a:prstGeom prst="rect">
            <a:avLst/>
          </a:prstGeom>
          <a:noFill/>
        </p:spPr>
        <p:txBody>
          <a:bodyPr wrap="square" lIns="0" rIns="0" tIns="0" bIns="0">
            <a:spAutoFit/>
          </a:bodyPr>
          <a:lstStyle/>
          <a:p>
            <a:pPr algn="ctr"/>
            <a:r>
              <a:rPr sz="3000" b="1">
                <a:solidFill>
                  <a:srgbClr val="FFFFFF"/>
                </a:solidFill>
                <a:latin typeface="Inter"/>
              </a:rPr>
              <a:t>The right responder. The right fix.</a:t>
            </a:r>
          </a:p>
        </p:txBody>
      </p:sp>
      <p:sp>
        <p:nvSpPr>
          <p:cNvPr id="6" name="TextBox 5"/>
          <p:cNvSpPr txBox="1"/>
          <p:nvPr/>
        </p:nvSpPr>
        <p:spPr>
          <a:xfrm>
            <a:off x="10607040" y="6400800"/>
            <a:ext cx="1097280" cy="274320"/>
          </a:xfrm>
          <a:prstGeom prst="rect">
            <a:avLst/>
          </a:prstGeom>
          <a:noFill/>
        </p:spPr>
        <p:txBody>
          <a:bodyPr wrap="square" lIns="0" rIns="0" tIns="0" bIns="0">
            <a:spAutoFit/>
          </a:bodyPr>
          <a:lstStyle/>
          <a:p>
            <a:pPr algn="ctr"/>
            <a:r>
              <a:rPr sz="1100" b="0">
                <a:solidFill>
                  <a:srgbClr val="5B6474"/>
                </a:solidFill>
                <a:latin typeface="Inter"/>
              </a:rPr>
              <a:t>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